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7" r:id="rId2"/>
    <p:sldId id="258" r:id="rId3"/>
    <p:sldId id="274" r:id="rId4"/>
    <p:sldId id="280" r:id="rId5"/>
    <p:sldId id="263" r:id="rId6"/>
    <p:sldId id="264" r:id="rId7"/>
    <p:sldId id="268" r:id="rId8"/>
    <p:sldId id="281" r:id="rId9"/>
    <p:sldId id="271" r:id="rId10"/>
    <p:sldId id="272" r:id="rId11"/>
    <p:sldId id="273" r:id="rId12"/>
    <p:sldId id="259" r:id="rId13"/>
    <p:sldId id="261" r:id="rId14"/>
    <p:sldId id="260" r:id="rId15"/>
    <p:sldId id="262" r:id="rId16"/>
    <p:sldId id="266" r:id="rId17"/>
    <p:sldId id="267" r:id="rId18"/>
    <p:sldId id="275" r:id="rId19"/>
    <p:sldId id="282" r:id="rId20"/>
    <p:sldId id="283" r:id="rId21"/>
    <p:sldId id="279" r:id="rId22"/>
    <p:sldId id="265" r:id="rId23"/>
    <p:sldId id="284" r:id="rId2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CCFF"/>
    <a:srgbClr val="FF0000"/>
    <a:srgbClr val="F48381"/>
    <a:srgbClr val="48A448"/>
    <a:srgbClr val="FFB1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467" autoAdjust="0"/>
  </p:normalViewPr>
  <p:slideViewPr>
    <p:cSldViewPr snapToGrid="0">
      <p:cViewPr>
        <p:scale>
          <a:sx n="100" d="100"/>
          <a:sy n="100" d="100"/>
        </p:scale>
        <p:origin x="620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8AEB0C78-7260-456E-9AD5-26B0F419C724}" type="datetimeFigureOut">
              <a:rPr lang="en-US" smtClean="0"/>
              <a:t>8/21/2018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4CAF0C6-E5D7-4C38-AACF-6C054D975C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665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5803555" y="6022053"/>
            <a:ext cx="375864" cy="93046"/>
            <a:chOff x="5803555" y="837398"/>
            <a:chExt cx="375864" cy="93046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5803555" y="837398"/>
              <a:ext cx="375864" cy="0"/>
            </a:xfrm>
            <a:prstGeom prst="line">
              <a:avLst/>
            </a:prstGeom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938787" y="883921"/>
              <a:ext cx="240632" cy="0"/>
            </a:xfrm>
            <a:prstGeom prst="line">
              <a:avLst/>
            </a:prstGeom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6059103" y="930444"/>
              <a:ext cx="120316" cy="0"/>
            </a:xfrm>
            <a:prstGeom prst="line">
              <a:avLst/>
            </a:prstGeom>
            <a:ln w="15875">
              <a:solidFill>
                <a:schemeClr val="bg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30" t="21865" r="1161" b="20439"/>
          <a:stretch/>
        </p:blipFill>
        <p:spPr>
          <a:xfrm>
            <a:off x="593492" y="456940"/>
            <a:ext cx="2902418" cy="16651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61987" y="3008565"/>
            <a:ext cx="9144000" cy="1863764"/>
          </a:xfrm>
          <a:effectLst>
            <a:outerShdw blurRad="101600" dist="76200" dir="2700000" algn="tl" rotWithShape="0">
              <a:prstClr val="black">
                <a:alpha val="33000"/>
              </a:prstClr>
            </a:outerShdw>
          </a:effectLst>
        </p:spPr>
        <p:txBody>
          <a:bodyPr anchor="b">
            <a:noAutofit/>
          </a:bodyPr>
          <a:lstStyle>
            <a:lvl1pPr algn="l">
              <a:defRPr sz="6600" b="1">
                <a:latin typeface="+mn-lt"/>
              </a:defRPr>
            </a:lvl1pPr>
          </a:lstStyle>
          <a:p>
            <a:r>
              <a:rPr lang="en-US" dirty="0" smtClean="0"/>
              <a:t>TITLE SLIDE GOES 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61987" y="4918851"/>
            <a:ext cx="9144000" cy="55104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226CE-163D-489D-8E0F-6E1A2B308253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21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019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8A7C6-540B-4304-AD67-0EA041CA6402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4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A0CD7-C05D-473B-87FE-A945B36846C4}" type="datetime1">
              <a:rPr lang="en-US" smtClean="0"/>
              <a:t>8/21/2018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1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29A47-6028-43C1-8DB1-3DEEA01220CD}" type="datetime1">
              <a:rPr lang="en-US" smtClean="0"/>
              <a:t>8/21/2018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620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EC1D-6F73-406D-9368-46890FC0A1A4}" type="datetime1">
              <a:rPr lang="en-US" smtClean="0"/>
              <a:t>8/21/2018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2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07595-15A8-483C-B7D8-0E4FD97932CE}" type="datetime1">
              <a:rPr lang="en-US" smtClean="0"/>
              <a:t>8/21/2018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9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324E8-8F65-4C6E-9989-E263D939AD2F}" type="datetime1">
              <a:rPr lang="en-US" smtClean="0"/>
              <a:t>8/21/2018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9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AC204-3B7B-416B-A233-3D581F597896}" type="datetime1">
              <a:rPr lang="en-US" smtClean="0"/>
              <a:t>8/21/2018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2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7F06-6A60-4D8A-8A04-9045CCE523AF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2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9A504-F3FE-4C64-8D04-315DD1D9F0FD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8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32" y="1063199"/>
            <a:ext cx="5836169" cy="5132397"/>
          </a:xfrm>
        </p:spPr>
        <p:txBody>
          <a:bodyPr/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2E174-4C28-4A87-9812-668938BEC3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20747"/>
            <a:ext cx="10515600" cy="9238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81348"/>
            <a:ext cx="10515600" cy="4595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BD399-6CCB-4199-BE2F-13963EB6502A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ANADARKO DJ BASIN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06ECE-C1FD-48AE-9B78-00CD1DA05EC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59" t="27358" r="31626" b="21875"/>
          <a:stretch/>
        </p:blipFill>
        <p:spPr>
          <a:xfrm>
            <a:off x="10102693" y="135531"/>
            <a:ext cx="1419983" cy="120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56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i="1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i="1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1987" y="3424202"/>
            <a:ext cx="9144000" cy="1863764"/>
          </a:xfrm>
        </p:spPr>
        <p:txBody>
          <a:bodyPr/>
          <a:lstStyle/>
          <a:p>
            <a:r>
              <a:rPr lang="en-US" sz="6000" dirty="0" smtClean="0"/>
              <a:t>IAM Approach to Line </a:t>
            </a:r>
            <a:r>
              <a:rPr lang="en-US" sz="6000" dirty="0" smtClean="0"/>
              <a:t>Pressure Surveillance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1987" y="5409302"/>
            <a:ext cx="9144000" cy="551046"/>
          </a:xfrm>
        </p:spPr>
        <p:txBody>
          <a:bodyPr/>
          <a:lstStyle/>
          <a:p>
            <a:r>
              <a:rPr lang="en-US" dirty="0" smtClean="0"/>
              <a:t>August </a:t>
            </a:r>
            <a:r>
              <a:rPr lang="en-US" dirty="0" smtClean="0"/>
              <a:t>22</a:t>
            </a:r>
            <a:r>
              <a:rPr lang="en-US" baseline="30000" dirty="0" smtClean="0"/>
              <a:t>nd</a:t>
            </a:r>
            <a:r>
              <a:rPr lang="en-US" dirty="0" smtClean="0"/>
              <a:t>, </a:t>
            </a:r>
            <a:r>
              <a:rPr lang="en-US" dirty="0" smtClean="0"/>
              <a:t>2018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04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 / History</a:t>
            </a:r>
          </a:p>
          <a:p>
            <a:r>
              <a:rPr lang="en-US" dirty="0" smtClean="0"/>
              <a:t>Workflow Steps</a:t>
            </a:r>
          </a:p>
          <a:p>
            <a:r>
              <a:rPr lang="en-US" dirty="0" smtClean="0"/>
              <a:t>Workflow Outputs</a:t>
            </a:r>
          </a:p>
          <a:p>
            <a:r>
              <a:rPr lang="en-US" dirty="0" smtClean="0"/>
              <a:t>Physics Based Modeling </a:t>
            </a:r>
          </a:p>
          <a:p>
            <a:pPr lvl="1"/>
            <a:r>
              <a:rPr lang="en-US" dirty="0" smtClean="0"/>
              <a:t>IPR/VLP &amp; Mach Number</a:t>
            </a:r>
          </a:p>
          <a:p>
            <a:r>
              <a:rPr lang="en-US" dirty="0" smtClean="0"/>
              <a:t>JMZ 1C-3HZ Model</a:t>
            </a:r>
          </a:p>
          <a:p>
            <a:pPr lvl="1"/>
            <a:r>
              <a:rPr lang="en-US" dirty="0" smtClean="0"/>
              <a:t>Early Life &amp; Today</a:t>
            </a:r>
          </a:p>
          <a:p>
            <a:r>
              <a:rPr lang="en-US" dirty="0" smtClean="0"/>
              <a:t>Economic Benefits</a:t>
            </a:r>
          </a:p>
          <a:p>
            <a:r>
              <a:rPr lang="en-US" dirty="0" smtClean="0"/>
              <a:t>Path Forward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4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/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51091"/>
            <a:ext cx="11205909" cy="4595615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Lower line pressure has always been desired by production </a:t>
            </a:r>
          </a:p>
          <a:p>
            <a:pPr lvl="1"/>
            <a:r>
              <a:rPr lang="en-US" dirty="0" smtClean="0"/>
              <a:t>High Impact </a:t>
            </a:r>
            <a:r>
              <a:rPr lang="en-US" dirty="0"/>
              <a:t>during summer due to </a:t>
            </a:r>
            <a:r>
              <a:rPr lang="en-US" dirty="0" smtClean="0"/>
              <a:t>compressors</a:t>
            </a:r>
            <a:endParaRPr lang="en-US" dirty="0" smtClean="0"/>
          </a:p>
          <a:p>
            <a:pPr lvl="1"/>
            <a:r>
              <a:rPr lang="en-US" dirty="0" smtClean="0"/>
              <a:t>Pressure </a:t>
            </a:r>
            <a:r>
              <a:rPr lang="en-US" dirty="0" smtClean="0"/>
              <a:t>equals</a:t>
            </a:r>
            <a:r>
              <a:rPr lang="en-US" dirty="0" smtClean="0"/>
              <a:t> money:</a:t>
            </a:r>
          </a:p>
          <a:p>
            <a:pPr lvl="2"/>
            <a:r>
              <a:rPr lang="en-US" dirty="0" smtClean="0"/>
              <a:t>Pressure Increase = Production Decrease &amp; Deferred Revenue</a:t>
            </a:r>
          </a:p>
          <a:p>
            <a:pPr lvl="2"/>
            <a:r>
              <a:rPr lang="en-US" dirty="0" smtClean="0"/>
              <a:t>Pressure Decrease = Expenditure &amp; Capital Spend</a:t>
            </a:r>
            <a:endParaRPr lang="en-US" dirty="0" smtClean="0"/>
          </a:p>
          <a:p>
            <a:pPr lvl="2"/>
            <a:r>
              <a:rPr lang="en-US" b="1" u="sng" dirty="0" smtClean="0"/>
              <a:t>Need to find the equilibrium point between the two</a:t>
            </a:r>
          </a:p>
          <a:p>
            <a:r>
              <a:rPr lang="en-US" dirty="0" smtClean="0"/>
              <a:t>Historically </a:t>
            </a:r>
            <a:r>
              <a:rPr lang="en-US" dirty="0" smtClean="0"/>
              <a:t>no good way of quantifying the problem</a:t>
            </a:r>
          </a:p>
          <a:p>
            <a:pPr lvl="1"/>
            <a:r>
              <a:rPr lang="en-US" dirty="0" smtClean="0"/>
              <a:t>Too many wells &amp; variables</a:t>
            </a:r>
          </a:p>
          <a:p>
            <a:r>
              <a:rPr lang="en-US" dirty="0" smtClean="0"/>
              <a:t>Insufficient clear data for gathering </a:t>
            </a:r>
            <a:r>
              <a:rPr lang="en-US" dirty="0" smtClean="0"/>
              <a:t>commitments </a:t>
            </a:r>
          </a:p>
          <a:p>
            <a:pPr lvl="1"/>
            <a:r>
              <a:rPr lang="en-US" dirty="0" smtClean="0"/>
              <a:t>Contracts need to be clearly defined (</a:t>
            </a:r>
            <a:r>
              <a:rPr lang="en-US" dirty="0" err="1" smtClean="0"/>
              <a:t>i.e</a:t>
            </a:r>
            <a:r>
              <a:rPr lang="en-US" dirty="0" smtClean="0"/>
              <a:t>: What pressure at with what volume?)</a:t>
            </a:r>
            <a:endParaRPr lang="en-US" dirty="0" smtClean="0"/>
          </a:p>
          <a:p>
            <a:r>
              <a:rPr lang="en-US" dirty="0" smtClean="0"/>
              <a:t>During </a:t>
            </a:r>
            <a:r>
              <a:rPr lang="en-US" dirty="0" smtClean="0"/>
              <a:t>summer months potential value estimated for APC:</a:t>
            </a:r>
          </a:p>
          <a:p>
            <a:pPr lvl="1"/>
            <a:r>
              <a:rPr lang="en-US" dirty="0" smtClean="0"/>
              <a:t>+/-2,000 bpd and </a:t>
            </a:r>
            <a:r>
              <a:rPr lang="en-US" dirty="0" smtClean="0"/>
              <a:t>+/-$11MM </a:t>
            </a:r>
            <a:r>
              <a:rPr lang="en-US" dirty="0" smtClean="0"/>
              <a:t>@ $60/</a:t>
            </a:r>
            <a:r>
              <a:rPr lang="en-US" dirty="0" err="1" smtClean="0"/>
              <a:t>bbl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975" y="1945728"/>
            <a:ext cx="2663825" cy="279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55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956" y="105920"/>
            <a:ext cx="10515600" cy="923842"/>
          </a:xfrm>
        </p:spPr>
        <p:txBody>
          <a:bodyPr/>
          <a:lstStyle/>
          <a:p>
            <a:r>
              <a:rPr lang="en-US" dirty="0" smtClean="0"/>
              <a:t>Elevating the IOC &amp; Field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659" y="1779802"/>
            <a:ext cx="5181600" cy="5847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900" dirty="0"/>
              <a:t>Real time oil / gas opportunity loss analysis by well</a:t>
            </a:r>
          </a:p>
          <a:p>
            <a:pPr lvl="0"/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00102" y="1814131"/>
            <a:ext cx="5181600" cy="590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Enhanced daily &amp; weekly IOC reporting</a:t>
            </a:r>
            <a:endParaRPr 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6459" y="6492875"/>
            <a:ext cx="2743200" cy="365125"/>
          </a:xfrm>
        </p:spPr>
        <p:txBody>
          <a:bodyPr/>
          <a:lstStyle/>
          <a:p>
            <a:fld id="{F68A0CD7-C05D-473B-87FE-A945B36846C4}" type="datetime1">
              <a:rPr lang="en-US" smtClean="0"/>
              <a:t>8/21/2018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16859" y="6492875"/>
            <a:ext cx="4114800" cy="365125"/>
          </a:xfrm>
        </p:spPr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88859" y="6492875"/>
            <a:ext cx="2743200" cy="365125"/>
          </a:xfrm>
        </p:spPr>
        <p:txBody>
          <a:bodyPr/>
          <a:lstStyle/>
          <a:p>
            <a:fld id="{0F806ECE-C1FD-48AE-9B78-00CD1DA05ECA}" type="slidenum">
              <a:rPr lang="en-US" smtClean="0"/>
              <a:t>4</a:t>
            </a:fld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5831359" y="1774439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Content Placeholder 3"/>
          <p:cNvSpPr txBox="1">
            <a:spLocks/>
          </p:cNvSpPr>
          <p:nvPr/>
        </p:nvSpPr>
        <p:spPr>
          <a:xfrm>
            <a:off x="7010400" y="2614998"/>
            <a:ext cx="4722341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Turn compression on </a:t>
            </a:r>
            <a:r>
              <a:rPr lang="en-US" sz="1800" dirty="0" smtClean="0"/>
              <a:t>earlier &amp; enhanced KMOG/WES alignment </a:t>
            </a:r>
            <a:endParaRPr lang="en-US" sz="1800" dirty="0"/>
          </a:p>
        </p:txBody>
      </p:sp>
      <p:sp>
        <p:nvSpPr>
          <p:cNvPr id="11" name="Right Arrow 10"/>
          <p:cNvSpPr/>
          <p:nvPr/>
        </p:nvSpPr>
        <p:spPr>
          <a:xfrm>
            <a:off x="5831359" y="2632285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Content Placeholder 3"/>
          <p:cNvSpPr txBox="1">
            <a:spLocks/>
          </p:cNvSpPr>
          <p:nvPr/>
        </p:nvSpPr>
        <p:spPr>
          <a:xfrm>
            <a:off x="240956" y="3519792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High backpressure inside the production facility</a:t>
            </a:r>
            <a:endParaRPr lang="en-US" sz="1800" dirty="0"/>
          </a:p>
        </p:txBody>
      </p:sp>
      <p:sp>
        <p:nvSpPr>
          <p:cNvPr id="13" name="Right Arrow 12"/>
          <p:cNvSpPr/>
          <p:nvPr/>
        </p:nvSpPr>
        <p:spPr>
          <a:xfrm>
            <a:off x="5831359" y="3525668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Right Arrow 13"/>
          <p:cNvSpPr/>
          <p:nvPr/>
        </p:nvSpPr>
        <p:spPr>
          <a:xfrm>
            <a:off x="5831359" y="4466817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Content Placeholder 3"/>
          <p:cNvSpPr txBox="1">
            <a:spLocks/>
          </p:cNvSpPr>
          <p:nvPr/>
        </p:nvSpPr>
        <p:spPr>
          <a:xfrm>
            <a:off x="240956" y="2614998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Identifying high pressure ‘quadrants’ of the field</a:t>
            </a:r>
            <a:endParaRPr lang="en-US" sz="1800" dirty="0"/>
          </a:p>
        </p:txBody>
      </p:sp>
      <p:sp>
        <p:nvSpPr>
          <p:cNvPr id="16" name="Content Placeholder 3"/>
          <p:cNvSpPr txBox="1">
            <a:spLocks/>
          </p:cNvSpPr>
          <p:nvPr/>
        </p:nvSpPr>
        <p:spPr>
          <a:xfrm>
            <a:off x="230659" y="4424586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Identifying wells that are flowing in subsonic flow that are more susceptible to line pressure increases</a:t>
            </a:r>
          </a:p>
        </p:txBody>
      </p:sp>
      <p:sp>
        <p:nvSpPr>
          <p:cNvPr id="17" name="Content Placeholder 3"/>
          <p:cNvSpPr txBox="1">
            <a:spLocks/>
          </p:cNvSpPr>
          <p:nvPr/>
        </p:nvSpPr>
        <p:spPr>
          <a:xfrm>
            <a:off x="240956" y="5323427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Workflow programmed to pull historical line pressure averages by production battery</a:t>
            </a:r>
            <a:endParaRPr lang="en-US" sz="18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19" name="Right Arrow 18"/>
          <p:cNvSpPr/>
          <p:nvPr/>
        </p:nvSpPr>
        <p:spPr>
          <a:xfrm>
            <a:off x="5831359" y="5275628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Content Placeholder 3"/>
          <p:cNvSpPr txBox="1">
            <a:spLocks/>
          </p:cNvSpPr>
          <p:nvPr/>
        </p:nvSpPr>
        <p:spPr>
          <a:xfrm>
            <a:off x="7000102" y="5323427"/>
            <a:ext cx="5181600" cy="4665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Data support in KMOG/WES contract discussions</a:t>
            </a:r>
            <a:endParaRPr lang="en-US" dirty="0"/>
          </a:p>
        </p:txBody>
      </p:sp>
      <p:sp>
        <p:nvSpPr>
          <p:cNvPr id="21" name="Content Placeholder 3"/>
          <p:cNvSpPr txBox="1">
            <a:spLocks/>
          </p:cNvSpPr>
          <p:nvPr/>
        </p:nvSpPr>
        <p:spPr>
          <a:xfrm>
            <a:off x="7000102" y="3519792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Piping and control valve modifications to reduce wellhead back-pressure </a:t>
            </a:r>
            <a:endParaRPr lang="en-US" sz="1800" dirty="0"/>
          </a:p>
        </p:txBody>
      </p:sp>
      <p:sp>
        <p:nvSpPr>
          <p:cNvPr id="22" name="Content Placeholder 3"/>
          <p:cNvSpPr txBox="1">
            <a:spLocks/>
          </p:cNvSpPr>
          <p:nvPr/>
        </p:nvSpPr>
        <p:spPr>
          <a:xfrm>
            <a:off x="7010400" y="4454751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Tune </a:t>
            </a:r>
            <a:r>
              <a:rPr lang="en-US" sz="1800" dirty="0" smtClean="0"/>
              <a:t>wellhead </a:t>
            </a:r>
            <a:r>
              <a:rPr lang="en-US" sz="1800" dirty="0"/>
              <a:t>telemetry to increase production</a:t>
            </a:r>
          </a:p>
        </p:txBody>
      </p:sp>
    </p:spTree>
    <p:extLst>
      <p:ext uri="{BB962C8B-B14F-4D97-AF65-F5344CB8AC3E}">
        <p14:creationId xmlns:p14="http://schemas.microsoft.com/office/powerpoint/2010/main" val="154492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/>
      <p:bldP spid="13" grpId="0" animBg="1"/>
      <p:bldP spid="14" grpId="0" animBg="1"/>
      <p:bldP spid="15" grpId="0"/>
      <p:bldP spid="16" grpId="0"/>
      <p:bldP spid="17" grpId="0"/>
      <p:bldP spid="19" grpId="0" animBg="1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1 Steps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5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24605" y="1271757"/>
            <a:ext cx="2333297" cy="1166648"/>
            <a:chOff x="430924" y="1650124"/>
            <a:chExt cx="2333297" cy="1166648"/>
          </a:xfrm>
        </p:grpSpPr>
        <p:sp>
          <p:nvSpPr>
            <p:cNvPr id="8" name="Rectangle 7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2596" y="1771782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Pull Tubing Pressure, XMV Pressure &amp; Sales Line Pressure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ight Arrow 10"/>
          <p:cNvSpPr/>
          <p:nvPr/>
        </p:nvSpPr>
        <p:spPr>
          <a:xfrm>
            <a:off x="3657598" y="1663265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4338142" y="1261244"/>
            <a:ext cx="2359571" cy="1166648"/>
            <a:chOff x="430924" y="1650124"/>
            <a:chExt cx="2359571" cy="1166648"/>
          </a:xfrm>
        </p:grpSpPr>
        <p:sp>
          <p:nvSpPr>
            <p:cNvPr id="14" name="Rectangle 13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8870" y="1910282"/>
              <a:ext cx="2221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Filter Bad Data From Pressures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454453" y="1271757"/>
            <a:ext cx="2333297" cy="1166648"/>
            <a:chOff x="430924" y="1650124"/>
            <a:chExt cx="2333297" cy="1166648"/>
          </a:xfrm>
        </p:grpSpPr>
        <p:sp>
          <p:nvSpPr>
            <p:cNvPr id="17" name="Rectangle 16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42596" y="1899767"/>
              <a:ext cx="2221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Pull Downtime Codes From PDB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Right Arrow 18"/>
          <p:cNvSpPr/>
          <p:nvPr/>
        </p:nvSpPr>
        <p:spPr>
          <a:xfrm>
            <a:off x="6835659" y="1652752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 rot="5400000">
            <a:off x="8436512" y="2699440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7510287" y="3278233"/>
            <a:ext cx="2333297" cy="1172973"/>
            <a:chOff x="430924" y="1650124"/>
            <a:chExt cx="2333297" cy="1172973"/>
          </a:xfrm>
        </p:grpSpPr>
        <p:sp>
          <p:nvSpPr>
            <p:cNvPr id="22" name="Rectangle 21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42596" y="1899767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Associate downtime codes with pressure timestamps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Right Arrow 23"/>
          <p:cNvSpPr/>
          <p:nvPr/>
        </p:nvSpPr>
        <p:spPr>
          <a:xfrm rot="10800000">
            <a:off x="6835659" y="3689229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4364416" y="3275070"/>
            <a:ext cx="2374352" cy="1166648"/>
            <a:chOff x="430924" y="1650124"/>
            <a:chExt cx="2374352" cy="1166648"/>
          </a:xfrm>
        </p:grpSpPr>
        <p:sp>
          <p:nvSpPr>
            <p:cNvPr id="26" name="Rectangle 25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83651" y="1794433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Delete Pressures associated with planned avoidable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8" name="Right Arrow 27"/>
          <p:cNvSpPr/>
          <p:nvPr/>
        </p:nvSpPr>
        <p:spPr>
          <a:xfrm rot="10800000">
            <a:off x="3657598" y="3666579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1124605" y="3232124"/>
            <a:ext cx="2374352" cy="1166648"/>
            <a:chOff x="430924" y="1650124"/>
            <a:chExt cx="2374352" cy="1166648"/>
          </a:xfrm>
        </p:grpSpPr>
        <p:sp>
          <p:nvSpPr>
            <p:cNvPr id="30" name="Rectangle 29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83651" y="1794433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Break Pressures up into 6 hour increments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2" name="Right Arrow 31"/>
          <p:cNvSpPr/>
          <p:nvPr/>
        </p:nvSpPr>
        <p:spPr>
          <a:xfrm rot="5400000">
            <a:off x="1955905" y="4591691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1124605" y="5168239"/>
            <a:ext cx="2374352" cy="1166648"/>
            <a:chOff x="430924" y="1650124"/>
            <a:chExt cx="2374352" cy="1166648"/>
          </a:xfrm>
        </p:grpSpPr>
        <p:sp>
          <p:nvSpPr>
            <p:cNvPr id="34" name="Rectangle 33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83651" y="1794433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Flag trends w/ positive slope &amp; w/ &gt;15% increase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6" name="Right Arrow 35"/>
          <p:cNvSpPr/>
          <p:nvPr/>
        </p:nvSpPr>
        <p:spPr>
          <a:xfrm>
            <a:off x="3657598" y="5549055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4338142" y="5147034"/>
            <a:ext cx="2359571" cy="1166648"/>
            <a:chOff x="430924" y="1650124"/>
            <a:chExt cx="2359571" cy="1166648"/>
          </a:xfrm>
        </p:grpSpPr>
        <p:sp>
          <p:nvSpPr>
            <p:cNvPr id="38" name="Rectangle 37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8870" y="1910282"/>
              <a:ext cx="2221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Bin pressures into 50 psi increments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0" name="Right Arrow 39"/>
          <p:cNvSpPr/>
          <p:nvPr/>
        </p:nvSpPr>
        <p:spPr>
          <a:xfrm>
            <a:off x="6871135" y="5533891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7551679" y="5131870"/>
            <a:ext cx="2427884" cy="1166648"/>
            <a:chOff x="430924" y="1650124"/>
            <a:chExt cx="2427884" cy="1166648"/>
          </a:xfrm>
        </p:grpSpPr>
        <p:sp>
          <p:nvSpPr>
            <p:cNvPr id="42" name="Rectangle 41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37183" y="1830802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Calculate Delta between XMV &amp; Sales Line pressures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219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0" grpId="0" animBg="1"/>
      <p:bldP spid="24" grpId="0" animBg="1"/>
      <p:bldP spid="28" grpId="0" animBg="1"/>
      <p:bldP spid="32" grpId="0" animBg="1"/>
      <p:bldP spid="36" grpId="0" animBg="1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 2 Steps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6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24605" y="1271757"/>
            <a:ext cx="2333297" cy="1166648"/>
            <a:chOff x="430924" y="1650124"/>
            <a:chExt cx="2333297" cy="1166648"/>
          </a:xfrm>
        </p:grpSpPr>
        <p:sp>
          <p:nvSpPr>
            <p:cNvPr id="8" name="Rectangle 7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42596" y="1907512"/>
              <a:ext cx="2221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Pull exception flags for all wells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ight Arrow 10"/>
          <p:cNvSpPr/>
          <p:nvPr/>
        </p:nvSpPr>
        <p:spPr>
          <a:xfrm>
            <a:off x="3657598" y="1663265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4338142" y="1261244"/>
            <a:ext cx="2359571" cy="1166648"/>
            <a:chOff x="430924" y="1650124"/>
            <a:chExt cx="2359571" cy="1166648"/>
          </a:xfrm>
        </p:grpSpPr>
        <p:sp>
          <p:nvSpPr>
            <p:cNvPr id="14" name="Rectangle 13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68870" y="1771780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Pull production yesterday and production targets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454453" y="1271757"/>
            <a:ext cx="2374686" cy="1166648"/>
            <a:chOff x="430924" y="1650124"/>
            <a:chExt cx="2374686" cy="1166648"/>
          </a:xfrm>
        </p:grpSpPr>
        <p:sp>
          <p:nvSpPr>
            <p:cNvPr id="17" name="Rectangle 16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3985" y="1761267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Get production deltas for days w/ exceptions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9" name="Right Arrow 18"/>
          <p:cNvSpPr/>
          <p:nvPr/>
        </p:nvSpPr>
        <p:spPr>
          <a:xfrm>
            <a:off x="6835659" y="1652752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 rot="5400000">
            <a:off x="8436512" y="2699440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/>
          <p:cNvGrpSpPr/>
          <p:nvPr/>
        </p:nvGrpSpPr>
        <p:grpSpPr>
          <a:xfrm>
            <a:off x="7510287" y="3278233"/>
            <a:ext cx="2333297" cy="1166648"/>
            <a:chOff x="430924" y="1650124"/>
            <a:chExt cx="2333297" cy="1166648"/>
          </a:xfrm>
        </p:grpSpPr>
        <p:sp>
          <p:nvSpPr>
            <p:cNvPr id="22" name="Rectangle 21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42596" y="1899767"/>
              <a:ext cx="22216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Multiply deltas by commodity prices </a:t>
              </a:r>
            </a:p>
          </p:txBody>
        </p:sp>
      </p:grpSp>
      <p:sp>
        <p:nvSpPr>
          <p:cNvPr id="24" name="Right Arrow 23"/>
          <p:cNvSpPr/>
          <p:nvPr/>
        </p:nvSpPr>
        <p:spPr>
          <a:xfrm rot="10800000">
            <a:off x="6835659" y="3689229"/>
            <a:ext cx="480848" cy="3836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4364416" y="3275070"/>
            <a:ext cx="2333297" cy="1166648"/>
            <a:chOff x="430924" y="1650124"/>
            <a:chExt cx="2333297" cy="1166648"/>
          </a:xfrm>
        </p:grpSpPr>
        <p:sp>
          <p:nvSpPr>
            <p:cNvPr id="26" name="Rectangle 25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/>
                <a:t>Sum deficits for wells and field by day and week</a:t>
              </a:r>
              <a:endParaRPr lang="en-US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42596" y="1910282"/>
              <a:ext cx="2221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2526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0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XMV Pressure Exception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074" y="1467293"/>
            <a:ext cx="8932275" cy="48890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2"/>
          <p:cNvSpPr/>
          <p:nvPr/>
        </p:nvSpPr>
        <p:spPr>
          <a:xfrm>
            <a:off x="3009648" y="1909960"/>
            <a:ext cx="1974136" cy="4512483"/>
          </a:xfrm>
          <a:prstGeom prst="rect">
            <a:avLst/>
          </a:prstGeom>
          <a:solidFill>
            <a:schemeClr val="accent4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57283" y="2289028"/>
            <a:ext cx="1544186" cy="369332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Pressure Bins</a:t>
            </a:r>
            <a:endParaRPr lang="en-US" dirty="0"/>
          </a:p>
        </p:txBody>
      </p:sp>
      <p:cxnSp>
        <p:nvCxnSpPr>
          <p:cNvPr id="10" name="Straight Arrow Connector 9"/>
          <p:cNvCxnSpPr>
            <a:stCxn id="8" idx="3"/>
          </p:cNvCxnSpPr>
          <p:nvPr/>
        </p:nvCxnSpPr>
        <p:spPr>
          <a:xfrm flipV="1">
            <a:off x="1901469" y="2470697"/>
            <a:ext cx="1059734" cy="299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83224" y="1909960"/>
            <a:ext cx="581339" cy="4512483"/>
          </a:xfrm>
          <a:prstGeom prst="rect">
            <a:avLst/>
          </a:prstGeom>
          <a:solidFill>
            <a:schemeClr val="accent4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716306" y="3001589"/>
            <a:ext cx="1756610" cy="369332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Pressure Deltas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5" idx="3"/>
          </p:cNvCxnSpPr>
          <p:nvPr/>
        </p:nvCxnSpPr>
        <p:spPr>
          <a:xfrm flipV="1">
            <a:off x="4472916" y="3180229"/>
            <a:ext cx="510868" cy="60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510624" y="1909960"/>
            <a:ext cx="3967913" cy="4512483"/>
          </a:xfrm>
          <a:prstGeom prst="rect">
            <a:avLst/>
          </a:prstGeom>
          <a:solidFill>
            <a:schemeClr val="accent4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243146" y="3658931"/>
            <a:ext cx="1756610" cy="646331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Daily Deferred Volumes &amp; Sales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4983224" y="3982096"/>
            <a:ext cx="497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478537" y="1909960"/>
            <a:ext cx="631596" cy="4512483"/>
          </a:xfrm>
          <a:prstGeom prst="rect">
            <a:avLst/>
          </a:prstGeom>
          <a:solidFill>
            <a:schemeClr val="accent4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7068215" y="4390041"/>
            <a:ext cx="1906365" cy="646331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Weekly Deferred Volumes &amp; Sales</a:t>
            </a:r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8958048" y="4713206"/>
            <a:ext cx="497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06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8" grpId="0" animBg="1"/>
      <p:bldP spid="8" grpId="1" animBg="1"/>
      <p:bldP spid="14" grpId="0" animBg="1"/>
      <p:bldP spid="14" grpId="1" animBg="1"/>
      <p:bldP spid="15" grpId="0" animBg="1"/>
      <p:bldP spid="15" grpId="1" animBg="1"/>
      <p:bldP spid="22" grpId="0" animBg="1"/>
      <p:bldP spid="22" grpId="1" animBg="1"/>
      <p:bldP spid="23" grpId="0" animBg="1"/>
      <p:bldP spid="23" grpId="1" animBg="1"/>
      <p:bldP spid="27" grpId="0" animBg="1"/>
      <p:bldP spid="27" grpId="1" animBg="1"/>
      <p:bldP spid="28" grpId="0" animBg="1"/>
      <p:bldP spid="2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Flagged Pressure Exception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30" y="1812074"/>
            <a:ext cx="11650935" cy="4363646"/>
          </a:xfrm>
          <a:prstGeom prst="rect">
            <a:avLst/>
          </a:prstGeom>
        </p:spPr>
      </p:pic>
      <p:grpSp>
        <p:nvGrpSpPr>
          <p:cNvPr id="28" name="Group 27"/>
          <p:cNvGrpSpPr/>
          <p:nvPr/>
        </p:nvGrpSpPr>
        <p:grpSpPr>
          <a:xfrm>
            <a:off x="7818652" y="2588067"/>
            <a:ext cx="3735167" cy="1681374"/>
            <a:chOff x="7852270" y="2614961"/>
            <a:chExt cx="3735167" cy="1681374"/>
          </a:xfrm>
        </p:grpSpPr>
        <p:sp>
          <p:nvSpPr>
            <p:cNvPr id="12" name="Rectangle 11"/>
            <p:cNvSpPr/>
            <p:nvPr/>
          </p:nvSpPr>
          <p:spPr>
            <a:xfrm>
              <a:off x="7852270" y="2614961"/>
              <a:ext cx="3735167" cy="16813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84464" y="2710260"/>
              <a:ext cx="20574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Oil Goal</a:t>
              </a:r>
            </a:p>
            <a:p>
              <a:r>
                <a:rPr lang="en-US" dirty="0" smtClean="0"/>
                <a:t>Oil Yesterday</a:t>
              </a:r>
            </a:p>
            <a:p>
              <a:r>
                <a:rPr lang="en-US" dirty="0" smtClean="0"/>
                <a:t>XMV Pressure</a:t>
              </a:r>
            </a:p>
            <a:p>
              <a:r>
                <a:rPr lang="en-US" dirty="0" smtClean="0"/>
                <a:t>Gas Sales Pressure</a:t>
              </a:r>
            </a:p>
            <a:p>
              <a:r>
                <a:rPr lang="en-US" dirty="0" smtClean="0"/>
                <a:t>Flagged Pressure</a:t>
              </a:r>
              <a:endParaRPr lang="en-US" dirty="0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10186773" y="2891904"/>
              <a:ext cx="1284194" cy="13448"/>
            </a:xfrm>
            <a:prstGeom prst="line">
              <a:avLst/>
            </a:prstGeom>
            <a:ln w="63500">
              <a:solidFill>
                <a:srgbClr val="FFB12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0186773" y="3163690"/>
              <a:ext cx="1271479" cy="13448"/>
            </a:xfrm>
            <a:prstGeom prst="line">
              <a:avLst/>
            </a:prstGeom>
            <a:ln w="63500">
              <a:solidFill>
                <a:srgbClr val="48A4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0180415" y="3448924"/>
              <a:ext cx="1284194" cy="13448"/>
            </a:xfrm>
            <a:prstGeom prst="line">
              <a:avLst/>
            </a:prstGeom>
            <a:ln w="63500">
              <a:solidFill>
                <a:srgbClr val="F483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10180415" y="3751221"/>
              <a:ext cx="1284194" cy="1344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10180415" y="4031356"/>
              <a:ext cx="1284194" cy="13448"/>
            </a:xfrm>
            <a:prstGeom prst="line">
              <a:avLst/>
            </a:prstGeom>
            <a:ln w="63500">
              <a:solidFill>
                <a:srgbClr val="9ACC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2413747" y="3277706"/>
            <a:ext cx="1939746" cy="923330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Flagged pressure increase and production Delta</a:t>
            </a:r>
            <a:endParaRPr lang="en-US" dirty="0"/>
          </a:p>
        </p:txBody>
      </p:sp>
      <p:cxnSp>
        <p:nvCxnSpPr>
          <p:cNvPr id="21" name="Straight Arrow Connector 20"/>
          <p:cNvCxnSpPr>
            <a:stCxn id="20" idx="3"/>
          </p:cNvCxnSpPr>
          <p:nvPr/>
        </p:nvCxnSpPr>
        <p:spPr>
          <a:xfrm flipV="1">
            <a:off x="4353493" y="3277707"/>
            <a:ext cx="1119460" cy="4616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4353493" y="3739371"/>
            <a:ext cx="1307719" cy="10074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55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Flagged Pressure </a:t>
            </a:r>
            <a:r>
              <a:rPr lang="en-US" dirty="0"/>
              <a:t>Exception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88" y="1387498"/>
            <a:ext cx="11322423" cy="4968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Group 9"/>
          <p:cNvGrpSpPr/>
          <p:nvPr/>
        </p:nvGrpSpPr>
        <p:grpSpPr>
          <a:xfrm>
            <a:off x="7274046" y="2500661"/>
            <a:ext cx="3735167" cy="1681374"/>
            <a:chOff x="7852270" y="2614961"/>
            <a:chExt cx="3735167" cy="1681374"/>
          </a:xfrm>
        </p:grpSpPr>
        <p:sp>
          <p:nvSpPr>
            <p:cNvPr id="11" name="Rectangle 10"/>
            <p:cNvSpPr/>
            <p:nvPr/>
          </p:nvSpPr>
          <p:spPr>
            <a:xfrm>
              <a:off x="7852270" y="2614961"/>
              <a:ext cx="3735167" cy="16813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984464" y="2710260"/>
              <a:ext cx="205740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Oil Goal</a:t>
              </a:r>
            </a:p>
            <a:p>
              <a:r>
                <a:rPr lang="en-US" dirty="0" smtClean="0"/>
                <a:t>Oil Yesterday</a:t>
              </a:r>
            </a:p>
            <a:p>
              <a:r>
                <a:rPr lang="en-US" dirty="0" smtClean="0"/>
                <a:t>XMV Pressure</a:t>
              </a:r>
            </a:p>
            <a:p>
              <a:r>
                <a:rPr lang="en-US" dirty="0" smtClean="0"/>
                <a:t>Gas Sales Pressure</a:t>
              </a:r>
            </a:p>
            <a:p>
              <a:r>
                <a:rPr lang="en-US" dirty="0" smtClean="0"/>
                <a:t>Flagged Pressure</a:t>
              </a:r>
              <a:endParaRPr lang="en-US" dirty="0"/>
            </a:p>
          </p:txBody>
        </p:sp>
        <p:cxnSp>
          <p:nvCxnSpPr>
            <p:cNvPr id="13" name="Straight Connector 12"/>
            <p:cNvCxnSpPr/>
            <p:nvPr/>
          </p:nvCxnSpPr>
          <p:spPr>
            <a:xfrm>
              <a:off x="10186773" y="2891904"/>
              <a:ext cx="1284194" cy="13448"/>
            </a:xfrm>
            <a:prstGeom prst="line">
              <a:avLst/>
            </a:prstGeom>
            <a:ln w="63500">
              <a:solidFill>
                <a:srgbClr val="FFB12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10186773" y="3163690"/>
              <a:ext cx="1271479" cy="13448"/>
            </a:xfrm>
            <a:prstGeom prst="line">
              <a:avLst/>
            </a:prstGeom>
            <a:ln w="63500">
              <a:solidFill>
                <a:srgbClr val="48A44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10180415" y="3448924"/>
              <a:ext cx="1284194" cy="13448"/>
            </a:xfrm>
            <a:prstGeom prst="line">
              <a:avLst/>
            </a:prstGeom>
            <a:ln w="63500">
              <a:solidFill>
                <a:srgbClr val="F4838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10180415" y="3751221"/>
              <a:ext cx="1284194" cy="13448"/>
            </a:xfrm>
            <a:prstGeom prst="line">
              <a:avLst/>
            </a:prstGeom>
            <a:ln w="635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0180415" y="4031356"/>
              <a:ext cx="1284194" cy="13448"/>
            </a:xfrm>
            <a:prstGeom prst="line">
              <a:avLst/>
            </a:prstGeom>
            <a:ln w="63500">
              <a:solidFill>
                <a:srgbClr val="9ACC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8568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XMV to Gas Sales Line Delta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488" y="1456660"/>
            <a:ext cx="8790189" cy="4976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5030288" y="1883123"/>
            <a:ext cx="581339" cy="4512483"/>
          </a:xfrm>
          <a:prstGeom prst="rect">
            <a:avLst/>
          </a:prstGeom>
          <a:solidFill>
            <a:schemeClr val="accent4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03095" y="2064658"/>
            <a:ext cx="1756610" cy="646331"/>
          </a:xfrm>
          <a:prstGeom prst="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Sorted by pressure delta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443173" y="2387823"/>
            <a:ext cx="497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86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XMV to Gas Sales Line Delta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379" y="1472781"/>
            <a:ext cx="9103242" cy="4883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Straight Connector 7"/>
          <p:cNvCxnSpPr/>
          <p:nvPr/>
        </p:nvCxnSpPr>
        <p:spPr>
          <a:xfrm>
            <a:off x="2319618" y="2427194"/>
            <a:ext cx="6290982" cy="33618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319618" y="3415225"/>
            <a:ext cx="6290982" cy="33618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14346" y="2780711"/>
            <a:ext cx="1586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+/-60 psi Delta</a:t>
            </a:r>
            <a:endParaRPr lang="en-US" b="1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8007723" y="2494759"/>
            <a:ext cx="0" cy="294245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1" idx="2"/>
          </p:cNvCxnSpPr>
          <p:nvPr/>
        </p:nvCxnSpPr>
        <p:spPr>
          <a:xfrm>
            <a:off x="8007723" y="3150043"/>
            <a:ext cx="0" cy="273698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5109987" y="3914565"/>
            <a:ext cx="2333297" cy="1166648"/>
            <a:chOff x="430924" y="1650124"/>
            <a:chExt cx="2333297" cy="1166648"/>
          </a:xfrm>
        </p:grpSpPr>
        <p:sp>
          <p:nvSpPr>
            <p:cNvPr id="27" name="Rectangle 26"/>
            <p:cNvSpPr/>
            <p:nvPr/>
          </p:nvSpPr>
          <p:spPr>
            <a:xfrm>
              <a:off x="430924" y="1650124"/>
              <a:ext cx="2333297" cy="116664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2596" y="1771783"/>
              <a:ext cx="222162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solidFill>
                    <a:schemeClr val="bg1"/>
                  </a:solidFill>
                </a:rPr>
                <a:t>Potential to lower pressure upstream of gas sales</a:t>
              </a:r>
              <a:endParaRPr lang="en-US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84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Inflow Performance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702" y="1581348"/>
            <a:ext cx="5199681" cy="4595615"/>
          </a:xfrm>
        </p:spPr>
        <p:txBody>
          <a:bodyPr/>
          <a:lstStyle/>
          <a:p>
            <a:r>
              <a:rPr lang="en-US" dirty="0" smtClean="0"/>
              <a:t>Relationship Between:</a:t>
            </a:r>
          </a:p>
          <a:p>
            <a:pPr lvl="1"/>
            <a:r>
              <a:rPr lang="en-US" dirty="0" smtClean="0"/>
              <a:t>Reservoir Pressure</a:t>
            </a:r>
          </a:p>
          <a:p>
            <a:pPr lvl="1"/>
            <a:r>
              <a:rPr lang="en-US" dirty="0" smtClean="0"/>
              <a:t>Flowing Bottom Hole Pressure</a:t>
            </a:r>
          </a:p>
          <a:p>
            <a:pPr lvl="1"/>
            <a:r>
              <a:rPr lang="en-US" dirty="0" smtClean="0"/>
              <a:t>Production Rate</a:t>
            </a:r>
          </a:p>
          <a:p>
            <a:r>
              <a:rPr lang="en-US" dirty="0" smtClean="0"/>
              <a:t>Stable in conventional plays</a:t>
            </a:r>
          </a:p>
          <a:p>
            <a:pPr lvl="1"/>
            <a:r>
              <a:rPr lang="en-US" dirty="0" smtClean="0"/>
              <a:t>Sand Stone, etc.</a:t>
            </a:r>
          </a:p>
          <a:p>
            <a:r>
              <a:rPr lang="en-US" dirty="0" smtClean="0"/>
              <a:t>Dynamic in unconventional plays</a:t>
            </a:r>
          </a:p>
          <a:p>
            <a:pPr lvl="1"/>
            <a:r>
              <a:rPr lang="en-US" dirty="0" smtClean="0"/>
              <a:t>Shale, etc.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ANADARKO DJ BASIN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12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16200000">
            <a:off x="5162261" y="3626603"/>
            <a:ext cx="254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Reservoir Pressure (psig)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8153400" y="5720596"/>
            <a:ext cx="254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Production Rate (bpd)</a:t>
            </a:r>
            <a:endParaRPr lang="en-US" dirty="0"/>
          </a:p>
        </p:txBody>
      </p:sp>
      <p:sp>
        <p:nvSpPr>
          <p:cNvPr id="18" name="Freeform 17"/>
          <p:cNvSpPr/>
          <p:nvPr/>
        </p:nvSpPr>
        <p:spPr>
          <a:xfrm>
            <a:off x="6633286" y="3232727"/>
            <a:ext cx="3489769" cy="2487869"/>
          </a:xfrm>
          <a:custGeom>
            <a:avLst/>
            <a:gdLst>
              <a:gd name="connsiteX0" fmla="*/ 0 w 4548753"/>
              <a:gd name="connsiteY0" fmla="*/ 0 h 3060915"/>
              <a:gd name="connsiteX1" fmla="*/ 3316637 w 4548753"/>
              <a:gd name="connsiteY1" fmla="*/ 1735810 h 3060915"/>
              <a:gd name="connsiteX2" fmla="*/ 4548753 w 4548753"/>
              <a:gd name="connsiteY2" fmla="*/ 3060915 h 3060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8753" h="3060915">
                <a:moveTo>
                  <a:pt x="0" y="0"/>
                </a:moveTo>
                <a:cubicBezTo>
                  <a:pt x="1279256" y="612829"/>
                  <a:pt x="2558512" y="1225658"/>
                  <a:pt x="3316637" y="1735810"/>
                </a:cubicBezTo>
                <a:cubicBezTo>
                  <a:pt x="4074763" y="2245963"/>
                  <a:pt x="4357607" y="2845230"/>
                  <a:pt x="4548753" y="3060915"/>
                </a:cubicBezTo>
              </a:path>
            </a:pathLst>
          </a:custGeom>
          <a:noFill/>
          <a:ln w="603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8"/>
          <p:cNvSpPr/>
          <p:nvPr/>
        </p:nvSpPr>
        <p:spPr>
          <a:xfrm>
            <a:off x="6633285" y="4010513"/>
            <a:ext cx="2299855" cy="1708727"/>
          </a:xfrm>
          <a:custGeom>
            <a:avLst/>
            <a:gdLst>
              <a:gd name="connsiteX0" fmla="*/ 0 w 2299855"/>
              <a:gd name="connsiteY0" fmla="*/ 0 h 1708727"/>
              <a:gd name="connsiteX1" fmla="*/ 1505527 w 2299855"/>
              <a:gd name="connsiteY1" fmla="*/ 803564 h 1708727"/>
              <a:gd name="connsiteX2" fmla="*/ 2299855 w 2299855"/>
              <a:gd name="connsiteY2" fmla="*/ 1708727 h 1708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9855" h="1708727">
                <a:moveTo>
                  <a:pt x="0" y="0"/>
                </a:moveTo>
                <a:cubicBezTo>
                  <a:pt x="561109" y="259388"/>
                  <a:pt x="1122218" y="518776"/>
                  <a:pt x="1505527" y="803564"/>
                </a:cubicBezTo>
                <a:cubicBezTo>
                  <a:pt x="1888836" y="1088352"/>
                  <a:pt x="2094345" y="1398539"/>
                  <a:pt x="2299855" y="1708727"/>
                </a:cubicBezTo>
              </a:path>
            </a:pathLst>
          </a:custGeom>
          <a:noFill/>
          <a:ln w="603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flipH="1" flipV="1">
            <a:off x="6617789" y="2262910"/>
            <a:ext cx="7748" cy="345633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633284" y="5719240"/>
            <a:ext cx="5110085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Down Arrow 25"/>
          <p:cNvSpPr/>
          <p:nvPr/>
        </p:nvSpPr>
        <p:spPr>
          <a:xfrm rot="2113317">
            <a:off x="8218655" y="4410491"/>
            <a:ext cx="268962" cy="31166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9424261" y="2444030"/>
            <a:ext cx="1614055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IPR can change rapidly in shale plays</a:t>
            </a:r>
            <a:endParaRPr lang="en-US" dirty="0"/>
          </a:p>
        </p:txBody>
      </p:sp>
      <p:sp>
        <p:nvSpPr>
          <p:cNvPr id="28" name="Freeform 27"/>
          <p:cNvSpPr/>
          <p:nvPr/>
        </p:nvSpPr>
        <p:spPr>
          <a:xfrm>
            <a:off x="6633284" y="2418809"/>
            <a:ext cx="4579661" cy="3289839"/>
          </a:xfrm>
          <a:custGeom>
            <a:avLst/>
            <a:gdLst>
              <a:gd name="connsiteX0" fmla="*/ 0 w 4548753"/>
              <a:gd name="connsiteY0" fmla="*/ 0 h 3060915"/>
              <a:gd name="connsiteX1" fmla="*/ 3316637 w 4548753"/>
              <a:gd name="connsiteY1" fmla="*/ 1735810 h 3060915"/>
              <a:gd name="connsiteX2" fmla="*/ 4548753 w 4548753"/>
              <a:gd name="connsiteY2" fmla="*/ 3060915 h 3060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8753" h="3060915">
                <a:moveTo>
                  <a:pt x="0" y="0"/>
                </a:moveTo>
                <a:cubicBezTo>
                  <a:pt x="1279256" y="612829"/>
                  <a:pt x="2558512" y="1225658"/>
                  <a:pt x="3316637" y="1735810"/>
                </a:cubicBezTo>
                <a:cubicBezTo>
                  <a:pt x="4074763" y="2245963"/>
                  <a:pt x="4357607" y="2845230"/>
                  <a:pt x="4548753" y="3060915"/>
                </a:cubicBezTo>
              </a:path>
            </a:pathLst>
          </a:custGeom>
          <a:noFill/>
          <a:ln w="603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Down Arrow 28"/>
          <p:cNvSpPr/>
          <p:nvPr/>
        </p:nvSpPr>
        <p:spPr>
          <a:xfrm rot="12974524">
            <a:off x="8618983" y="3824964"/>
            <a:ext cx="268962" cy="311666"/>
          </a:xfrm>
          <a:prstGeom prst="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9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Vertical Lift Performance Relationship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036" y="1581348"/>
            <a:ext cx="5578764" cy="4595615"/>
          </a:xfrm>
        </p:spPr>
        <p:txBody>
          <a:bodyPr/>
          <a:lstStyle/>
          <a:p>
            <a:r>
              <a:rPr lang="en-US" dirty="0" smtClean="0"/>
              <a:t>VLP: Relationship between bottom hole &amp; surface</a:t>
            </a:r>
          </a:p>
          <a:p>
            <a:pPr lvl="1"/>
            <a:r>
              <a:rPr lang="en-US" dirty="0" smtClean="0"/>
              <a:t>How production flows from bottom hole to surface </a:t>
            </a:r>
          </a:p>
          <a:p>
            <a:r>
              <a:rPr lang="en-US" dirty="0" smtClean="0"/>
              <a:t>Dependent on:</a:t>
            </a:r>
          </a:p>
          <a:p>
            <a:pPr lvl="1"/>
            <a:r>
              <a:rPr lang="en-US" dirty="0" smtClean="0"/>
              <a:t>Well Depth</a:t>
            </a:r>
          </a:p>
          <a:p>
            <a:pPr lvl="1"/>
            <a:r>
              <a:rPr lang="en-US" dirty="0" smtClean="0"/>
              <a:t>Tubing Size</a:t>
            </a:r>
          </a:p>
          <a:p>
            <a:pPr lvl="1"/>
            <a:r>
              <a:rPr lang="en-US" dirty="0" smtClean="0"/>
              <a:t>Water Cut</a:t>
            </a:r>
          </a:p>
          <a:p>
            <a:pPr lvl="1"/>
            <a:r>
              <a:rPr lang="en-US" dirty="0" smtClean="0"/>
              <a:t>GOR</a:t>
            </a:r>
          </a:p>
          <a:p>
            <a:pPr lvl="1"/>
            <a:r>
              <a:rPr lang="en-US" dirty="0" smtClean="0"/>
              <a:t>PVT Properties</a:t>
            </a:r>
          </a:p>
          <a:p>
            <a:pPr lvl="1"/>
            <a:r>
              <a:rPr lang="en-US" b="1" dirty="0" smtClean="0"/>
              <a:t>Surface Pressure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13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 rot="16200000">
            <a:off x="5162261" y="3626603"/>
            <a:ext cx="254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Reservoir Pressure (psig)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153400" y="5720596"/>
            <a:ext cx="254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Production Rate (bpd)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617789" y="2262910"/>
            <a:ext cx="7748" cy="345633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633284" y="5719240"/>
            <a:ext cx="5110085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7299489" y="3071842"/>
            <a:ext cx="3777673" cy="1478852"/>
          </a:xfrm>
          <a:custGeom>
            <a:avLst/>
            <a:gdLst>
              <a:gd name="connsiteX0" fmla="*/ 0 w 3777673"/>
              <a:gd name="connsiteY0" fmla="*/ 184727 h 1478852"/>
              <a:gd name="connsiteX1" fmla="*/ 877454 w 3777673"/>
              <a:gd name="connsiteY1" fmla="*/ 1477818 h 1478852"/>
              <a:gd name="connsiteX2" fmla="*/ 3777673 w 3777673"/>
              <a:gd name="connsiteY2" fmla="*/ 0 h 147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77673" h="1478852">
                <a:moveTo>
                  <a:pt x="0" y="184727"/>
                </a:moveTo>
                <a:cubicBezTo>
                  <a:pt x="123921" y="846666"/>
                  <a:pt x="247842" y="1508606"/>
                  <a:pt x="877454" y="1477818"/>
                </a:cubicBezTo>
                <a:cubicBezTo>
                  <a:pt x="1507066" y="1447030"/>
                  <a:pt x="3306618" y="235527"/>
                  <a:pt x="3777673" y="0"/>
                </a:cubicBezTo>
              </a:path>
            </a:pathLst>
          </a:custGeom>
          <a:noFill/>
          <a:ln w="539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/>
        </p:nvSpPr>
        <p:spPr>
          <a:xfrm>
            <a:off x="7304107" y="1977337"/>
            <a:ext cx="3777673" cy="1478852"/>
          </a:xfrm>
          <a:custGeom>
            <a:avLst/>
            <a:gdLst>
              <a:gd name="connsiteX0" fmla="*/ 0 w 3777673"/>
              <a:gd name="connsiteY0" fmla="*/ 184727 h 1478852"/>
              <a:gd name="connsiteX1" fmla="*/ 877454 w 3777673"/>
              <a:gd name="connsiteY1" fmla="*/ 1477818 h 1478852"/>
              <a:gd name="connsiteX2" fmla="*/ 3777673 w 3777673"/>
              <a:gd name="connsiteY2" fmla="*/ 0 h 147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77673" h="1478852">
                <a:moveTo>
                  <a:pt x="0" y="184727"/>
                </a:moveTo>
                <a:cubicBezTo>
                  <a:pt x="123921" y="846666"/>
                  <a:pt x="247842" y="1508606"/>
                  <a:pt x="877454" y="1477818"/>
                </a:cubicBezTo>
                <a:cubicBezTo>
                  <a:pt x="1507066" y="1447030"/>
                  <a:pt x="3306618" y="235527"/>
                  <a:pt x="3777673" y="0"/>
                </a:cubicBezTo>
              </a:path>
            </a:pathLst>
          </a:custGeom>
          <a:noFill/>
          <a:ln w="539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/>
        </p:nvSpPr>
        <p:spPr>
          <a:xfrm>
            <a:off x="7308725" y="4078613"/>
            <a:ext cx="3777673" cy="1478852"/>
          </a:xfrm>
          <a:custGeom>
            <a:avLst/>
            <a:gdLst>
              <a:gd name="connsiteX0" fmla="*/ 0 w 3777673"/>
              <a:gd name="connsiteY0" fmla="*/ 184727 h 1478852"/>
              <a:gd name="connsiteX1" fmla="*/ 877454 w 3777673"/>
              <a:gd name="connsiteY1" fmla="*/ 1477818 h 1478852"/>
              <a:gd name="connsiteX2" fmla="*/ 3777673 w 3777673"/>
              <a:gd name="connsiteY2" fmla="*/ 0 h 147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77673" h="1478852">
                <a:moveTo>
                  <a:pt x="0" y="184727"/>
                </a:moveTo>
                <a:cubicBezTo>
                  <a:pt x="123921" y="846666"/>
                  <a:pt x="247842" y="1508606"/>
                  <a:pt x="877454" y="1477818"/>
                </a:cubicBezTo>
                <a:cubicBezTo>
                  <a:pt x="1507066" y="1447030"/>
                  <a:pt x="3306618" y="235527"/>
                  <a:pt x="3777673" y="0"/>
                </a:cubicBezTo>
              </a:path>
            </a:pathLst>
          </a:cu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>
            <a:off x="8708149" y="4589092"/>
            <a:ext cx="371035" cy="45604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/>
          <p:cNvSpPr/>
          <p:nvPr/>
        </p:nvSpPr>
        <p:spPr>
          <a:xfrm rot="10800000">
            <a:off x="8708149" y="3522445"/>
            <a:ext cx="371035" cy="456049"/>
          </a:xfrm>
          <a:prstGeom prst="downArrow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6724073" y="1449416"/>
            <a:ext cx="3971049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Increase surface Pressure shift up</a:t>
            </a:r>
          </a:p>
          <a:p>
            <a:r>
              <a:rPr lang="en-US" dirty="0" smtClean="0"/>
              <a:t>Decrease surface pressure shifts 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09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IPR &amp; VLP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14</a:t>
            </a:fld>
            <a:endParaRPr lang="en-US"/>
          </a:p>
        </p:txBody>
      </p:sp>
      <p:sp>
        <p:nvSpPr>
          <p:cNvPr id="34" name="Freeform 33"/>
          <p:cNvSpPr/>
          <p:nvPr/>
        </p:nvSpPr>
        <p:spPr>
          <a:xfrm>
            <a:off x="1230775" y="1866615"/>
            <a:ext cx="6721011" cy="3919070"/>
          </a:xfrm>
          <a:custGeom>
            <a:avLst/>
            <a:gdLst>
              <a:gd name="connsiteX0" fmla="*/ 0 w 4548753"/>
              <a:gd name="connsiteY0" fmla="*/ 0 h 3060915"/>
              <a:gd name="connsiteX1" fmla="*/ 3316637 w 4548753"/>
              <a:gd name="connsiteY1" fmla="*/ 1735810 h 3060915"/>
              <a:gd name="connsiteX2" fmla="*/ 4548753 w 4548753"/>
              <a:gd name="connsiteY2" fmla="*/ 3060915 h 3060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8753" h="3060915">
                <a:moveTo>
                  <a:pt x="0" y="0"/>
                </a:moveTo>
                <a:cubicBezTo>
                  <a:pt x="1279256" y="612829"/>
                  <a:pt x="2558512" y="1225658"/>
                  <a:pt x="3316637" y="1735810"/>
                </a:cubicBezTo>
                <a:cubicBezTo>
                  <a:pt x="4074763" y="2245963"/>
                  <a:pt x="4357607" y="2845230"/>
                  <a:pt x="4548753" y="3060915"/>
                </a:cubicBezTo>
              </a:path>
            </a:pathLst>
          </a:custGeom>
          <a:noFill/>
          <a:ln w="603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-247995" y="3693048"/>
            <a:ext cx="254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Reservoir Pressure (psig)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3897693" y="5787041"/>
            <a:ext cx="254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Production Rate (bpd)</a:t>
            </a:r>
            <a:endParaRPr lang="en-US" dirty="0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1215281" y="1525790"/>
            <a:ext cx="7747" cy="4259895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223028" y="5785685"/>
            <a:ext cx="7476904" cy="0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/>
          <p:cNvGrpSpPr/>
          <p:nvPr/>
        </p:nvGrpSpPr>
        <p:grpSpPr>
          <a:xfrm>
            <a:off x="1898469" y="2503726"/>
            <a:ext cx="6265753" cy="3281959"/>
            <a:chOff x="1898469" y="2503726"/>
            <a:chExt cx="6265753" cy="3281959"/>
          </a:xfrm>
        </p:grpSpPr>
        <p:grpSp>
          <p:nvGrpSpPr>
            <p:cNvPr id="9" name="Group 8"/>
            <p:cNvGrpSpPr/>
            <p:nvPr/>
          </p:nvGrpSpPr>
          <p:grpSpPr>
            <a:xfrm>
              <a:off x="1898469" y="2503726"/>
              <a:ext cx="6265753" cy="3281959"/>
              <a:chOff x="1898469" y="2503726"/>
              <a:chExt cx="6265753" cy="328195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1898469" y="2503726"/>
                <a:ext cx="6265753" cy="2113413"/>
              </a:xfrm>
              <a:custGeom>
                <a:avLst/>
                <a:gdLst>
                  <a:gd name="connsiteX0" fmla="*/ 0 w 3777673"/>
                  <a:gd name="connsiteY0" fmla="*/ 184727 h 1478852"/>
                  <a:gd name="connsiteX1" fmla="*/ 877454 w 3777673"/>
                  <a:gd name="connsiteY1" fmla="*/ 1477818 h 1478852"/>
                  <a:gd name="connsiteX2" fmla="*/ 3777673 w 3777673"/>
                  <a:gd name="connsiteY2" fmla="*/ 0 h 14788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777673" h="1478852">
                    <a:moveTo>
                      <a:pt x="0" y="184727"/>
                    </a:moveTo>
                    <a:cubicBezTo>
                      <a:pt x="123921" y="846666"/>
                      <a:pt x="247842" y="1508606"/>
                      <a:pt x="877454" y="1477818"/>
                    </a:cubicBezTo>
                    <a:cubicBezTo>
                      <a:pt x="1507066" y="1447030"/>
                      <a:pt x="3306618" y="235527"/>
                      <a:pt x="3777673" y="0"/>
                    </a:cubicBezTo>
                  </a:path>
                </a:pathLst>
              </a:custGeom>
              <a:noFill/>
              <a:ln w="539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5439495" y="3655738"/>
                <a:ext cx="295564" cy="280744"/>
              </a:xfrm>
              <a:prstGeom prst="ellipse">
                <a:avLst/>
              </a:prstGeom>
              <a:solidFill>
                <a:srgbClr val="FF0000">
                  <a:alpha val="35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Arrow Connector 36"/>
              <p:cNvCxnSpPr>
                <a:stCxn id="35" idx="4"/>
              </p:cNvCxnSpPr>
              <p:nvPr/>
            </p:nvCxnSpPr>
            <p:spPr>
              <a:xfrm>
                <a:off x="5587277" y="3936482"/>
                <a:ext cx="0" cy="1849203"/>
              </a:xfrm>
              <a:prstGeom prst="straightConnector1">
                <a:avLst/>
              </a:prstGeom>
              <a:ln w="412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/>
            <p:cNvSpPr txBox="1"/>
            <p:nvPr/>
          </p:nvSpPr>
          <p:spPr>
            <a:xfrm>
              <a:off x="5595025" y="5279194"/>
              <a:ext cx="5722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q</a:t>
              </a:r>
              <a:r>
                <a:rPr lang="en-US" sz="2400" baseline="-25000" dirty="0" smtClean="0"/>
                <a:t>p</a:t>
              </a:r>
              <a:endParaRPr lang="en-US" sz="2400" baseline="-25000" dirty="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1903091" y="1344565"/>
            <a:ext cx="6265753" cy="4454839"/>
            <a:chOff x="1903091" y="1344565"/>
            <a:chExt cx="6265753" cy="4454839"/>
          </a:xfrm>
        </p:grpSpPr>
        <p:sp>
          <p:nvSpPr>
            <p:cNvPr id="47" name="Freeform 46"/>
            <p:cNvSpPr/>
            <p:nvPr/>
          </p:nvSpPr>
          <p:spPr>
            <a:xfrm>
              <a:off x="1903091" y="1344565"/>
              <a:ext cx="6265753" cy="2113413"/>
            </a:xfrm>
            <a:custGeom>
              <a:avLst/>
              <a:gdLst>
                <a:gd name="connsiteX0" fmla="*/ 0 w 3777673"/>
                <a:gd name="connsiteY0" fmla="*/ 184727 h 1478852"/>
                <a:gd name="connsiteX1" fmla="*/ 877454 w 3777673"/>
                <a:gd name="connsiteY1" fmla="*/ 1477818 h 1478852"/>
                <a:gd name="connsiteX2" fmla="*/ 3777673 w 3777673"/>
                <a:gd name="connsiteY2" fmla="*/ 0 h 147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77673" h="1478852">
                  <a:moveTo>
                    <a:pt x="0" y="184727"/>
                  </a:moveTo>
                  <a:cubicBezTo>
                    <a:pt x="123921" y="846666"/>
                    <a:pt x="247842" y="1508606"/>
                    <a:pt x="877454" y="1477818"/>
                  </a:cubicBezTo>
                  <a:cubicBezTo>
                    <a:pt x="1507066" y="1447030"/>
                    <a:pt x="3306618" y="235527"/>
                    <a:pt x="3777673" y="0"/>
                  </a:cubicBezTo>
                </a:path>
              </a:pathLst>
            </a:cu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4187962" y="3059994"/>
              <a:ext cx="295564" cy="2739410"/>
              <a:chOff x="4187962" y="3059994"/>
              <a:chExt cx="295564" cy="2739410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4187962" y="3059994"/>
                <a:ext cx="295564" cy="280744"/>
              </a:xfrm>
              <a:prstGeom prst="ellipse">
                <a:avLst/>
              </a:prstGeom>
              <a:solidFill>
                <a:srgbClr val="FF0000">
                  <a:alpha val="35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9" name="Straight Arrow Connector 48"/>
              <p:cNvCxnSpPr>
                <a:stCxn id="48" idx="4"/>
              </p:cNvCxnSpPr>
              <p:nvPr/>
            </p:nvCxnSpPr>
            <p:spPr>
              <a:xfrm flipH="1">
                <a:off x="4331132" y="3340738"/>
                <a:ext cx="4612" cy="2458666"/>
              </a:xfrm>
              <a:prstGeom prst="straightConnector1">
                <a:avLst/>
              </a:prstGeom>
              <a:ln w="412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Group 7"/>
          <p:cNvGrpSpPr/>
          <p:nvPr/>
        </p:nvGrpSpPr>
        <p:grpSpPr>
          <a:xfrm>
            <a:off x="1903088" y="3588989"/>
            <a:ext cx="6265753" cy="2196696"/>
            <a:chOff x="1903088" y="3588989"/>
            <a:chExt cx="6265753" cy="2196696"/>
          </a:xfrm>
        </p:grpSpPr>
        <p:sp>
          <p:nvSpPr>
            <p:cNvPr id="51" name="Freeform 50"/>
            <p:cNvSpPr/>
            <p:nvPr/>
          </p:nvSpPr>
          <p:spPr>
            <a:xfrm>
              <a:off x="1903088" y="3588989"/>
              <a:ext cx="6265753" cy="2113413"/>
            </a:xfrm>
            <a:custGeom>
              <a:avLst/>
              <a:gdLst>
                <a:gd name="connsiteX0" fmla="*/ 0 w 3777673"/>
                <a:gd name="connsiteY0" fmla="*/ 184727 h 1478852"/>
                <a:gd name="connsiteX1" fmla="*/ 877454 w 3777673"/>
                <a:gd name="connsiteY1" fmla="*/ 1477818 h 1478852"/>
                <a:gd name="connsiteX2" fmla="*/ 3777673 w 3777673"/>
                <a:gd name="connsiteY2" fmla="*/ 0 h 1478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77673" h="1478852">
                  <a:moveTo>
                    <a:pt x="0" y="184727"/>
                  </a:moveTo>
                  <a:cubicBezTo>
                    <a:pt x="123921" y="846666"/>
                    <a:pt x="247842" y="1508606"/>
                    <a:pt x="877454" y="1477818"/>
                  </a:cubicBezTo>
                  <a:cubicBezTo>
                    <a:pt x="1507066" y="1447030"/>
                    <a:pt x="3306618" y="235527"/>
                    <a:pt x="3777673" y="0"/>
                  </a:cubicBezTo>
                </a:path>
              </a:pathLst>
            </a:custGeom>
            <a:noFill/>
            <a:ln w="539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6441642" y="4242249"/>
              <a:ext cx="295564" cy="280744"/>
            </a:xfrm>
            <a:prstGeom prst="ellipse">
              <a:avLst/>
            </a:prstGeom>
            <a:solidFill>
              <a:srgbClr val="FF0000">
                <a:alpha val="35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3" name="Straight Arrow Connector 52"/>
            <p:cNvCxnSpPr>
              <a:stCxn id="52" idx="4"/>
            </p:cNvCxnSpPr>
            <p:nvPr/>
          </p:nvCxnSpPr>
          <p:spPr>
            <a:xfrm>
              <a:off x="6589424" y="4522993"/>
              <a:ext cx="0" cy="1262692"/>
            </a:xfrm>
            <a:prstGeom prst="straightConnector1">
              <a:avLst/>
            </a:prstGeom>
            <a:ln w="41275"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6689533" y="5274575"/>
            <a:ext cx="572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/>
                </a:solidFill>
              </a:rPr>
              <a:t>q</a:t>
            </a:r>
            <a:r>
              <a:rPr lang="en-US" sz="2400" baseline="-25000" dirty="0" smtClean="0">
                <a:solidFill>
                  <a:schemeClr val="accent6"/>
                </a:solidFill>
              </a:rPr>
              <a:t>p</a:t>
            </a:r>
            <a:endParaRPr lang="en-US" sz="2400" baseline="-25000" dirty="0">
              <a:solidFill>
                <a:schemeClr val="accent6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398917" y="5311522"/>
            <a:ext cx="572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q</a:t>
            </a:r>
            <a:r>
              <a:rPr lang="en-US" sz="2400" baseline="-25000" dirty="0" smtClean="0">
                <a:solidFill>
                  <a:srgbClr val="FF0000"/>
                </a:solidFill>
              </a:rPr>
              <a:t>p</a:t>
            </a:r>
            <a:endParaRPr lang="en-US" sz="2400" baseline="-25000" dirty="0">
              <a:solidFill>
                <a:srgbClr val="FF000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699932" y="2602074"/>
            <a:ext cx="3278909" cy="147732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Intersection is operating point.</a:t>
            </a:r>
          </a:p>
          <a:p>
            <a:endParaRPr lang="en-US" dirty="0"/>
          </a:p>
          <a:p>
            <a:r>
              <a:rPr lang="en-US" dirty="0" smtClean="0"/>
              <a:t>Changes in surface pressure change production rates with all other variables held constant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984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6" grpId="1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Compressible 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Gas at subsonic flow acts like an incompressible fluid</a:t>
            </a:r>
          </a:p>
          <a:p>
            <a:pPr lvl="1"/>
            <a:r>
              <a:rPr lang="en-US" dirty="0" smtClean="0"/>
              <a:t>If line pressure goes up, well </a:t>
            </a:r>
            <a:r>
              <a:rPr lang="en-US" dirty="0"/>
              <a:t>h</a:t>
            </a:r>
            <a:r>
              <a:rPr lang="en-US" dirty="0" smtClean="0"/>
              <a:t>ead pressure goes up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Gas at supersonic flow acts like a compressible fluid</a:t>
            </a:r>
          </a:p>
          <a:p>
            <a:pPr lvl="1"/>
            <a:r>
              <a:rPr lang="en-US" dirty="0" smtClean="0"/>
              <a:t>If line pressure goes up, well head pressure isn’t effected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4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XMV Pressure Sensitivity Example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16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253" y="1329777"/>
            <a:ext cx="6967469" cy="50265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1" name="Straight Arrow Connector 10"/>
          <p:cNvCxnSpPr>
            <a:stCxn id="8" idx="0"/>
          </p:cNvCxnSpPr>
          <p:nvPr/>
        </p:nvCxnSpPr>
        <p:spPr>
          <a:xfrm flipV="1">
            <a:off x="4615482" y="2774198"/>
            <a:ext cx="731433" cy="1337002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10454" y="4111200"/>
            <a:ext cx="2610056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Early life doesn’t show signs of production decrease until XMV pressure of +/-1,250 psi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8153400" y="4202545"/>
            <a:ext cx="205509" cy="124691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88215" y="3556214"/>
            <a:ext cx="251150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Doesn’t load until XMV pressure of +/-2,750 psi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4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XMV Pressure Sensitivity Plot Example 2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511" y="1302327"/>
            <a:ext cx="7028618" cy="5054023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>
            <a:off x="7730836" y="4202545"/>
            <a:ext cx="618837" cy="1173019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014547" y="3556214"/>
            <a:ext cx="2739053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Doesn’t load up until XMV pressure of +/-2,000 psi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12" idx="0"/>
          </p:cNvCxnSpPr>
          <p:nvPr/>
        </p:nvCxnSpPr>
        <p:spPr>
          <a:xfrm flipV="1">
            <a:off x="4288149" y="2706255"/>
            <a:ext cx="200724" cy="689169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95562" y="3395424"/>
            <a:ext cx="2385174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Current day production decrease at +/-650 psi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166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Economics – Line Pressure Impact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099" y="1672069"/>
            <a:ext cx="9639776" cy="4531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Economics – Line Pressure Impact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19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071" y="1425445"/>
            <a:ext cx="6959958" cy="5035809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3581400" y="3351442"/>
            <a:ext cx="1358900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96226" y="2899981"/>
            <a:ext cx="238517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Line pressure increase cause of plunger exceptions</a:t>
            </a:r>
            <a:endParaRPr lang="en-US" dirty="0"/>
          </a:p>
        </p:txBody>
      </p:sp>
      <p:cxnSp>
        <p:nvCxnSpPr>
          <p:cNvPr id="12" name="Straight Arrow Connector 11"/>
          <p:cNvCxnSpPr>
            <a:stCxn id="9" idx="3"/>
          </p:cNvCxnSpPr>
          <p:nvPr/>
        </p:nvCxnSpPr>
        <p:spPr>
          <a:xfrm>
            <a:off x="3581400" y="3361646"/>
            <a:ext cx="1962150" cy="1217047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33154" y="2214181"/>
            <a:ext cx="2545796" cy="120032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Total of +/-$1.3MM deferred for week when average is +/-$800k for line pressure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638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Economics – Line Pressure Impact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72" y="1415921"/>
            <a:ext cx="6921856" cy="50167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85876" y="2303081"/>
            <a:ext cx="2385174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Remains high even after line pressure goes down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7943850" y="3222907"/>
            <a:ext cx="534613" cy="70139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27630" y="2430081"/>
            <a:ext cx="263022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Total of +/-$1.1MM Deferred for week when average is +/-$750k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16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956" y="105920"/>
            <a:ext cx="10515600" cy="923842"/>
          </a:xfrm>
        </p:spPr>
        <p:txBody>
          <a:bodyPr/>
          <a:lstStyle/>
          <a:p>
            <a:r>
              <a:rPr lang="en-US" dirty="0" smtClean="0"/>
              <a:t>Elevating the IOC &amp; Field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659" y="1779802"/>
            <a:ext cx="5181600" cy="5847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1900" dirty="0"/>
              <a:t>Real time oil / gas opportunity loss analysis by well</a:t>
            </a:r>
          </a:p>
          <a:p>
            <a:pPr lvl="0"/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00102" y="1814131"/>
            <a:ext cx="5181600" cy="590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Enhanced daily &amp; weekly IOC reporting</a:t>
            </a:r>
            <a:endParaRPr lang="en-US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6459" y="6492875"/>
            <a:ext cx="2743200" cy="365125"/>
          </a:xfrm>
        </p:spPr>
        <p:txBody>
          <a:bodyPr/>
          <a:lstStyle/>
          <a:p>
            <a:fld id="{F68A0CD7-C05D-473B-87FE-A945B36846C4}" type="datetime1">
              <a:rPr lang="en-US" smtClean="0"/>
              <a:t>8/21/2018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16859" y="6492875"/>
            <a:ext cx="4114800" cy="365125"/>
          </a:xfrm>
        </p:spPr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88859" y="6492875"/>
            <a:ext cx="2743200" cy="365125"/>
          </a:xfrm>
        </p:spPr>
        <p:txBody>
          <a:bodyPr/>
          <a:lstStyle/>
          <a:p>
            <a:fld id="{0F806ECE-C1FD-48AE-9B78-00CD1DA05ECA}" type="slidenum">
              <a:rPr lang="en-US" smtClean="0"/>
              <a:t>21</a:t>
            </a:fld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5831359" y="1774439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" name="Content Placeholder 3"/>
          <p:cNvSpPr txBox="1">
            <a:spLocks/>
          </p:cNvSpPr>
          <p:nvPr/>
        </p:nvSpPr>
        <p:spPr>
          <a:xfrm>
            <a:off x="7010400" y="2614998"/>
            <a:ext cx="4722341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Turn compression on </a:t>
            </a:r>
            <a:r>
              <a:rPr lang="en-US" sz="1800" dirty="0" smtClean="0"/>
              <a:t>earlier &amp; enhanced KMOG/WES alignment </a:t>
            </a:r>
            <a:endParaRPr lang="en-US" sz="1800" dirty="0"/>
          </a:p>
        </p:txBody>
      </p:sp>
      <p:sp>
        <p:nvSpPr>
          <p:cNvPr id="11" name="Right Arrow 10"/>
          <p:cNvSpPr/>
          <p:nvPr/>
        </p:nvSpPr>
        <p:spPr>
          <a:xfrm>
            <a:off x="5831359" y="2632285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2" name="Content Placeholder 3"/>
          <p:cNvSpPr txBox="1">
            <a:spLocks/>
          </p:cNvSpPr>
          <p:nvPr/>
        </p:nvSpPr>
        <p:spPr>
          <a:xfrm>
            <a:off x="240956" y="3519792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High backpressure inside the production facility</a:t>
            </a:r>
            <a:endParaRPr lang="en-US" sz="1800" dirty="0"/>
          </a:p>
        </p:txBody>
      </p:sp>
      <p:sp>
        <p:nvSpPr>
          <p:cNvPr id="13" name="Right Arrow 12"/>
          <p:cNvSpPr/>
          <p:nvPr/>
        </p:nvSpPr>
        <p:spPr>
          <a:xfrm>
            <a:off x="5831359" y="3525668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4" name="Right Arrow 13"/>
          <p:cNvSpPr/>
          <p:nvPr/>
        </p:nvSpPr>
        <p:spPr>
          <a:xfrm>
            <a:off x="5831359" y="4466817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5" name="Content Placeholder 3"/>
          <p:cNvSpPr txBox="1">
            <a:spLocks/>
          </p:cNvSpPr>
          <p:nvPr/>
        </p:nvSpPr>
        <p:spPr>
          <a:xfrm>
            <a:off x="240956" y="2614998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Identifying high pressure ‘quadrants’ of the field</a:t>
            </a:r>
            <a:endParaRPr lang="en-US" sz="1800" dirty="0"/>
          </a:p>
        </p:txBody>
      </p:sp>
      <p:sp>
        <p:nvSpPr>
          <p:cNvPr id="16" name="Content Placeholder 3"/>
          <p:cNvSpPr txBox="1">
            <a:spLocks/>
          </p:cNvSpPr>
          <p:nvPr/>
        </p:nvSpPr>
        <p:spPr>
          <a:xfrm>
            <a:off x="230659" y="4424586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Identifying wells that are flowing in subsonic flow that are more susceptible to line pressure increases</a:t>
            </a:r>
          </a:p>
        </p:txBody>
      </p:sp>
      <p:sp>
        <p:nvSpPr>
          <p:cNvPr id="17" name="Content Placeholder 3"/>
          <p:cNvSpPr txBox="1">
            <a:spLocks/>
          </p:cNvSpPr>
          <p:nvPr/>
        </p:nvSpPr>
        <p:spPr>
          <a:xfrm>
            <a:off x="240956" y="5323427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Workflow programmed to pull historical line pressure averages by production battery</a:t>
            </a:r>
            <a:endParaRPr lang="en-US" sz="1800" dirty="0"/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19" name="Right Arrow 18"/>
          <p:cNvSpPr/>
          <p:nvPr/>
        </p:nvSpPr>
        <p:spPr>
          <a:xfrm>
            <a:off x="5831359" y="5275628"/>
            <a:ext cx="759940" cy="3459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Content Placeholder 3"/>
          <p:cNvSpPr txBox="1">
            <a:spLocks/>
          </p:cNvSpPr>
          <p:nvPr/>
        </p:nvSpPr>
        <p:spPr>
          <a:xfrm>
            <a:off x="7000102" y="5323427"/>
            <a:ext cx="5181600" cy="4665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Data support in KMOG/WES contract discussions</a:t>
            </a:r>
            <a:endParaRPr lang="en-US" dirty="0"/>
          </a:p>
        </p:txBody>
      </p:sp>
      <p:sp>
        <p:nvSpPr>
          <p:cNvPr id="21" name="Content Placeholder 3"/>
          <p:cNvSpPr txBox="1">
            <a:spLocks/>
          </p:cNvSpPr>
          <p:nvPr/>
        </p:nvSpPr>
        <p:spPr>
          <a:xfrm>
            <a:off x="7000102" y="3519792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Piping and control valve modifications to reduce wellhead back-pressure </a:t>
            </a:r>
            <a:endParaRPr lang="en-US" sz="1800" dirty="0"/>
          </a:p>
        </p:txBody>
      </p:sp>
      <p:sp>
        <p:nvSpPr>
          <p:cNvPr id="22" name="Content Placeholder 3"/>
          <p:cNvSpPr txBox="1">
            <a:spLocks/>
          </p:cNvSpPr>
          <p:nvPr/>
        </p:nvSpPr>
        <p:spPr>
          <a:xfrm>
            <a:off x="7010400" y="4454751"/>
            <a:ext cx="5181600" cy="59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i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Tune </a:t>
            </a:r>
            <a:r>
              <a:rPr lang="en-US" sz="1800" dirty="0" smtClean="0"/>
              <a:t>wellhead </a:t>
            </a:r>
            <a:r>
              <a:rPr lang="en-US" sz="1800" dirty="0"/>
              <a:t>telemetry to increase production</a:t>
            </a:r>
          </a:p>
        </p:txBody>
      </p:sp>
    </p:spTree>
    <p:extLst>
      <p:ext uri="{BB962C8B-B14F-4D97-AF65-F5344CB8AC3E}">
        <p14:creationId xmlns:p14="http://schemas.microsoft.com/office/powerpoint/2010/main" val="81699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 Forward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Run macro rollup summaries</a:t>
            </a:r>
          </a:p>
          <a:p>
            <a:pPr lvl="1"/>
            <a:r>
              <a:rPr lang="en-US" dirty="0" smtClean="0"/>
              <a:t>Resultant effects from line pressure</a:t>
            </a:r>
            <a:endParaRPr lang="en-US" dirty="0" smtClean="0"/>
          </a:p>
          <a:p>
            <a:pPr lvl="1"/>
            <a:r>
              <a:rPr lang="en-US" dirty="0" smtClean="0"/>
              <a:t>Jan 1</a:t>
            </a:r>
            <a:r>
              <a:rPr lang="en-US" baseline="30000" dirty="0" smtClean="0"/>
              <a:t>st</a:t>
            </a:r>
            <a:r>
              <a:rPr lang="en-US" dirty="0" smtClean="0"/>
              <a:t> 2018 to present</a:t>
            </a:r>
          </a:p>
          <a:p>
            <a:r>
              <a:rPr lang="en-US" dirty="0" smtClean="0"/>
              <a:t>Understand &amp; capture </a:t>
            </a:r>
            <a:r>
              <a:rPr lang="en-US" dirty="0"/>
              <a:t>contract violations automatically	</a:t>
            </a:r>
          </a:p>
          <a:p>
            <a:pPr lvl="1"/>
            <a:r>
              <a:rPr lang="en-US" dirty="0"/>
              <a:t>Exceed </a:t>
            </a:r>
            <a:r>
              <a:rPr lang="en-US" dirty="0" smtClean="0"/>
              <a:t>contract thresholds</a:t>
            </a:r>
            <a:endParaRPr lang="en-US" dirty="0" smtClean="0"/>
          </a:p>
          <a:p>
            <a:r>
              <a:rPr lang="en-US" dirty="0" smtClean="0"/>
              <a:t>Generate </a:t>
            </a:r>
            <a:r>
              <a:rPr lang="en-US" dirty="0" smtClean="0"/>
              <a:t>weekly </a:t>
            </a:r>
            <a:r>
              <a:rPr lang="en-US" dirty="0" smtClean="0"/>
              <a:t>reports for management</a:t>
            </a:r>
          </a:p>
          <a:p>
            <a:pPr lvl="1"/>
            <a:r>
              <a:rPr lang="en-US" dirty="0" smtClean="0"/>
              <a:t>More data for meetings with third parties</a:t>
            </a:r>
            <a:endParaRPr lang="en-US" dirty="0" smtClean="0"/>
          </a:p>
          <a:p>
            <a:r>
              <a:rPr lang="en-US" dirty="0"/>
              <a:t>Multi-disciplinary team workshop</a:t>
            </a:r>
          </a:p>
          <a:p>
            <a:pPr lvl="1"/>
            <a:r>
              <a:rPr lang="en-US" dirty="0"/>
              <a:t>Attack the things APC </a:t>
            </a:r>
            <a:r>
              <a:rPr lang="en-US" dirty="0" smtClean="0"/>
              <a:t>controls</a:t>
            </a:r>
          </a:p>
          <a:p>
            <a:r>
              <a:rPr lang="en-US" dirty="0" smtClean="0"/>
              <a:t>Incorporate </a:t>
            </a:r>
            <a:r>
              <a:rPr lang="en-US" dirty="0"/>
              <a:t>physics based models</a:t>
            </a:r>
          </a:p>
          <a:p>
            <a:pPr lvl="1"/>
            <a:r>
              <a:rPr lang="en-US" dirty="0" smtClean="0"/>
              <a:t>What if scenarios for line pressure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2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186" y="1581150"/>
            <a:ext cx="3055628" cy="459581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B6236-3E64-412C-B927-DAF16AA62D6E}" type="datetime1">
              <a:rPr lang="en-US" smtClean="0"/>
              <a:t>8/21/2018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ANADARKO DJ BASIN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06ECE-C1FD-48AE-9B78-00CD1DA05EC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2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12077</TotalTime>
  <Words>930</Words>
  <Application>Microsoft Office PowerPoint</Application>
  <PresentationFormat>Widescreen</PresentationFormat>
  <Paragraphs>221</Paragraphs>
  <Slides>23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1_Office Theme</vt:lpstr>
      <vt:lpstr>IAM Approach to Line Pressure Surveillance</vt:lpstr>
      <vt:lpstr>Agenda</vt:lpstr>
      <vt:lpstr>Background / History</vt:lpstr>
      <vt:lpstr>Elevating the IOC &amp; Field Operations</vt:lpstr>
      <vt:lpstr>Workflow 1 Steps</vt:lpstr>
      <vt:lpstr>Workflow 2 Steps</vt:lpstr>
      <vt:lpstr>XMV Pressure Exception</vt:lpstr>
      <vt:lpstr>Flagged Pressure Exception</vt:lpstr>
      <vt:lpstr>Flagged Pressure Exception</vt:lpstr>
      <vt:lpstr>XMV to Gas Sales Line Delta</vt:lpstr>
      <vt:lpstr>XMV to Gas Sales Line Delta</vt:lpstr>
      <vt:lpstr>Inflow Performance Relationship</vt:lpstr>
      <vt:lpstr>Vertical Lift Performance Relationship</vt:lpstr>
      <vt:lpstr>Combining IPR &amp; VLP</vt:lpstr>
      <vt:lpstr>Compressible Flow</vt:lpstr>
      <vt:lpstr>XMV Pressure Sensitivity Example 1</vt:lpstr>
      <vt:lpstr>XMV Pressure Sensitivity Plot Example 2</vt:lpstr>
      <vt:lpstr>Economics – Line Pressure Impact</vt:lpstr>
      <vt:lpstr>Economics – Line Pressure Impact</vt:lpstr>
      <vt:lpstr>Economics – Line Pressure Impact</vt:lpstr>
      <vt:lpstr>Elevating the IOC &amp; Field Operations</vt:lpstr>
      <vt:lpstr>Path Forward</vt:lpstr>
      <vt:lpstr>Questions</vt:lpstr>
    </vt:vector>
  </TitlesOfParts>
  <Company>Anadarko Petroleum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IAM Approach for Production Forecasting</dc:title>
  <dc:creator>Ehlinger, Russell</dc:creator>
  <cp:lastModifiedBy>Odom, Jay</cp:lastModifiedBy>
  <cp:revision>83</cp:revision>
  <cp:lastPrinted>2018-08-07T20:07:27Z</cp:lastPrinted>
  <dcterms:created xsi:type="dcterms:W3CDTF">2018-05-15T12:29:50Z</dcterms:created>
  <dcterms:modified xsi:type="dcterms:W3CDTF">2018-08-22T03:56:42Z</dcterms:modified>
</cp:coreProperties>
</file>