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60" r:id="rId2"/>
    <p:sldId id="378" r:id="rId3"/>
    <p:sldId id="453" r:id="rId4"/>
    <p:sldId id="474" r:id="rId5"/>
    <p:sldId id="425" r:id="rId6"/>
    <p:sldId id="450" r:id="rId7"/>
    <p:sldId id="445" r:id="rId8"/>
    <p:sldId id="448" r:id="rId9"/>
    <p:sldId id="454" r:id="rId10"/>
    <p:sldId id="455" r:id="rId11"/>
    <p:sldId id="456" r:id="rId12"/>
    <p:sldId id="457" r:id="rId13"/>
    <p:sldId id="458" r:id="rId14"/>
    <p:sldId id="346" r:id="rId15"/>
    <p:sldId id="440" r:id="rId16"/>
    <p:sldId id="452" r:id="rId17"/>
    <p:sldId id="451" r:id="rId18"/>
    <p:sldId id="459"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 id="472" r:id="rId32"/>
    <p:sldId id="473" r:id="rId3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81" autoAdjust="0"/>
    <p:restoredTop sz="84286" autoAdjust="0"/>
  </p:normalViewPr>
  <p:slideViewPr>
    <p:cSldViewPr snapToGrid="0">
      <p:cViewPr varScale="1">
        <p:scale>
          <a:sx n="111" d="100"/>
          <a:sy n="111"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 Id="rId5" Type="http://schemas.openxmlformats.org/officeDocument/2006/relationships/image" Target="../media/image8.png"/><Relationship Id="rId4"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30B75A-756D-4989-AFA2-9B917DABC2ED}" type="doc">
      <dgm:prSet loTypeId="urn:microsoft.com/office/officeart/2005/8/layout/pictureOrgChart+Icon" loCatId="hierarchy" qsTypeId="urn:microsoft.com/office/officeart/2005/8/quickstyle/simple1" qsCatId="simple" csTypeId="urn:microsoft.com/office/officeart/2005/8/colors/accent1_2" csCatId="accent1" phldr="1"/>
      <dgm:spPr/>
      <dgm:t>
        <a:bodyPr/>
        <a:lstStyle/>
        <a:p>
          <a:endParaRPr lang="en-US"/>
        </a:p>
      </dgm:t>
    </dgm:pt>
    <dgm:pt modelId="{3783ED10-4234-4B49-B202-19C0F9267781}">
      <dgm:prSet phldrT="[Text]"/>
      <dgm:spPr/>
      <dgm:t>
        <a:bodyPr/>
        <a:lstStyle/>
        <a:p>
          <a:r>
            <a:rPr lang="en-US" dirty="0" smtClean="0"/>
            <a:t>Obi Ogueri           IAM Supervisor</a:t>
          </a:r>
          <a:endParaRPr lang="en-US" dirty="0"/>
        </a:p>
      </dgm:t>
    </dgm:pt>
    <dgm:pt modelId="{240CC5CC-1F9B-4BFC-AF8E-89C552D82C8C}" type="parTrans" cxnId="{51BA7874-F7EE-4CC5-A4AF-0703113C0BE8}">
      <dgm:prSet/>
      <dgm:spPr/>
      <dgm:t>
        <a:bodyPr/>
        <a:lstStyle/>
        <a:p>
          <a:endParaRPr lang="en-US"/>
        </a:p>
      </dgm:t>
    </dgm:pt>
    <dgm:pt modelId="{051C57DE-FFF1-4BDB-8C8A-FFD73D74FC8A}" type="sibTrans" cxnId="{51BA7874-F7EE-4CC5-A4AF-0703113C0BE8}">
      <dgm:prSet/>
      <dgm:spPr/>
      <dgm:t>
        <a:bodyPr/>
        <a:lstStyle/>
        <a:p>
          <a:endParaRPr lang="en-US"/>
        </a:p>
      </dgm:t>
    </dgm:pt>
    <dgm:pt modelId="{AB85DAE5-96A2-4E4F-9B83-7E3AECD7E74D}">
      <dgm:prSet phldrT="[Text]"/>
      <dgm:spPr/>
      <dgm:t>
        <a:bodyPr/>
        <a:lstStyle/>
        <a:p>
          <a:r>
            <a:rPr lang="en-US" dirty="0" smtClean="0"/>
            <a:t>Kreg Flowers Prod. Engr.</a:t>
          </a:r>
          <a:endParaRPr lang="en-US" dirty="0"/>
        </a:p>
      </dgm:t>
    </dgm:pt>
    <dgm:pt modelId="{FD4C808E-5E38-490E-A3A3-96B22B884147}" type="parTrans" cxnId="{C97E8477-D1B7-4946-B051-631B8C5040F8}">
      <dgm:prSet/>
      <dgm:spPr/>
      <dgm:t>
        <a:bodyPr/>
        <a:lstStyle/>
        <a:p>
          <a:endParaRPr lang="en-US"/>
        </a:p>
      </dgm:t>
    </dgm:pt>
    <dgm:pt modelId="{44BCA4EA-53DB-49B7-967B-56C417E3085C}" type="sibTrans" cxnId="{C97E8477-D1B7-4946-B051-631B8C5040F8}">
      <dgm:prSet/>
      <dgm:spPr/>
      <dgm:t>
        <a:bodyPr/>
        <a:lstStyle/>
        <a:p>
          <a:endParaRPr lang="en-US"/>
        </a:p>
      </dgm:t>
    </dgm:pt>
    <dgm:pt modelId="{9E1F49E6-DE4F-49C1-BD8B-C5DBF14F38AE}">
      <dgm:prSet phldrT="[Text]"/>
      <dgm:spPr/>
      <dgm:t>
        <a:bodyPr/>
        <a:lstStyle/>
        <a:p>
          <a:r>
            <a:rPr lang="en-US" dirty="0" smtClean="0"/>
            <a:t>Jay Odom  Staff Prod. Engr.</a:t>
          </a:r>
          <a:endParaRPr lang="en-US" dirty="0"/>
        </a:p>
      </dgm:t>
    </dgm:pt>
    <dgm:pt modelId="{1B7A3A83-098F-473B-8B98-E14A6E290BF2}" type="parTrans" cxnId="{CA2ADEFA-22D8-4FDC-A8F1-ABB164AC0B24}">
      <dgm:prSet/>
      <dgm:spPr/>
      <dgm:t>
        <a:bodyPr/>
        <a:lstStyle/>
        <a:p>
          <a:endParaRPr lang="en-US"/>
        </a:p>
      </dgm:t>
    </dgm:pt>
    <dgm:pt modelId="{C08949A6-5D36-4CDC-8636-69F82001279B}" type="sibTrans" cxnId="{CA2ADEFA-22D8-4FDC-A8F1-ABB164AC0B24}">
      <dgm:prSet/>
      <dgm:spPr/>
      <dgm:t>
        <a:bodyPr/>
        <a:lstStyle/>
        <a:p>
          <a:endParaRPr lang="en-US"/>
        </a:p>
      </dgm:t>
    </dgm:pt>
    <dgm:pt modelId="{62BD6297-FEBA-499B-97AF-D7360ECB12ED}">
      <dgm:prSet phldrT="[Text]"/>
      <dgm:spPr/>
      <dgm:t>
        <a:bodyPr/>
        <a:lstStyle/>
        <a:p>
          <a:r>
            <a:rPr lang="en-US" dirty="0" smtClean="0"/>
            <a:t>Robert Palumbo: Sr. ITS Developer</a:t>
          </a:r>
          <a:endParaRPr lang="en-US" dirty="0"/>
        </a:p>
      </dgm:t>
    </dgm:pt>
    <dgm:pt modelId="{C1C4338F-B8D0-46A9-86D6-D81E638D5166}" type="parTrans" cxnId="{7C76D7BD-E9A0-41F7-9854-08380FDA7247}">
      <dgm:prSet/>
      <dgm:spPr/>
      <dgm:t>
        <a:bodyPr/>
        <a:lstStyle/>
        <a:p>
          <a:endParaRPr lang="en-US"/>
        </a:p>
      </dgm:t>
    </dgm:pt>
    <dgm:pt modelId="{7D5224DC-5D22-4BAE-B2FE-E0DF5413A054}" type="sibTrans" cxnId="{7C76D7BD-E9A0-41F7-9854-08380FDA7247}">
      <dgm:prSet/>
      <dgm:spPr/>
      <dgm:t>
        <a:bodyPr/>
        <a:lstStyle/>
        <a:p>
          <a:endParaRPr lang="en-US"/>
        </a:p>
      </dgm:t>
    </dgm:pt>
    <dgm:pt modelId="{E710D169-14E0-41BA-9D98-2E323264EF92}">
      <dgm:prSet phldrT="[Text]"/>
      <dgm:spPr/>
      <dgm:t>
        <a:bodyPr/>
        <a:lstStyle/>
        <a:p>
          <a:r>
            <a:rPr lang="en-US" dirty="0" smtClean="0"/>
            <a:t>Damiano Galvan Staff Reservoir Engr.</a:t>
          </a:r>
          <a:endParaRPr lang="en-US" dirty="0"/>
        </a:p>
      </dgm:t>
    </dgm:pt>
    <dgm:pt modelId="{1D9D4D42-026D-4F0A-B86A-D10B7F4F0CF0}" type="parTrans" cxnId="{50582F06-E57F-4C4A-9FF5-FB6ECC0A397E}">
      <dgm:prSet/>
      <dgm:spPr/>
      <dgm:t>
        <a:bodyPr/>
        <a:lstStyle/>
        <a:p>
          <a:endParaRPr lang="en-US"/>
        </a:p>
      </dgm:t>
    </dgm:pt>
    <dgm:pt modelId="{AEC2C8F5-9AEE-455B-826E-E973B8A27F9F}" type="sibTrans" cxnId="{50582F06-E57F-4C4A-9FF5-FB6ECC0A397E}">
      <dgm:prSet/>
      <dgm:spPr/>
      <dgm:t>
        <a:bodyPr/>
        <a:lstStyle/>
        <a:p>
          <a:endParaRPr lang="en-US"/>
        </a:p>
      </dgm:t>
    </dgm:pt>
    <dgm:pt modelId="{6CCF2E05-19DB-4484-A008-1EC44F34399F}">
      <dgm:prSet phldrT="[Text]"/>
      <dgm:spPr/>
      <dgm:t>
        <a:bodyPr/>
        <a:lstStyle/>
        <a:p>
          <a:r>
            <a:rPr lang="en-US" dirty="0" smtClean="0"/>
            <a:t>Staff Prod. Engr.</a:t>
          </a:r>
          <a:endParaRPr lang="en-US" dirty="0"/>
        </a:p>
      </dgm:t>
    </dgm:pt>
    <dgm:pt modelId="{036ED825-0969-4C15-8085-604F75EAFDDE}" type="parTrans" cxnId="{BFAFF5D2-FFB6-4DB7-8E32-2968243D1B25}">
      <dgm:prSet/>
      <dgm:spPr/>
      <dgm:t>
        <a:bodyPr/>
        <a:lstStyle/>
        <a:p>
          <a:endParaRPr lang="en-US"/>
        </a:p>
      </dgm:t>
    </dgm:pt>
    <dgm:pt modelId="{7F6DA217-2DF7-4D19-9188-9230BBDB9C2E}" type="sibTrans" cxnId="{BFAFF5D2-FFB6-4DB7-8E32-2968243D1B25}">
      <dgm:prSet/>
      <dgm:spPr/>
      <dgm:t>
        <a:bodyPr/>
        <a:lstStyle/>
        <a:p>
          <a:endParaRPr lang="en-US"/>
        </a:p>
      </dgm:t>
    </dgm:pt>
    <dgm:pt modelId="{83395802-DFC9-4C2B-AD89-3FCD8639987D}" type="pres">
      <dgm:prSet presAssocID="{AE30B75A-756D-4989-AFA2-9B917DABC2ED}" presName="hierChild1" presStyleCnt="0">
        <dgm:presLayoutVars>
          <dgm:orgChart val="1"/>
          <dgm:chPref val="1"/>
          <dgm:dir/>
          <dgm:animOne val="branch"/>
          <dgm:animLvl val="lvl"/>
          <dgm:resizeHandles/>
        </dgm:presLayoutVars>
      </dgm:prSet>
      <dgm:spPr/>
    </dgm:pt>
    <dgm:pt modelId="{06C1933D-4D3C-478E-B50C-E7CC53EAD9F6}" type="pres">
      <dgm:prSet presAssocID="{3783ED10-4234-4B49-B202-19C0F9267781}" presName="hierRoot1" presStyleCnt="0">
        <dgm:presLayoutVars>
          <dgm:hierBranch val="init"/>
        </dgm:presLayoutVars>
      </dgm:prSet>
      <dgm:spPr/>
    </dgm:pt>
    <dgm:pt modelId="{E4EEA8CF-7CA2-4519-9FB3-9DE91D816AC5}" type="pres">
      <dgm:prSet presAssocID="{3783ED10-4234-4B49-B202-19C0F9267781}" presName="rootComposite1" presStyleCnt="0"/>
      <dgm:spPr/>
    </dgm:pt>
    <dgm:pt modelId="{33036805-1CBC-428F-BBAB-AAB1A3E1F9AD}" type="pres">
      <dgm:prSet presAssocID="{3783ED10-4234-4B49-B202-19C0F9267781}" presName="rootText1" presStyleLbl="node0" presStyleIdx="0" presStyleCnt="1" custScaleX="124758">
        <dgm:presLayoutVars>
          <dgm:chPref val="3"/>
        </dgm:presLayoutVars>
      </dgm:prSet>
      <dgm:spPr/>
    </dgm:pt>
    <dgm:pt modelId="{9081E042-E8E6-4FD4-9077-437C28015897}" type="pres">
      <dgm:prSet presAssocID="{3783ED10-4234-4B49-B202-19C0F9267781}" presName="rootPict1" presStyleLbl="alignImgPlace1" presStyleIdx="0" presStyleCnt="6" custLinFactNeighborX="-19824"/>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15000" r="-15000"/>
          </a:stretch>
        </a:blipFill>
      </dgm:spPr>
    </dgm:pt>
    <dgm:pt modelId="{603807BC-4603-4873-AD22-D01FA33FE652}" type="pres">
      <dgm:prSet presAssocID="{3783ED10-4234-4B49-B202-19C0F9267781}" presName="rootConnector1" presStyleLbl="node1" presStyleIdx="0" presStyleCnt="0"/>
      <dgm:spPr/>
    </dgm:pt>
    <dgm:pt modelId="{80C92B52-8CD9-4EE2-8DEA-F21DC02033B3}" type="pres">
      <dgm:prSet presAssocID="{3783ED10-4234-4B49-B202-19C0F9267781}" presName="hierChild2" presStyleCnt="0"/>
      <dgm:spPr/>
    </dgm:pt>
    <dgm:pt modelId="{CDBAEE40-6A93-4B65-8F06-D255B1E93113}" type="pres">
      <dgm:prSet presAssocID="{FD4C808E-5E38-490E-A3A3-96B22B884147}" presName="Name37" presStyleLbl="parChTrans1D2" presStyleIdx="0" presStyleCnt="5"/>
      <dgm:spPr/>
    </dgm:pt>
    <dgm:pt modelId="{8A0FDAE4-1BA4-47DD-A3CD-147D1A49AE77}" type="pres">
      <dgm:prSet presAssocID="{AB85DAE5-96A2-4E4F-9B83-7E3AECD7E74D}" presName="hierRoot2" presStyleCnt="0">
        <dgm:presLayoutVars>
          <dgm:hierBranch val="init"/>
        </dgm:presLayoutVars>
      </dgm:prSet>
      <dgm:spPr/>
    </dgm:pt>
    <dgm:pt modelId="{5F457594-D5C6-4079-934D-9E504B4E8675}" type="pres">
      <dgm:prSet presAssocID="{AB85DAE5-96A2-4E4F-9B83-7E3AECD7E74D}" presName="rootComposite" presStyleCnt="0"/>
      <dgm:spPr/>
    </dgm:pt>
    <dgm:pt modelId="{F4096FD1-2502-4C24-9359-347222258E01}" type="pres">
      <dgm:prSet presAssocID="{AB85DAE5-96A2-4E4F-9B83-7E3AECD7E74D}" presName="rootText" presStyleLbl="node2" presStyleIdx="0" presStyleCnt="5">
        <dgm:presLayoutVars>
          <dgm:chPref val="3"/>
        </dgm:presLayoutVars>
      </dgm:prSet>
      <dgm:spPr/>
      <dgm:t>
        <a:bodyPr/>
        <a:lstStyle/>
        <a:p>
          <a:endParaRPr lang="en-US"/>
        </a:p>
      </dgm:t>
    </dgm:pt>
    <dgm:pt modelId="{84B03D63-3A4B-4B2B-AA7C-69EEC5D09A99}" type="pres">
      <dgm:prSet presAssocID="{AB85DAE5-96A2-4E4F-9B83-7E3AECD7E74D}" presName="rootPict" presStyleLbl="alignImgPlace1" presStyleIdx="1" presStyleCnt="6"/>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26000" r="-26000"/>
          </a:stretch>
        </a:blipFill>
      </dgm:spPr>
    </dgm:pt>
    <dgm:pt modelId="{ED4D1F70-9F98-42D0-B916-EA82B19BEA58}" type="pres">
      <dgm:prSet presAssocID="{AB85DAE5-96A2-4E4F-9B83-7E3AECD7E74D}" presName="rootConnector" presStyleLbl="node2" presStyleIdx="0" presStyleCnt="5"/>
      <dgm:spPr/>
    </dgm:pt>
    <dgm:pt modelId="{38E134C4-B008-4119-9208-7662B281207E}" type="pres">
      <dgm:prSet presAssocID="{AB85DAE5-96A2-4E4F-9B83-7E3AECD7E74D}" presName="hierChild4" presStyleCnt="0"/>
      <dgm:spPr/>
    </dgm:pt>
    <dgm:pt modelId="{6CE0E335-1229-4AE9-95F3-942D9E96C655}" type="pres">
      <dgm:prSet presAssocID="{AB85DAE5-96A2-4E4F-9B83-7E3AECD7E74D}" presName="hierChild5" presStyleCnt="0"/>
      <dgm:spPr/>
    </dgm:pt>
    <dgm:pt modelId="{1C2B808E-A5A2-43DF-9451-CAB2066915DC}" type="pres">
      <dgm:prSet presAssocID="{1B7A3A83-098F-473B-8B98-E14A6E290BF2}" presName="Name37" presStyleLbl="parChTrans1D2" presStyleIdx="1" presStyleCnt="5"/>
      <dgm:spPr/>
    </dgm:pt>
    <dgm:pt modelId="{9C67AA1F-7333-4522-BC99-C8DC3ABA0FE4}" type="pres">
      <dgm:prSet presAssocID="{9E1F49E6-DE4F-49C1-BD8B-C5DBF14F38AE}" presName="hierRoot2" presStyleCnt="0">
        <dgm:presLayoutVars>
          <dgm:hierBranch val="init"/>
        </dgm:presLayoutVars>
      </dgm:prSet>
      <dgm:spPr/>
    </dgm:pt>
    <dgm:pt modelId="{86CB11BA-754A-4FA3-B836-469B782857B6}" type="pres">
      <dgm:prSet presAssocID="{9E1F49E6-DE4F-49C1-BD8B-C5DBF14F38AE}" presName="rootComposite" presStyleCnt="0"/>
      <dgm:spPr/>
    </dgm:pt>
    <dgm:pt modelId="{E67D737A-31E9-4246-9A8D-79606946D956}" type="pres">
      <dgm:prSet presAssocID="{9E1F49E6-DE4F-49C1-BD8B-C5DBF14F38AE}" presName="rootText" presStyleLbl="node2" presStyleIdx="1" presStyleCnt="5">
        <dgm:presLayoutVars>
          <dgm:chPref val="3"/>
        </dgm:presLayoutVars>
      </dgm:prSet>
      <dgm:spPr/>
      <dgm:t>
        <a:bodyPr/>
        <a:lstStyle/>
        <a:p>
          <a:endParaRPr lang="en-US"/>
        </a:p>
      </dgm:t>
    </dgm:pt>
    <dgm:pt modelId="{A9BC7480-AE48-4201-8D72-102928727DC6}" type="pres">
      <dgm:prSet presAssocID="{9E1F49E6-DE4F-49C1-BD8B-C5DBF14F38AE}" presName="rootPict" presStyleLbl="alignImgPlace1" presStyleIdx="2" presStyleCnt="6"/>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8000" r="-28000"/>
          </a:stretch>
        </a:blipFill>
      </dgm:spPr>
    </dgm:pt>
    <dgm:pt modelId="{DA9918CA-74C5-49FB-8866-DEE88C47E0D3}" type="pres">
      <dgm:prSet presAssocID="{9E1F49E6-DE4F-49C1-BD8B-C5DBF14F38AE}" presName="rootConnector" presStyleLbl="node2" presStyleIdx="1" presStyleCnt="5"/>
      <dgm:spPr/>
    </dgm:pt>
    <dgm:pt modelId="{BA33AE5A-5E7A-4D24-8010-5AC162E901D7}" type="pres">
      <dgm:prSet presAssocID="{9E1F49E6-DE4F-49C1-BD8B-C5DBF14F38AE}" presName="hierChild4" presStyleCnt="0"/>
      <dgm:spPr/>
    </dgm:pt>
    <dgm:pt modelId="{223D2AD7-A1F7-4D3C-BC79-5892CABDC640}" type="pres">
      <dgm:prSet presAssocID="{9E1F49E6-DE4F-49C1-BD8B-C5DBF14F38AE}" presName="hierChild5" presStyleCnt="0"/>
      <dgm:spPr/>
    </dgm:pt>
    <dgm:pt modelId="{9E36ABB0-AE76-4EFE-A228-7521294D200A}" type="pres">
      <dgm:prSet presAssocID="{C1C4338F-B8D0-46A9-86D6-D81E638D5166}" presName="Name37" presStyleLbl="parChTrans1D2" presStyleIdx="2" presStyleCnt="5"/>
      <dgm:spPr/>
    </dgm:pt>
    <dgm:pt modelId="{59F3636D-7D20-454A-B774-9027F59E549B}" type="pres">
      <dgm:prSet presAssocID="{62BD6297-FEBA-499B-97AF-D7360ECB12ED}" presName="hierRoot2" presStyleCnt="0">
        <dgm:presLayoutVars>
          <dgm:hierBranch val="init"/>
        </dgm:presLayoutVars>
      </dgm:prSet>
      <dgm:spPr/>
    </dgm:pt>
    <dgm:pt modelId="{A04F7F64-672F-45C0-8CFE-785686BFD8B1}" type="pres">
      <dgm:prSet presAssocID="{62BD6297-FEBA-499B-97AF-D7360ECB12ED}" presName="rootComposite" presStyleCnt="0"/>
      <dgm:spPr/>
    </dgm:pt>
    <dgm:pt modelId="{4E88D54F-2078-4C1B-9702-28E144BC5C43}" type="pres">
      <dgm:prSet presAssocID="{62BD6297-FEBA-499B-97AF-D7360ECB12ED}" presName="rootText" presStyleLbl="node2" presStyleIdx="2" presStyleCnt="5">
        <dgm:presLayoutVars>
          <dgm:chPref val="3"/>
        </dgm:presLayoutVars>
      </dgm:prSet>
      <dgm:spPr/>
      <dgm:t>
        <a:bodyPr/>
        <a:lstStyle/>
        <a:p>
          <a:endParaRPr lang="en-US"/>
        </a:p>
      </dgm:t>
    </dgm:pt>
    <dgm:pt modelId="{0C1D9838-EE7E-4DB1-81CC-906A10C46580}" type="pres">
      <dgm:prSet presAssocID="{62BD6297-FEBA-499B-97AF-D7360ECB12ED}" presName="rootPict" presStyleLbl="alignImgPlace1" presStyleIdx="3" presStyleCnt="6"/>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a:stretch>
        </a:blipFill>
      </dgm:spPr>
    </dgm:pt>
    <dgm:pt modelId="{0B25E922-2E64-45D8-AAC5-A07D53F99910}" type="pres">
      <dgm:prSet presAssocID="{62BD6297-FEBA-499B-97AF-D7360ECB12ED}" presName="rootConnector" presStyleLbl="node2" presStyleIdx="2" presStyleCnt="5"/>
      <dgm:spPr/>
    </dgm:pt>
    <dgm:pt modelId="{630075A6-CA37-4A12-AD6C-4FC809D1E84E}" type="pres">
      <dgm:prSet presAssocID="{62BD6297-FEBA-499B-97AF-D7360ECB12ED}" presName="hierChild4" presStyleCnt="0"/>
      <dgm:spPr/>
    </dgm:pt>
    <dgm:pt modelId="{BB93CBC6-5013-4484-A4F2-E1FC960950A1}" type="pres">
      <dgm:prSet presAssocID="{62BD6297-FEBA-499B-97AF-D7360ECB12ED}" presName="hierChild5" presStyleCnt="0"/>
      <dgm:spPr/>
    </dgm:pt>
    <dgm:pt modelId="{DA01E8A8-E01F-4124-B946-D1A3DA09AAE6}" type="pres">
      <dgm:prSet presAssocID="{1D9D4D42-026D-4F0A-B86A-D10B7F4F0CF0}" presName="Name37" presStyleLbl="parChTrans1D2" presStyleIdx="3" presStyleCnt="5"/>
      <dgm:spPr/>
    </dgm:pt>
    <dgm:pt modelId="{4C62B66D-A527-4A8B-8EEE-B3FE3061CA49}" type="pres">
      <dgm:prSet presAssocID="{E710D169-14E0-41BA-9D98-2E323264EF92}" presName="hierRoot2" presStyleCnt="0">
        <dgm:presLayoutVars>
          <dgm:hierBranch val="init"/>
        </dgm:presLayoutVars>
      </dgm:prSet>
      <dgm:spPr/>
    </dgm:pt>
    <dgm:pt modelId="{52A3D832-9FF0-4CB1-BCC7-C9BCB88E68D8}" type="pres">
      <dgm:prSet presAssocID="{E710D169-14E0-41BA-9D98-2E323264EF92}" presName="rootComposite" presStyleCnt="0"/>
      <dgm:spPr/>
    </dgm:pt>
    <dgm:pt modelId="{49CD73BD-D3B4-4AE1-A567-6E94755BBE99}" type="pres">
      <dgm:prSet presAssocID="{E710D169-14E0-41BA-9D98-2E323264EF92}" presName="rootText" presStyleLbl="node2" presStyleIdx="3" presStyleCnt="5" custScaleX="120124">
        <dgm:presLayoutVars>
          <dgm:chPref val="3"/>
        </dgm:presLayoutVars>
      </dgm:prSet>
      <dgm:spPr/>
      <dgm:t>
        <a:bodyPr/>
        <a:lstStyle/>
        <a:p>
          <a:endParaRPr lang="en-US"/>
        </a:p>
      </dgm:t>
    </dgm:pt>
    <dgm:pt modelId="{B674C0F9-69BA-4CBF-A0BF-DC551B37D34F}" type="pres">
      <dgm:prSet presAssocID="{E710D169-14E0-41BA-9D98-2E323264EF92}" presName="rootPict" presStyleLbl="alignImgPlace1" presStyleIdx="4" presStyleCnt="6" custScaleX="114229" custLinFactNeighborX="-22467" custLinFactNeighborY="991"/>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l="-15000" r="-15000"/>
          </a:stretch>
        </a:blipFill>
      </dgm:spPr>
    </dgm:pt>
    <dgm:pt modelId="{89FA7492-ACA2-45F0-ACEF-03CA7E46194D}" type="pres">
      <dgm:prSet presAssocID="{E710D169-14E0-41BA-9D98-2E323264EF92}" presName="rootConnector" presStyleLbl="node2" presStyleIdx="3" presStyleCnt="5"/>
      <dgm:spPr/>
    </dgm:pt>
    <dgm:pt modelId="{D4C31734-7303-4879-9456-03E55D0847B0}" type="pres">
      <dgm:prSet presAssocID="{E710D169-14E0-41BA-9D98-2E323264EF92}" presName="hierChild4" presStyleCnt="0"/>
      <dgm:spPr/>
    </dgm:pt>
    <dgm:pt modelId="{ED9DB2E4-F651-469C-97CB-51F71B124FE4}" type="pres">
      <dgm:prSet presAssocID="{E710D169-14E0-41BA-9D98-2E323264EF92}" presName="hierChild5" presStyleCnt="0"/>
      <dgm:spPr/>
    </dgm:pt>
    <dgm:pt modelId="{7E76C337-9AB6-47EA-8DE8-3D5E49CB3CBA}" type="pres">
      <dgm:prSet presAssocID="{036ED825-0969-4C15-8085-604F75EAFDDE}" presName="Name37" presStyleLbl="parChTrans1D2" presStyleIdx="4" presStyleCnt="5"/>
      <dgm:spPr/>
    </dgm:pt>
    <dgm:pt modelId="{5EF9960A-A410-45A0-A344-B8D8371ED443}" type="pres">
      <dgm:prSet presAssocID="{6CCF2E05-19DB-4484-A008-1EC44F34399F}" presName="hierRoot2" presStyleCnt="0">
        <dgm:presLayoutVars>
          <dgm:hierBranch val="init"/>
        </dgm:presLayoutVars>
      </dgm:prSet>
      <dgm:spPr/>
    </dgm:pt>
    <dgm:pt modelId="{0B24A22D-D3CC-4544-A950-8ADCB0B9B7D0}" type="pres">
      <dgm:prSet presAssocID="{6CCF2E05-19DB-4484-A008-1EC44F34399F}" presName="rootComposite" presStyleCnt="0"/>
      <dgm:spPr/>
    </dgm:pt>
    <dgm:pt modelId="{6AC18AD9-8CD0-4696-B57F-9FB8811ABB94}" type="pres">
      <dgm:prSet presAssocID="{6CCF2E05-19DB-4484-A008-1EC44F34399F}" presName="rootText" presStyleLbl="node2" presStyleIdx="4" presStyleCnt="5">
        <dgm:presLayoutVars>
          <dgm:chPref val="3"/>
        </dgm:presLayoutVars>
      </dgm:prSet>
      <dgm:spPr/>
      <dgm:t>
        <a:bodyPr/>
        <a:lstStyle/>
        <a:p>
          <a:endParaRPr lang="en-US"/>
        </a:p>
      </dgm:t>
    </dgm:pt>
    <dgm:pt modelId="{41C77D0C-D308-45B8-B8C3-59464AA94653}" type="pres">
      <dgm:prSet presAssocID="{6CCF2E05-19DB-4484-A008-1EC44F34399F}" presName="rootPict" presStyleLbl="alignImgPlace1" presStyleIdx="5" presStyleCnt="6"/>
      <dgm:spPr/>
    </dgm:pt>
    <dgm:pt modelId="{D03B51A5-7A00-4BFC-A13A-E82860A6E939}" type="pres">
      <dgm:prSet presAssocID="{6CCF2E05-19DB-4484-A008-1EC44F34399F}" presName="rootConnector" presStyleLbl="node2" presStyleIdx="4" presStyleCnt="5"/>
      <dgm:spPr/>
    </dgm:pt>
    <dgm:pt modelId="{608851AD-7FC9-424F-9F6B-1ACBD8A15EB4}" type="pres">
      <dgm:prSet presAssocID="{6CCF2E05-19DB-4484-A008-1EC44F34399F}" presName="hierChild4" presStyleCnt="0"/>
      <dgm:spPr/>
    </dgm:pt>
    <dgm:pt modelId="{EC517168-A5F1-45AB-9960-05C212C0538E}" type="pres">
      <dgm:prSet presAssocID="{6CCF2E05-19DB-4484-A008-1EC44F34399F}" presName="hierChild5" presStyleCnt="0"/>
      <dgm:spPr/>
    </dgm:pt>
    <dgm:pt modelId="{945B8FB6-CEB2-436D-8CC9-1FFCF6FC8112}" type="pres">
      <dgm:prSet presAssocID="{3783ED10-4234-4B49-B202-19C0F9267781}" presName="hierChild3" presStyleCnt="0"/>
      <dgm:spPr/>
    </dgm:pt>
  </dgm:ptLst>
  <dgm:cxnLst>
    <dgm:cxn modelId="{11B65EBE-EA4D-4C37-A179-C68597AC5BF0}" type="presOf" srcId="{62BD6297-FEBA-499B-97AF-D7360ECB12ED}" destId="{4E88D54F-2078-4C1B-9702-28E144BC5C43}" srcOrd="0" destOrd="0" presId="urn:microsoft.com/office/officeart/2005/8/layout/pictureOrgChart+Icon"/>
    <dgm:cxn modelId="{01E44CE1-6458-4FDD-B7B7-D9DC7FAA5547}" type="presOf" srcId="{AB85DAE5-96A2-4E4F-9B83-7E3AECD7E74D}" destId="{F4096FD1-2502-4C24-9359-347222258E01}" srcOrd="0" destOrd="0" presId="urn:microsoft.com/office/officeart/2005/8/layout/pictureOrgChart+Icon"/>
    <dgm:cxn modelId="{50582F06-E57F-4C4A-9FF5-FB6ECC0A397E}" srcId="{3783ED10-4234-4B49-B202-19C0F9267781}" destId="{E710D169-14E0-41BA-9D98-2E323264EF92}" srcOrd="3" destOrd="0" parTransId="{1D9D4D42-026D-4F0A-B86A-D10B7F4F0CF0}" sibTransId="{AEC2C8F5-9AEE-455B-826E-E973B8A27F9F}"/>
    <dgm:cxn modelId="{D012A78F-74E9-46EF-B66F-0A3DB6E4A789}" type="presOf" srcId="{62BD6297-FEBA-499B-97AF-D7360ECB12ED}" destId="{0B25E922-2E64-45D8-AAC5-A07D53F99910}" srcOrd="1" destOrd="0" presId="urn:microsoft.com/office/officeart/2005/8/layout/pictureOrgChart+Icon"/>
    <dgm:cxn modelId="{DCBD0BA5-74FC-4514-B82E-6C0D92818DF3}" type="presOf" srcId="{9E1F49E6-DE4F-49C1-BD8B-C5DBF14F38AE}" destId="{DA9918CA-74C5-49FB-8866-DEE88C47E0D3}" srcOrd="1" destOrd="0" presId="urn:microsoft.com/office/officeart/2005/8/layout/pictureOrgChart+Icon"/>
    <dgm:cxn modelId="{1C413B63-9433-4180-935B-87CC56DAB9E8}" type="presOf" srcId="{9E1F49E6-DE4F-49C1-BD8B-C5DBF14F38AE}" destId="{E67D737A-31E9-4246-9A8D-79606946D956}" srcOrd="0" destOrd="0" presId="urn:microsoft.com/office/officeart/2005/8/layout/pictureOrgChart+Icon"/>
    <dgm:cxn modelId="{D5A838D4-A158-4092-9EC2-97EA377B7CDB}" type="presOf" srcId="{AB85DAE5-96A2-4E4F-9B83-7E3AECD7E74D}" destId="{ED4D1F70-9F98-42D0-B916-EA82B19BEA58}" srcOrd="1" destOrd="0" presId="urn:microsoft.com/office/officeart/2005/8/layout/pictureOrgChart+Icon"/>
    <dgm:cxn modelId="{F6CE06A8-D72D-435D-8701-4C5EB412341D}" type="presOf" srcId="{6CCF2E05-19DB-4484-A008-1EC44F34399F}" destId="{D03B51A5-7A00-4BFC-A13A-E82860A6E939}" srcOrd="1" destOrd="0" presId="urn:microsoft.com/office/officeart/2005/8/layout/pictureOrgChart+Icon"/>
    <dgm:cxn modelId="{A549756A-ACD0-48F3-8FDA-59398C7F762E}" type="presOf" srcId="{FD4C808E-5E38-490E-A3A3-96B22B884147}" destId="{CDBAEE40-6A93-4B65-8F06-D255B1E93113}" srcOrd="0" destOrd="0" presId="urn:microsoft.com/office/officeart/2005/8/layout/pictureOrgChart+Icon"/>
    <dgm:cxn modelId="{902983B9-023C-44A6-BE44-8050A9D102E4}" type="presOf" srcId="{AE30B75A-756D-4989-AFA2-9B917DABC2ED}" destId="{83395802-DFC9-4C2B-AD89-3FCD8639987D}" srcOrd="0" destOrd="0" presId="urn:microsoft.com/office/officeart/2005/8/layout/pictureOrgChart+Icon"/>
    <dgm:cxn modelId="{CCA38F72-E7DD-432B-B964-ED865C507E31}" type="presOf" srcId="{E710D169-14E0-41BA-9D98-2E323264EF92}" destId="{89FA7492-ACA2-45F0-ACEF-03CA7E46194D}" srcOrd="1" destOrd="0" presId="urn:microsoft.com/office/officeart/2005/8/layout/pictureOrgChart+Icon"/>
    <dgm:cxn modelId="{A4212B67-9344-48A0-940D-AF3B2F21CA83}" type="presOf" srcId="{6CCF2E05-19DB-4484-A008-1EC44F34399F}" destId="{6AC18AD9-8CD0-4696-B57F-9FB8811ABB94}" srcOrd="0" destOrd="0" presId="urn:microsoft.com/office/officeart/2005/8/layout/pictureOrgChart+Icon"/>
    <dgm:cxn modelId="{019EB2F7-470C-4451-901B-2E4B18599699}" type="presOf" srcId="{C1C4338F-B8D0-46A9-86D6-D81E638D5166}" destId="{9E36ABB0-AE76-4EFE-A228-7521294D200A}" srcOrd="0" destOrd="0" presId="urn:microsoft.com/office/officeart/2005/8/layout/pictureOrgChart+Icon"/>
    <dgm:cxn modelId="{A757FCAA-2912-4194-B256-75F6B0448D80}" type="presOf" srcId="{1D9D4D42-026D-4F0A-B86A-D10B7F4F0CF0}" destId="{DA01E8A8-E01F-4124-B946-D1A3DA09AAE6}" srcOrd="0" destOrd="0" presId="urn:microsoft.com/office/officeart/2005/8/layout/pictureOrgChart+Icon"/>
    <dgm:cxn modelId="{7C76D7BD-E9A0-41F7-9854-08380FDA7247}" srcId="{3783ED10-4234-4B49-B202-19C0F9267781}" destId="{62BD6297-FEBA-499B-97AF-D7360ECB12ED}" srcOrd="2" destOrd="0" parTransId="{C1C4338F-B8D0-46A9-86D6-D81E638D5166}" sibTransId="{7D5224DC-5D22-4BAE-B2FE-E0DF5413A054}"/>
    <dgm:cxn modelId="{5B87E689-13CE-4EA0-9AC7-554C571831BA}" type="presOf" srcId="{3783ED10-4234-4B49-B202-19C0F9267781}" destId="{603807BC-4603-4873-AD22-D01FA33FE652}" srcOrd="1" destOrd="0" presId="urn:microsoft.com/office/officeart/2005/8/layout/pictureOrgChart+Icon"/>
    <dgm:cxn modelId="{BFAFF5D2-FFB6-4DB7-8E32-2968243D1B25}" srcId="{3783ED10-4234-4B49-B202-19C0F9267781}" destId="{6CCF2E05-19DB-4484-A008-1EC44F34399F}" srcOrd="4" destOrd="0" parTransId="{036ED825-0969-4C15-8085-604F75EAFDDE}" sibTransId="{7F6DA217-2DF7-4D19-9188-9230BBDB9C2E}"/>
    <dgm:cxn modelId="{ACAFAB59-3660-4062-AABD-627D6AAFB9CE}" type="presOf" srcId="{3783ED10-4234-4B49-B202-19C0F9267781}" destId="{33036805-1CBC-428F-BBAB-AAB1A3E1F9AD}" srcOrd="0" destOrd="0" presId="urn:microsoft.com/office/officeart/2005/8/layout/pictureOrgChart+Icon"/>
    <dgm:cxn modelId="{0D46E172-739E-4F60-B3A3-7B0CC9684D96}" type="presOf" srcId="{036ED825-0969-4C15-8085-604F75EAFDDE}" destId="{7E76C337-9AB6-47EA-8DE8-3D5E49CB3CBA}" srcOrd="0" destOrd="0" presId="urn:microsoft.com/office/officeart/2005/8/layout/pictureOrgChart+Icon"/>
    <dgm:cxn modelId="{54253961-FD17-4938-887F-5D0B623F16B3}" type="presOf" srcId="{1B7A3A83-098F-473B-8B98-E14A6E290BF2}" destId="{1C2B808E-A5A2-43DF-9451-CAB2066915DC}" srcOrd="0" destOrd="0" presId="urn:microsoft.com/office/officeart/2005/8/layout/pictureOrgChart+Icon"/>
    <dgm:cxn modelId="{C97E8477-D1B7-4946-B051-631B8C5040F8}" srcId="{3783ED10-4234-4B49-B202-19C0F9267781}" destId="{AB85DAE5-96A2-4E4F-9B83-7E3AECD7E74D}" srcOrd="0" destOrd="0" parTransId="{FD4C808E-5E38-490E-A3A3-96B22B884147}" sibTransId="{44BCA4EA-53DB-49B7-967B-56C417E3085C}"/>
    <dgm:cxn modelId="{51BA7874-F7EE-4CC5-A4AF-0703113C0BE8}" srcId="{AE30B75A-756D-4989-AFA2-9B917DABC2ED}" destId="{3783ED10-4234-4B49-B202-19C0F9267781}" srcOrd="0" destOrd="0" parTransId="{240CC5CC-1F9B-4BFC-AF8E-89C552D82C8C}" sibTransId="{051C57DE-FFF1-4BDB-8C8A-FFD73D74FC8A}"/>
    <dgm:cxn modelId="{B7647361-74BE-4D95-8C07-34E8126395B1}" type="presOf" srcId="{E710D169-14E0-41BA-9D98-2E323264EF92}" destId="{49CD73BD-D3B4-4AE1-A567-6E94755BBE99}" srcOrd="0" destOrd="0" presId="urn:microsoft.com/office/officeart/2005/8/layout/pictureOrgChart+Icon"/>
    <dgm:cxn modelId="{CA2ADEFA-22D8-4FDC-A8F1-ABB164AC0B24}" srcId="{3783ED10-4234-4B49-B202-19C0F9267781}" destId="{9E1F49E6-DE4F-49C1-BD8B-C5DBF14F38AE}" srcOrd="1" destOrd="0" parTransId="{1B7A3A83-098F-473B-8B98-E14A6E290BF2}" sibTransId="{C08949A6-5D36-4CDC-8636-69F82001279B}"/>
    <dgm:cxn modelId="{925FCED5-50C4-467F-8029-2AD6EEFBBC46}" type="presParOf" srcId="{83395802-DFC9-4C2B-AD89-3FCD8639987D}" destId="{06C1933D-4D3C-478E-B50C-E7CC53EAD9F6}" srcOrd="0" destOrd="0" presId="urn:microsoft.com/office/officeart/2005/8/layout/pictureOrgChart+Icon"/>
    <dgm:cxn modelId="{29F3F309-A296-42F5-95B4-ACD449CB5B75}" type="presParOf" srcId="{06C1933D-4D3C-478E-B50C-E7CC53EAD9F6}" destId="{E4EEA8CF-7CA2-4519-9FB3-9DE91D816AC5}" srcOrd="0" destOrd="0" presId="urn:microsoft.com/office/officeart/2005/8/layout/pictureOrgChart+Icon"/>
    <dgm:cxn modelId="{AA53B83B-695A-4583-B8F7-18ECBBFD275A}" type="presParOf" srcId="{E4EEA8CF-7CA2-4519-9FB3-9DE91D816AC5}" destId="{33036805-1CBC-428F-BBAB-AAB1A3E1F9AD}" srcOrd="0" destOrd="0" presId="urn:microsoft.com/office/officeart/2005/8/layout/pictureOrgChart+Icon"/>
    <dgm:cxn modelId="{0FE6F1B3-A355-4E68-B0E5-919D94D583E5}" type="presParOf" srcId="{E4EEA8CF-7CA2-4519-9FB3-9DE91D816AC5}" destId="{9081E042-E8E6-4FD4-9077-437C28015897}" srcOrd="1" destOrd="0" presId="urn:microsoft.com/office/officeart/2005/8/layout/pictureOrgChart+Icon"/>
    <dgm:cxn modelId="{43CC05F6-7AE5-412C-ACE4-870E3C7A951A}" type="presParOf" srcId="{E4EEA8CF-7CA2-4519-9FB3-9DE91D816AC5}" destId="{603807BC-4603-4873-AD22-D01FA33FE652}" srcOrd="2" destOrd="0" presId="urn:microsoft.com/office/officeart/2005/8/layout/pictureOrgChart+Icon"/>
    <dgm:cxn modelId="{6B11D05D-D12D-4BD8-95F1-BCF8E7E0CA94}" type="presParOf" srcId="{06C1933D-4D3C-478E-B50C-E7CC53EAD9F6}" destId="{80C92B52-8CD9-4EE2-8DEA-F21DC02033B3}" srcOrd="1" destOrd="0" presId="urn:microsoft.com/office/officeart/2005/8/layout/pictureOrgChart+Icon"/>
    <dgm:cxn modelId="{7C63F2F3-AAAC-4D33-92FF-8FEF3363A7BF}" type="presParOf" srcId="{80C92B52-8CD9-4EE2-8DEA-F21DC02033B3}" destId="{CDBAEE40-6A93-4B65-8F06-D255B1E93113}" srcOrd="0" destOrd="0" presId="urn:microsoft.com/office/officeart/2005/8/layout/pictureOrgChart+Icon"/>
    <dgm:cxn modelId="{37F63FB3-31BD-4FA0-85A8-F405C49E3926}" type="presParOf" srcId="{80C92B52-8CD9-4EE2-8DEA-F21DC02033B3}" destId="{8A0FDAE4-1BA4-47DD-A3CD-147D1A49AE77}" srcOrd="1" destOrd="0" presId="urn:microsoft.com/office/officeart/2005/8/layout/pictureOrgChart+Icon"/>
    <dgm:cxn modelId="{2FBC8E6A-A5D7-4014-A921-8F1346438FC3}" type="presParOf" srcId="{8A0FDAE4-1BA4-47DD-A3CD-147D1A49AE77}" destId="{5F457594-D5C6-4079-934D-9E504B4E8675}" srcOrd="0" destOrd="0" presId="urn:microsoft.com/office/officeart/2005/8/layout/pictureOrgChart+Icon"/>
    <dgm:cxn modelId="{425D395E-47AB-4E53-9A55-F55C74143959}" type="presParOf" srcId="{5F457594-D5C6-4079-934D-9E504B4E8675}" destId="{F4096FD1-2502-4C24-9359-347222258E01}" srcOrd="0" destOrd="0" presId="urn:microsoft.com/office/officeart/2005/8/layout/pictureOrgChart+Icon"/>
    <dgm:cxn modelId="{3E7192B7-9E7A-4EEF-A8A4-D8906DBBF3C6}" type="presParOf" srcId="{5F457594-D5C6-4079-934D-9E504B4E8675}" destId="{84B03D63-3A4B-4B2B-AA7C-69EEC5D09A99}" srcOrd="1" destOrd="0" presId="urn:microsoft.com/office/officeart/2005/8/layout/pictureOrgChart+Icon"/>
    <dgm:cxn modelId="{0D2BE40F-5779-4E2C-9759-0CA4724A4073}" type="presParOf" srcId="{5F457594-D5C6-4079-934D-9E504B4E8675}" destId="{ED4D1F70-9F98-42D0-B916-EA82B19BEA58}" srcOrd="2" destOrd="0" presId="urn:microsoft.com/office/officeart/2005/8/layout/pictureOrgChart+Icon"/>
    <dgm:cxn modelId="{C6C41DDE-77A7-48C9-8E45-CFD65AA10630}" type="presParOf" srcId="{8A0FDAE4-1BA4-47DD-A3CD-147D1A49AE77}" destId="{38E134C4-B008-4119-9208-7662B281207E}" srcOrd="1" destOrd="0" presId="urn:microsoft.com/office/officeart/2005/8/layout/pictureOrgChart+Icon"/>
    <dgm:cxn modelId="{47BA5AC5-1B5B-4655-A15A-CE23F1C51CFA}" type="presParOf" srcId="{8A0FDAE4-1BA4-47DD-A3CD-147D1A49AE77}" destId="{6CE0E335-1229-4AE9-95F3-942D9E96C655}" srcOrd="2" destOrd="0" presId="urn:microsoft.com/office/officeart/2005/8/layout/pictureOrgChart+Icon"/>
    <dgm:cxn modelId="{2080BAA3-E9A8-4B65-9523-C6BB785901E4}" type="presParOf" srcId="{80C92B52-8CD9-4EE2-8DEA-F21DC02033B3}" destId="{1C2B808E-A5A2-43DF-9451-CAB2066915DC}" srcOrd="2" destOrd="0" presId="urn:microsoft.com/office/officeart/2005/8/layout/pictureOrgChart+Icon"/>
    <dgm:cxn modelId="{EDE0C0D5-E554-468E-862B-928AF6FDF1A2}" type="presParOf" srcId="{80C92B52-8CD9-4EE2-8DEA-F21DC02033B3}" destId="{9C67AA1F-7333-4522-BC99-C8DC3ABA0FE4}" srcOrd="3" destOrd="0" presId="urn:microsoft.com/office/officeart/2005/8/layout/pictureOrgChart+Icon"/>
    <dgm:cxn modelId="{BEFED692-FA92-4D4E-B986-B7C4DFD63C31}" type="presParOf" srcId="{9C67AA1F-7333-4522-BC99-C8DC3ABA0FE4}" destId="{86CB11BA-754A-4FA3-B836-469B782857B6}" srcOrd="0" destOrd="0" presId="urn:microsoft.com/office/officeart/2005/8/layout/pictureOrgChart+Icon"/>
    <dgm:cxn modelId="{5EA742E3-36B0-49C0-85D7-55FF5F3C4AC9}" type="presParOf" srcId="{86CB11BA-754A-4FA3-B836-469B782857B6}" destId="{E67D737A-31E9-4246-9A8D-79606946D956}" srcOrd="0" destOrd="0" presId="urn:microsoft.com/office/officeart/2005/8/layout/pictureOrgChart+Icon"/>
    <dgm:cxn modelId="{B034FF4A-FD5C-4A75-B185-0B765E310829}" type="presParOf" srcId="{86CB11BA-754A-4FA3-B836-469B782857B6}" destId="{A9BC7480-AE48-4201-8D72-102928727DC6}" srcOrd="1" destOrd="0" presId="urn:microsoft.com/office/officeart/2005/8/layout/pictureOrgChart+Icon"/>
    <dgm:cxn modelId="{97F74E89-0F9D-48CE-A3DE-833AEE69E958}" type="presParOf" srcId="{86CB11BA-754A-4FA3-B836-469B782857B6}" destId="{DA9918CA-74C5-49FB-8866-DEE88C47E0D3}" srcOrd="2" destOrd="0" presId="urn:microsoft.com/office/officeart/2005/8/layout/pictureOrgChart+Icon"/>
    <dgm:cxn modelId="{ED64011A-989D-40FC-A12C-96291C31B076}" type="presParOf" srcId="{9C67AA1F-7333-4522-BC99-C8DC3ABA0FE4}" destId="{BA33AE5A-5E7A-4D24-8010-5AC162E901D7}" srcOrd="1" destOrd="0" presId="urn:microsoft.com/office/officeart/2005/8/layout/pictureOrgChart+Icon"/>
    <dgm:cxn modelId="{EDAF54BC-B308-4168-A49E-D04B4A7D67D4}" type="presParOf" srcId="{9C67AA1F-7333-4522-BC99-C8DC3ABA0FE4}" destId="{223D2AD7-A1F7-4D3C-BC79-5892CABDC640}" srcOrd="2" destOrd="0" presId="urn:microsoft.com/office/officeart/2005/8/layout/pictureOrgChart+Icon"/>
    <dgm:cxn modelId="{9D795F66-40AB-4A3B-98F2-D0F5DDB084EC}" type="presParOf" srcId="{80C92B52-8CD9-4EE2-8DEA-F21DC02033B3}" destId="{9E36ABB0-AE76-4EFE-A228-7521294D200A}" srcOrd="4" destOrd="0" presId="urn:microsoft.com/office/officeart/2005/8/layout/pictureOrgChart+Icon"/>
    <dgm:cxn modelId="{B480B0C5-FF81-4213-AD73-5362F29B914C}" type="presParOf" srcId="{80C92B52-8CD9-4EE2-8DEA-F21DC02033B3}" destId="{59F3636D-7D20-454A-B774-9027F59E549B}" srcOrd="5" destOrd="0" presId="urn:microsoft.com/office/officeart/2005/8/layout/pictureOrgChart+Icon"/>
    <dgm:cxn modelId="{7E837C15-EC68-4FD8-BC9A-4E44F2929308}" type="presParOf" srcId="{59F3636D-7D20-454A-B774-9027F59E549B}" destId="{A04F7F64-672F-45C0-8CFE-785686BFD8B1}" srcOrd="0" destOrd="0" presId="urn:microsoft.com/office/officeart/2005/8/layout/pictureOrgChart+Icon"/>
    <dgm:cxn modelId="{7EA465A4-919E-489A-A21B-B4C509952BCF}" type="presParOf" srcId="{A04F7F64-672F-45C0-8CFE-785686BFD8B1}" destId="{4E88D54F-2078-4C1B-9702-28E144BC5C43}" srcOrd="0" destOrd="0" presId="urn:microsoft.com/office/officeart/2005/8/layout/pictureOrgChart+Icon"/>
    <dgm:cxn modelId="{D16F0494-F8BB-40A5-82E5-BDDB81FCB0BB}" type="presParOf" srcId="{A04F7F64-672F-45C0-8CFE-785686BFD8B1}" destId="{0C1D9838-EE7E-4DB1-81CC-906A10C46580}" srcOrd="1" destOrd="0" presId="urn:microsoft.com/office/officeart/2005/8/layout/pictureOrgChart+Icon"/>
    <dgm:cxn modelId="{AC357539-52C1-4ADC-A621-11A14BC81F44}" type="presParOf" srcId="{A04F7F64-672F-45C0-8CFE-785686BFD8B1}" destId="{0B25E922-2E64-45D8-AAC5-A07D53F99910}" srcOrd="2" destOrd="0" presId="urn:microsoft.com/office/officeart/2005/8/layout/pictureOrgChart+Icon"/>
    <dgm:cxn modelId="{AE8E4D5E-EB6B-4C78-820A-EDA65D68535E}" type="presParOf" srcId="{59F3636D-7D20-454A-B774-9027F59E549B}" destId="{630075A6-CA37-4A12-AD6C-4FC809D1E84E}" srcOrd="1" destOrd="0" presId="urn:microsoft.com/office/officeart/2005/8/layout/pictureOrgChart+Icon"/>
    <dgm:cxn modelId="{7A664764-C2A7-4318-B49E-A4E343ACBD1E}" type="presParOf" srcId="{59F3636D-7D20-454A-B774-9027F59E549B}" destId="{BB93CBC6-5013-4484-A4F2-E1FC960950A1}" srcOrd="2" destOrd="0" presId="urn:microsoft.com/office/officeart/2005/8/layout/pictureOrgChart+Icon"/>
    <dgm:cxn modelId="{31E50B1D-6770-484D-86A7-857A45F7E81C}" type="presParOf" srcId="{80C92B52-8CD9-4EE2-8DEA-F21DC02033B3}" destId="{DA01E8A8-E01F-4124-B946-D1A3DA09AAE6}" srcOrd="6" destOrd="0" presId="urn:microsoft.com/office/officeart/2005/8/layout/pictureOrgChart+Icon"/>
    <dgm:cxn modelId="{206E96FC-8610-4259-9B7E-C998FA311180}" type="presParOf" srcId="{80C92B52-8CD9-4EE2-8DEA-F21DC02033B3}" destId="{4C62B66D-A527-4A8B-8EEE-B3FE3061CA49}" srcOrd="7" destOrd="0" presId="urn:microsoft.com/office/officeart/2005/8/layout/pictureOrgChart+Icon"/>
    <dgm:cxn modelId="{43E27F19-5B7D-4B25-8019-D4DE0BAB07A3}" type="presParOf" srcId="{4C62B66D-A527-4A8B-8EEE-B3FE3061CA49}" destId="{52A3D832-9FF0-4CB1-BCC7-C9BCB88E68D8}" srcOrd="0" destOrd="0" presId="urn:microsoft.com/office/officeart/2005/8/layout/pictureOrgChart+Icon"/>
    <dgm:cxn modelId="{D9E9BCE0-05E7-466F-965E-71EBF885BDAC}" type="presParOf" srcId="{52A3D832-9FF0-4CB1-BCC7-C9BCB88E68D8}" destId="{49CD73BD-D3B4-4AE1-A567-6E94755BBE99}" srcOrd="0" destOrd="0" presId="urn:microsoft.com/office/officeart/2005/8/layout/pictureOrgChart+Icon"/>
    <dgm:cxn modelId="{9D97AC34-BD41-4576-BBDC-6C3CB24F1FF4}" type="presParOf" srcId="{52A3D832-9FF0-4CB1-BCC7-C9BCB88E68D8}" destId="{B674C0F9-69BA-4CBF-A0BF-DC551B37D34F}" srcOrd="1" destOrd="0" presId="urn:microsoft.com/office/officeart/2005/8/layout/pictureOrgChart+Icon"/>
    <dgm:cxn modelId="{67F1277B-D288-405C-A41D-E8058645B7FF}" type="presParOf" srcId="{52A3D832-9FF0-4CB1-BCC7-C9BCB88E68D8}" destId="{89FA7492-ACA2-45F0-ACEF-03CA7E46194D}" srcOrd="2" destOrd="0" presId="urn:microsoft.com/office/officeart/2005/8/layout/pictureOrgChart+Icon"/>
    <dgm:cxn modelId="{CEEBF8F7-7044-4BFD-8DBB-FDB7CE46C779}" type="presParOf" srcId="{4C62B66D-A527-4A8B-8EEE-B3FE3061CA49}" destId="{D4C31734-7303-4879-9456-03E55D0847B0}" srcOrd="1" destOrd="0" presId="urn:microsoft.com/office/officeart/2005/8/layout/pictureOrgChart+Icon"/>
    <dgm:cxn modelId="{8D7F7D1B-6291-474B-A782-AF645077E4DE}" type="presParOf" srcId="{4C62B66D-A527-4A8B-8EEE-B3FE3061CA49}" destId="{ED9DB2E4-F651-469C-97CB-51F71B124FE4}" srcOrd="2" destOrd="0" presId="urn:microsoft.com/office/officeart/2005/8/layout/pictureOrgChart+Icon"/>
    <dgm:cxn modelId="{3963AD55-D1FA-47CC-BBBE-541F53C82713}" type="presParOf" srcId="{80C92B52-8CD9-4EE2-8DEA-F21DC02033B3}" destId="{7E76C337-9AB6-47EA-8DE8-3D5E49CB3CBA}" srcOrd="8" destOrd="0" presId="urn:microsoft.com/office/officeart/2005/8/layout/pictureOrgChart+Icon"/>
    <dgm:cxn modelId="{0BD4C786-F5A7-4CDB-A31A-14423CB1FF2C}" type="presParOf" srcId="{80C92B52-8CD9-4EE2-8DEA-F21DC02033B3}" destId="{5EF9960A-A410-45A0-A344-B8D8371ED443}" srcOrd="9" destOrd="0" presId="urn:microsoft.com/office/officeart/2005/8/layout/pictureOrgChart+Icon"/>
    <dgm:cxn modelId="{15220BB5-D988-4FE2-9467-0431EABC85D9}" type="presParOf" srcId="{5EF9960A-A410-45A0-A344-B8D8371ED443}" destId="{0B24A22D-D3CC-4544-A950-8ADCB0B9B7D0}" srcOrd="0" destOrd="0" presId="urn:microsoft.com/office/officeart/2005/8/layout/pictureOrgChart+Icon"/>
    <dgm:cxn modelId="{6A47D867-C263-4E2C-8ACF-7B21617E7BD1}" type="presParOf" srcId="{0B24A22D-D3CC-4544-A950-8ADCB0B9B7D0}" destId="{6AC18AD9-8CD0-4696-B57F-9FB8811ABB94}" srcOrd="0" destOrd="0" presId="urn:microsoft.com/office/officeart/2005/8/layout/pictureOrgChart+Icon"/>
    <dgm:cxn modelId="{89C07C52-6257-43DE-9EEB-AE214F50CC12}" type="presParOf" srcId="{0B24A22D-D3CC-4544-A950-8ADCB0B9B7D0}" destId="{41C77D0C-D308-45B8-B8C3-59464AA94653}" srcOrd="1" destOrd="0" presId="urn:microsoft.com/office/officeart/2005/8/layout/pictureOrgChart+Icon"/>
    <dgm:cxn modelId="{7C49047F-BF8F-4D18-B9D4-16E7AAF91F4A}" type="presParOf" srcId="{0B24A22D-D3CC-4544-A950-8ADCB0B9B7D0}" destId="{D03B51A5-7A00-4BFC-A13A-E82860A6E939}" srcOrd="2" destOrd="0" presId="urn:microsoft.com/office/officeart/2005/8/layout/pictureOrgChart+Icon"/>
    <dgm:cxn modelId="{B2844C8E-5900-4C72-8B9A-F095E0AE5FD9}" type="presParOf" srcId="{5EF9960A-A410-45A0-A344-B8D8371ED443}" destId="{608851AD-7FC9-424F-9F6B-1ACBD8A15EB4}" srcOrd="1" destOrd="0" presId="urn:microsoft.com/office/officeart/2005/8/layout/pictureOrgChart+Icon"/>
    <dgm:cxn modelId="{F755693C-0532-4753-987D-3975474387B1}" type="presParOf" srcId="{5EF9960A-A410-45A0-A344-B8D8371ED443}" destId="{EC517168-A5F1-45AB-9960-05C212C0538E}" srcOrd="2" destOrd="0" presId="urn:microsoft.com/office/officeart/2005/8/layout/pictureOrgChart+Icon"/>
    <dgm:cxn modelId="{27C4AFD9-23D4-4594-9CCA-222B1C0F3388}" type="presParOf" srcId="{06C1933D-4D3C-478E-B50C-E7CC53EAD9F6}" destId="{945B8FB6-CEB2-436D-8CC9-1FFCF6FC8112}" srcOrd="2" destOrd="0" presId="urn:microsoft.com/office/officeart/2005/8/layout/pictureOrgChar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AB57E5-B677-4049-A3F4-11014A1315DB}" type="doc">
      <dgm:prSet loTypeId="urn:microsoft.com/office/officeart/2005/8/layout/arrow2" loCatId="process" qsTypeId="urn:microsoft.com/office/officeart/2005/8/quickstyle/simple1" qsCatId="simple" csTypeId="urn:microsoft.com/office/officeart/2005/8/colors/accent1_2" csCatId="accent1" phldr="1"/>
      <dgm:spPr/>
    </dgm:pt>
    <dgm:pt modelId="{6AD4294E-F794-477D-A47A-D7C50762DFC9}">
      <dgm:prSet phldrT="[Text]"/>
      <dgm:spPr/>
      <dgm:t>
        <a:bodyPr/>
        <a:lstStyle/>
        <a:p>
          <a:r>
            <a:rPr lang="en-US" b="1" dirty="0" smtClean="0"/>
            <a:t>Data Mgmt.: </a:t>
          </a:r>
        </a:p>
        <a:p>
          <a:r>
            <a:rPr lang="en-US" b="0" dirty="0" smtClean="0">
              <a:solidFill>
                <a:schemeClr val="accent6">
                  <a:lumMod val="75000"/>
                </a:schemeClr>
              </a:solidFill>
            </a:rPr>
            <a:t>Connecting to data sources</a:t>
          </a:r>
        </a:p>
        <a:p>
          <a:r>
            <a:rPr lang="en-US" b="0" dirty="0" smtClean="0">
              <a:solidFill>
                <a:schemeClr val="accent6">
                  <a:lumMod val="75000"/>
                </a:schemeClr>
              </a:solidFill>
            </a:rPr>
            <a:t>Gathering the data</a:t>
          </a:r>
          <a:endParaRPr lang="en-US" b="0" dirty="0">
            <a:solidFill>
              <a:schemeClr val="accent6">
                <a:lumMod val="75000"/>
              </a:schemeClr>
            </a:solidFill>
          </a:endParaRPr>
        </a:p>
      </dgm:t>
    </dgm:pt>
    <dgm:pt modelId="{CAD5610F-77C3-48C1-B76C-A5E84A18059F}" type="parTrans" cxnId="{E5A27DC1-9286-40FD-952B-A02F76A93F70}">
      <dgm:prSet/>
      <dgm:spPr/>
      <dgm:t>
        <a:bodyPr/>
        <a:lstStyle/>
        <a:p>
          <a:endParaRPr lang="en-US"/>
        </a:p>
      </dgm:t>
    </dgm:pt>
    <dgm:pt modelId="{F67CAB3B-D9F8-487F-BC16-780DCE25BADA}" type="sibTrans" cxnId="{E5A27DC1-9286-40FD-952B-A02F76A93F70}">
      <dgm:prSet/>
      <dgm:spPr/>
      <dgm:t>
        <a:bodyPr/>
        <a:lstStyle/>
        <a:p>
          <a:endParaRPr lang="en-US"/>
        </a:p>
      </dgm:t>
    </dgm:pt>
    <dgm:pt modelId="{A0B2B69E-6EE3-452F-BF99-4D335D8B0095}">
      <dgm:prSet phldrT="[Text]"/>
      <dgm:spPr/>
      <dgm:t>
        <a:bodyPr/>
        <a:lstStyle/>
        <a:p>
          <a:r>
            <a:rPr lang="en-US" b="1" dirty="0" smtClean="0"/>
            <a:t>Data Driven Exceptions: </a:t>
          </a:r>
          <a:endParaRPr lang="en-US" b="1" dirty="0" smtClean="0"/>
        </a:p>
        <a:p>
          <a:r>
            <a:rPr lang="en-US" b="0" dirty="0" smtClean="0">
              <a:solidFill>
                <a:schemeClr val="accent6">
                  <a:lumMod val="75000"/>
                </a:schemeClr>
              </a:solidFill>
            </a:rPr>
            <a:t>Leveraging the data </a:t>
          </a:r>
          <a:endParaRPr lang="en-US" b="0" dirty="0">
            <a:solidFill>
              <a:schemeClr val="accent6">
                <a:lumMod val="75000"/>
              </a:schemeClr>
            </a:solidFill>
          </a:endParaRPr>
        </a:p>
      </dgm:t>
    </dgm:pt>
    <dgm:pt modelId="{212C099F-7E5F-4052-A66B-4A8018632643}" type="parTrans" cxnId="{7CFBBB92-34A6-4779-A4D2-767F361D06BF}">
      <dgm:prSet/>
      <dgm:spPr/>
      <dgm:t>
        <a:bodyPr/>
        <a:lstStyle/>
        <a:p>
          <a:endParaRPr lang="en-US"/>
        </a:p>
      </dgm:t>
    </dgm:pt>
    <dgm:pt modelId="{E58E5CD7-56EB-44B2-8CA9-EFFAD5726522}" type="sibTrans" cxnId="{7CFBBB92-34A6-4779-A4D2-767F361D06BF}">
      <dgm:prSet/>
      <dgm:spPr/>
      <dgm:t>
        <a:bodyPr/>
        <a:lstStyle/>
        <a:p>
          <a:endParaRPr lang="en-US"/>
        </a:p>
      </dgm:t>
    </dgm:pt>
    <dgm:pt modelId="{5F734441-C4DF-49BC-B662-3120AFEA58C1}">
      <dgm:prSet phldrT="[Text]"/>
      <dgm:spPr/>
      <dgm:t>
        <a:bodyPr/>
        <a:lstStyle/>
        <a:p>
          <a:r>
            <a:rPr lang="en-US" b="1" dirty="0" smtClean="0"/>
            <a:t>Closed </a:t>
          </a:r>
          <a:r>
            <a:rPr lang="en-US" b="1" dirty="0" smtClean="0"/>
            <a:t>Loop Control: </a:t>
          </a:r>
          <a:r>
            <a:rPr lang="en-US" b="0" dirty="0" smtClean="0">
              <a:solidFill>
                <a:schemeClr val="accent6">
                  <a:lumMod val="75000"/>
                </a:schemeClr>
              </a:solidFill>
            </a:rPr>
            <a:t>Intelligent </a:t>
          </a:r>
          <a:r>
            <a:rPr lang="en-US" b="0" dirty="0" smtClean="0">
              <a:solidFill>
                <a:schemeClr val="accent6">
                  <a:lumMod val="75000"/>
                </a:schemeClr>
              </a:solidFill>
            </a:rPr>
            <a:t>Operations </a:t>
          </a:r>
          <a:endParaRPr lang="en-US" b="0" dirty="0">
            <a:solidFill>
              <a:schemeClr val="accent6">
                <a:lumMod val="75000"/>
              </a:schemeClr>
            </a:solidFill>
          </a:endParaRPr>
        </a:p>
      </dgm:t>
    </dgm:pt>
    <dgm:pt modelId="{3B625267-7EE0-42B1-A4F9-346053DCADA8}" type="parTrans" cxnId="{91AF38FA-95BE-4582-8CED-EF8FC7C1AC80}">
      <dgm:prSet/>
      <dgm:spPr/>
      <dgm:t>
        <a:bodyPr/>
        <a:lstStyle/>
        <a:p>
          <a:endParaRPr lang="en-US"/>
        </a:p>
      </dgm:t>
    </dgm:pt>
    <dgm:pt modelId="{B14624A2-1568-4D8A-8AE1-761636446127}" type="sibTrans" cxnId="{91AF38FA-95BE-4582-8CED-EF8FC7C1AC80}">
      <dgm:prSet/>
      <dgm:spPr/>
      <dgm:t>
        <a:bodyPr/>
        <a:lstStyle/>
        <a:p>
          <a:endParaRPr lang="en-US"/>
        </a:p>
      </dgm:t>
    </dgm:pt>
    <dgm:pt modelId="{B3F6E704-AA5D-435A-8AC1-77289CCCA5D4}">
      <dgm:prSet phldrT="[Text]"/>
      <dgm:spPr/>
      <dgm:t>
        <a:bodyPr/>
        <a:lstStyle/>
        <a:p>
          <a:r>
            <a:rPr lang="en-US" b="1" dirty="0" smtClean="0">
              <a:solidFill>
                <a:schemeClr val="tx1"/>
              </a:solidFill>
            </a:rPr>
            <a:t>Problem: </a:t>
          </a:r>
          <a:r>
            <a:rPr lang="en-US" b="0" dirty="0" smtClean="0">
              <a:solidFill>
                <a:schemeClr val="accent6">
                  <a:lumMod val="75000"/>
                </a:schemeClr>
              </a:solidFill>
            </a:rPr>
            <a:t>Formulating a solution</a:t>
          </a:r>
          <a:endParaRPr lang="en-US" b="0" dirty="0">
            <a:solidFill>
              <a:schemeClr val="accent6">
                <a:lumMod val="75000"/>
              </a:schemeClr>
            </a:solidFill>
          </a:endParaRPr>
        </a:p>
      </dgm:t>
    </dgm:pt>
    <dgm:pt modelId="{4FF32A95-27D8-494D-B642-8E5261B4F5B3}" type="parTrans" cxnId="{A5C0070C-9DDD-4357-A7A1-C90B2ACF401D}">
      <dgm:prSet/>
      <dgm:spPr/>
      <dgm:t>
        <a:bodyPr/>
        <a:lstStyle/>
        <a:p>
          <a:endParaRPr lang="en-US"/>
        </a:p>
      </dgm:t>
    </dgm:pt>
    <dgm:pt modelId="{636FC1AA-A441-4F41-A4A9-CCED4BE5EB9C}" type="sibTrans" cxnId="{A5C0070C-9DDD-4357-A7A1-C90B2ACF401D}">
      <dgm:prSet/>
      <dgm:spPr/>
      <dgm:t>
        <a:bodyPr/>
        <a:lstStyle/>
        <a:p>
          <a:endParaRPr lang="en-US"/>
        </a:p>
      </dgm:t>
    </dgm:pt>
    <dgm:pt modelId="{731D01DE-6C99-456C-8846-53786BD59F83}" type="pres">
      <dgm:prSet presAssocID="{7CAB57E5-B677-4049-A3F4-11014A1315DB}" presName="arrowDiagram" presStyleCnt="0">
        <dgm:presLayoutVars>
          <dgm:chMax val="5"/>
          <dgm:dir/>
          <dgm:resizeHandles val="exact"/>
        </dgm:presLayoutVars>
      </dgm:prSet>
      <dgm:spPr/>
    </dgm:pt>
    <dgm:pt modelId="{1318526F-2D4F-48B5-94DF-40B0D3EEA1DE}" type="pres">
      <dgm:prSet presAssocID="{7CAB57E5-B677-4049-A3F4-11014A1315DB}" presName="arrow" presStyleLbl="bgShp" presStyleIdx="0" presStyleCnt="1" custLinFactNeighborX="-22719" custLinFactNeighborY="1320"/>
      <dgm:spPr/>
    </dgm:pt>
    <dgm:pt modelId="{BC802A71-F3D1-4DFD-ACE0-8A94B89571C9}" type="pres">
      <dgm:prSet presAssocID="{7CAB57E5-B677-4049-A3F4-11014A1315DB}" presName="arrowDiagram4" presStyleCnt="0"/>
      <dgm:spPr/>
    </dgm:pt>
    <dgm:pt modelId="{CF415C70-88D9-44CD-BB5E-13F3C1FB9F9B}" type="pres">
      <dgm:prSet presAssocID="{B3F6E704-AA5D-435A-8AC1-77289CCCA5D4}" presName="bullet4a" presStyleLbl="node1" presStyleIdx="0" presStyleCnt="4"/>
      <dgm:spPr/>
    </dgm:pt>
    <dgm:pt modelId="{6F8253F8-B331-42DD-A2C6-1A52A57701E2}" type="pres">
      <dgm:prSet presAssocID="{B3F6E704-AA5D-435A-8AC1-77289CCCA5D4}" presName="textBox4a" presStyleLbl="revTx" presStyleIdx="0" presStyleCnt="4">
        <dgm:presLayoutVars>
          <dgm:bulletEnabled val="1"/>
        </dgm:presLayoutVars>
      </dgm:prSet>
      <dgm:spPr/>
      <dgm:t>
        <a:bodyPr/>
        <a:lstStyle/>
        <a:p>
          <a:endParaRPr lang="en-US"/>
        </a:p>
      </dgm:t>
    </dgm:pt>
    <dgm:pt modelId="{A640346F-9522-464E-BD77-70EA9BB669CD}" type="pres">
      <dgm:prSet presAssocID="{6AD4294E-F794-477D-A47A-D7C50762DFC9}" presName="bullet4b" presStyleLbl="node1" presStyleIdx="1" presStyleCnt="4"/>
      <dgm:spPr/>
    </dgm:pt>
    <dgm:pt modelId="{546E5D6B-3591-481C-A6BC-660A79B1E357}" type="pres">
      <dgm:prSet presAssocID="{6AD4294E-F794-477D-A47A-D7C50762DFC9}" presName="textBox4b" presStyleLbl="revTx" presStyleIdx="1" presStyleCnt="4">
        <dgm:presLayoutVars>
          <dgm:bulletEnabled val="1"/>
        </dgm:presLayoutVars>
      </dgm:prSet>
      <dgm:spPr/>
      <dgm:t>
        <a:bodyPr/>
        <a:lstStyle/>
        <a:p>
          <a:endParaRPr lang="en-US"/>
        </a:p>
      </dgm:t>
    </dgm:pt>
    <dgm:pt modelId="{1030CC13-9480-4C03-BCD1-D239107269E4}" type="pres">
      <dgm:prSet presAssocID="{A0B2B69E-6EE3-452F-BF99-4D335D8B0095}" presName="bullet4c" presStyleLbl="node1" presStyleIdx="2" presStyleCnt="4"/>
      <dgm:spPr/>
    </dgm:pt>
    <dgm:pt modelId="{D8FA3980-CB72-4358-8EFA-532A0B664093}" type="pres">
      <dgm:prSet presAssocID="{A0B2B69E-6EE3-452F-BF99-4D335D8B0095}" presName="textBox4c" presStyleLbl="revTx" presStyleIdx="2" presStyleCnt="4">
        <dgm:presLayoutVars>
          <dgm:bulletEnabled val="1"/>
        </dgm:presLayoutVars>
      </dgm:prSet>
      <dgm:spPr/>
      <dgm:t>
        <a:bodyPr/>
        <a:lstStyle/>
        <a:p>
          <a:endParaRPr lang="en-US"/>
        </a:p>
      </dgm:t>
    </dgm:pt>
    <dgm:pt modelId="{0B577839-2EBF-42CB-960A-BE931DDD940D}" type="pres">
      <dgm:prSet presAssocID="{5F734441-C4DF-49BC-B662-3120AFEA58C1}" presName="bullet4d" presStyleLbl="node1" presStyleIdx="3" presStyleCnt="4"/>
      <dgm:spPr/>
    </dgm:pt>
    <dgm:pt modelId="{1D8B5896-F76F-4579-BCFC-248711780765}" type="pres">
      <dgm:prSet presAssocID="{5F734441-C4DF-49BC-B662-3120AFEA58C1}" presName="textBox4d" presStyleLbl="revTx" presStyleIdx="3" presStyleCnt="4" custScaleX="122362" custScaleY="43645" custLinFactNeighborX="27341" custLinFactNeighborY="-15884">
        <dgm:presLayoutVars>
          <dgm:bulletEnabled val="1"/>
        </dgm:presLayoutVars>
      </dgm:prSet>
      <dgm:spPr/>
      <dgm:t>
        <a:bodyPr/>
        <a:lstStyle/>
        <a:p>
          <a:endParaRPr lang="en-US"/>
        </a:p>
      </dgm:t>
    </dgm:pt>
  </dgm:ptLst>
  <dgm:cxnLst>
    <dgm:cxn modelId="{A5C0070C-9DDD-4357-A7A1-C90B2ACF401D}" srcId="{7CAB57E5-B677-4049-A3F4-11014A1315DB}" destId="{B3F6E704-AA5D-435A-8AC1-77289CCCA5D4}" srcOrd="0" destOrd="0" parTransId="{4FF32A95-27D8-494D-B642-8E5261B4F5B3}" sibTransId="{636FC1AA-A441-4F41-A4A9-CCED4BE5EB9C}"/>
    <dgm:cxn modelId="{E5A27DC1-9286-40FD-952B-A02F76A93F70}" srcId="{7CAB57E5-B677-4049-A3F4-11014A1315DB}" destId="{6AD4294E-F794-477D-A47A-D7C50762DFC9}" srcOrd="1" destOrd="0" parTransId="{CAD5610F-77C3-48C1-B76C-A5E84A18059F}" sibTransId="{F67CAB3B-D9F8-487F-BC16-780DCE25BADA}"/>
    <dgm:cxn modelId="{4A85C550-175D-4503-9736-18551363AA21}" type="presOf" srcId="{B3F6E704-AA5D-435A-8AC1-77289CCCA5D4}" destId="{6F8253F8-B331-42DD-A2C6-1A52A57701E2}" srcOrd="0" destOrd="0" presId="urn:microsoft.com/office/officeart/2005/8/layout/arrow2"/>
    <dgm:cxn modelId="{BA108297-F000-46D4-83C5-1C07B553584B}" type="presOf" srcId="{7CAB57E5-B677-4049-A3F4-11014A1315DB}" destId="{731D01DE-6C99-456C-8846-53786BD59F83}" srcOrd="0" destOrd="0" presId="urn:microsoft.com/office/officeart/2005/8/layout/arrow2"/>
    <dgm:cxn modelId="{0A592E2F-4681-4E15-9A6C-F83915ED873E}" type="presOf" srcId="{A0B2B69E-6EE3-452F-BF99-4D335D8B0095}" destId="{D8FA3980-CB72-4358-8EFA-532A0B664093}" srcOrd="0" destOrd="0" presId="urn:microsoft.com/office/officeart/2005/8/layout/arrow2"/>
    <dgm:cxn modelId="{91AF38FA-95BE-4582-8CED-EF8FC7C1AC80}" srcId="{7CAB57E5-B677-4049-A3F4-11014A1315DB}" destId="{5F734441-C4DF-49BC-B662-3120AFEA58C1}" srcOrd="3" destOrd="0" parTransId="{3B625267-7EE0-42B1-A4F9-346053DCADA8}" sibTransId="{B14624A2-1568-4D8A-8AE1-761636446127}"/>
    <dgm:cxn modelId="{938BF8A1-810D-4647-A48E-1DB4740D0CE8}" type="presOf" srcId="{6AD4294E-F794-477D-A47A-D7C50762DFC9}" destId="{546E5D6B-3591-481C-A6BC-660A79B1E357}" srcOrd="0" destOrd="0" presId="urn:microsoft.com/office/officeart/2005/8/layout/arrow2"/>
    <dgm:cxn modelId="{8B021A1E-EE21-4C5D-BAD0-5236F3E3F009}" type="presOf" srcId="{5F734441-C4DF-49BC-B662-3120AFEA58C1}" destId="{1D8B5896-F76F-4579-BCFC-248711780765}" srcOrd="0" destOrd="0" presId="urn:microsoft.com/office/officeart/2005/8/layout/arrow2"/>
    <dgm:cxn modelId="{7CFBBB92-34A6-4779-A4D2-767F361D06BF}" srcId="{7CAB57E5-B677-4049-A3F4-11014A1315DB}" destId="{A0B2B69E-6EE3-452F-BF99-4D335D8B0095}" srcOrd="2" destOrd="0" parTransId="{212C099F-7E5F-4052-A66B-4A8018632643}" sibTransId="{E58E5CD7-56EB-44B2-8CA9-EFFAD5726522}"/>
    <dgm:cxn modelId="{0F29C008-95B3-4CDD-9B98-4845F93B7D6A}" type="presParOf" srcId="{731D01DE-6C99-456C-8846-53786BD59F83}" destId="{1318526F-2D4F-48B5-94DF-40B0D3EEA1DE}" srcOrd="0" destOrd="0" presId="urn:microsoft.com/office/officeart/2005/8/layout/arrow2"/>
    <dgm:cxn modelId="{6F223EB0-AC25-4512-8CB3-547F94A105E0}" type="presParOf" srcId="{731D01DE-6C99-456C-8846-53786BD59F83}" destId="{BC802A71-F3D1-4DFD-ACE0-8A94B89571C9}" srcOrd="1" destOrd="0" presId="urn:microsoft.com/office/officeart/2005/8/layout/arrow2"/>
    <dgm:cxn modelId="{D925CC7E-7603-411D-8F93-6DCBD02AD790}" type="presParOf" srcId="{BC802A71-F3D1-4DFD-ACE0-8A94B89571C9}" destId="{CF415C70-88D9-44CD-BB5E-13F3C1FB9F9B}" srcOrd="0" destOrd="0" presId="urn:microsoft.com/office/officeart/2005/8/layout/arrow2"/>
    <dgm:cxn modelId="{A801C58B-844A-46FC-AC18-5BBCB3660A8E}" type="presParOf" srcId="{BC802A71-F3D1-4DFD-ACE0-8A94B89571C9}" destId="{6F8253F8-B331-42DD-A2C6-1A52A57701E2}" srcOrd="1" destOrd="0" presId="urn:microsoft.com/office/officeart/2005/8/layout/arrow2"/>
    <dgm:cxn modelId="{CE0DD247-4ADD-4326-96DC-CDB27984BE60}" type="presParOf" srcId="{BC802A71-F3D1-4DFD-ACE0-8A94B89571C9}" destId="{A640346F-9522-464E-BD77-70EA9BB669CD}" srcOrd="2" destOrd="0" presId="urn:microsoft.com/office/officeart/2005/8/layout/arrow2"/>
    <dgm:cxn modelId="{E36139F7-14D3-4FBB-B487-E4EF6BB22035}" type="presParOf" srcId="{BC802A71-F3D1-4DFD-ACE0-8A94B89571C9}" destId="{546E5D6B-3591-481C-A6BC-660A79B1E357}" srcOrd="3" destOrd="0" presId="urn:microsoft.com/office/officeart/2005/8/layout/arrow2"/>
    <dgm:cxn modelId="{60ABFA99-3E84-4CF7-825B-084BAED0B94D}" type="presParOf" srcId="{BC802A71-F3D1-4DFD-ACE0-8A94B89571C9}" destId="{1030CC13-9480-4C03-BCD1-D239107269E4}" srcOrd="4" destOrd="0" presId="urn:microsoft.com/office/officeart/2005/8/layout/arrow2"/>
    <dgm:cxn modelId="{77BCD67A-5737-4368-9686-2F6784AFAA36}" type="presParOf" srcId="{BC802A71-F3D1-4DFD-ACE0-8A94B89571C9}" destId="{D8FA3980-CB72-4358-8EFA-532A0B664093}" srcOrd="5" destOrd="0" presId="urn:microsoft.com/office/officeart/2005/8/layout/arrow2"/>
    <dgm:cxn modelId="{C471A25C-1984-4118-B2E8-816144FC52CF}" type="presParOf" srcId="{BC802A71-F3D1-4DFD-ACE0-8A94B89571C9}" destId="{0B577839-2EBF-42CB-960A-BE931DDD940D}" srcOrd="6" destOrd="0" presId="urn:microsoft.com/office/officeart/2005/8/layout/arrow2"/>
    <dgm:cxn modelId="{440A601B-1825-49A2-8278-2385D3E95E27}" type="presParOf" srcId="{BC802A71-F3D1-4DFD-ACE0-8A94B89571C9}" destId="{1D8B5896-F76F-4579-BCFC-248711780765}"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76C337-9AB6-47EA-8DE8-3D5E49CB3CBA}">
      <dsp:nvSpPr>
        <dsp:cNvPr id="0" name=""/>
        <dsp:cNvSpPr/>
      </dsp:nvSpPr>
      <dsp:spPr>
        <a:xfrm>
          <a:off x="5503652" y="2327968"/>
          <a:ext cx="4589207" cy="382339"/>
        </a:xfrm>
        <a:custGeom>
          <a:avLst/>
          <a:gdLst/>
          <a:ahLst/>
          <a:cxnLst/>
          <a:rect l="0" t="0" r="0" b="0"/>
          <a:pathLst>
            <a:path>
              <a:moveTo>
                <a:pt x="0" y="0"/>
              </a:moveTo>
              <a:lnTo>
                <a:pt x="0" y="191169"/>
              </a:lnTo>
              <a:lnTo>
                <a:pt x="4589207" y="191169"/>
              </a:lnTo>
              <a:lnTo>
                <a:pt x="4589207" y="3823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01E8A8-E01F-4124-B946-D1A3DA09AAE6}">
      <dsp:nvSpPr>
        <dsp:cNvPr id="0" name=""/>
        <dsp:cNvSpPr/>
      </dsp:nvSpPr>
      <dsp:spPr>
        <a:xfrm>
          <a:off x="5503652" y="2327968"/>
          <a:ext cx="2203006" cy="382339"/>
        </a:xfrm>
        <a:custGeom>
          <a:avLst/>
          <a:gdLst/>
          <a:ahLst/>
          <a:cxnLst/>
          <a:rect l="0" t="0" r="0" b="0"/>
          <a:pathLst>
            <a:path>
              <a:moveTo>
                <a:pt x="0" y="0"/>
              </a:moveTo>
              <a:lnTo>
                <a:pt x="0" y="191169"/>
              </a:lnTo>
              <a:lnTo>
                <a:pt x="2203006" y="191169"/>
              </a:lnTo>
              <a:lnTo>
                <a:pt x="2203006" y="3823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36ABB0-AE76-4EFE-A228-7521294D200A}">
      <dsp:nvSpPr>
        <dsp:cNvPr id="0" name=""/>
        <dsp:cNvSpPr/>
      </dsp:nvSpPr>
      <dsp:spPr>
        <a:xfrm>
          <a:off x="5320457" y="2327968"/>
          <a:ext cx="183195" cy="382339"/>
        </a:xfrm>
        <a:custGeom>
          <a:avLst/>
          <a:gdLst/>
          <a:ahLst/>
          <a:cxnLst/>
          <a:rect l="0" t="0" r="0" b="0"/>
          <a:pathLst>
            <a:path>
              <a:moveTo>
                <a:pt x="183195" y="0"/>
              </a:moveTo>
              <a:lnTo>
                <a:pt x="183195" y="191169"/>
              </a:lnTo>
              <a:lnTo>
                <a:pt x="0" y="191169"/>
              </a:lnTo>
              <a:lnTo>
                <a:pt x="0" y="3823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2B808E-A5A2-43DF-9451-CAB2066915DC}">
      <dsp:nvSpPr>
        <dsp:cNvPr id="0" name=""/>
        <dsp:cNvSpPr/>
      </dsp:nvSpPr>
      <dsp:spPr>
        <a:xfrm>
          <a:off x="3117450" y="2327968"/>
          <a:ext cx="2386201" cy="382339"/>
        </a:xfrm>
        <a:custGeom>
          <a:avLst/>
          <a:gdLst/>
          <a:ahLst/>
          <a:cxnLst/>
          <a:rect l="0" t="0" r="0" b="0"/>
          <a:pathLst>
            <a:path>
              <a:moveTo>
                <a:pt x="2386201" y="0"/>
              </a:moveTo>
              <a:lnTo>
                <a:pt x="2386201" y="191169"/>
              </a:lnTo>
              <a:lnTo>
                <a:pt x="0" y="191169"/>
              </a:lnTo>
              <a:lnTo>
                <a:pt x="0" y="3823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BAEE40-6A93-4B65-8F06-D255B1E93113}">
      <dsp:nvSpPr>
        <dsp:cNvPr id="0" name=""/>
        <dsp:cNvSpPr/>
      </dsp:nvSpPr>
      <dsp:spPr>
        <a:xfrm>
          <a:off x="914444" y="2327968"/>
          <a:ext cx="4589207" cy="382339"/>
        </a:xfrm>
        <a:custGeom>
          <a:avLst/>
          <a:gdLst/>
          <a:ahLst/>
          <a:cxnLst/>
          <a:rect l="0" t="0" r="0" b="0"/>
          <a:pathLst>
            <a:path>
              <a:moveTo>
                <a:pt x="4589207" y="0"/>
              </a:moveTo>
              <a:lnTo>
                <a:pt x="4589207" y="191169"/>
              </a:lnTo>
              <a:lnTo>
                <a:pt x="0" y="191169"/>
              </a:lnTo>
              <a:lnTo>
                <a:pt x="0" y="3823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036805-1CBC-428F-BBAB-AAB1A3E1F9AD}">
      <dsp:nvSpPr>
        <dsp:cNvPr id="0" name=""/>
        <dsp:cNvSpPr/>
      </dsp:nvSpPr>
      <dsp:spPr>
        <a:xfrm>
          <a:off x="4367939" y="1417634"/>
          <a:ext cx="2271426" cy="9103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40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Obi Ogueri           IAM Supervisor</a:t>
          </a:r>
          <a:endParaRPr lang="en-US" sz="1500" kern="1200" dirty="0"/>
        </a:p>
      </dsp:txBody>
      <dsp:txXfrm>
        <a:off x="4367939" y="1417634"/>
        <a:ext cx="2271426" cy="910333"/>
      </dsp:txXfrm>
    </dsp:sp>
    <dsp:sp modelId="{9081E042-E8E6-4FD4-9077-437C28015897}">
      <dsp:nvSpPr>
        <dsp:cNvPr id="0" name=""/>
        <dsp:cNvSpPr/>
      </dsp:nvSpPr>
      <dsp:spPr>
        <a:xfrm>
          <a:off x="4576074" y="1508668"/>
          <a:ext cx="546199" cy="728266"/>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15000" r="-1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096FD1-2502-4C24-9359-347222258E01}">
      <dsp:nvSpPr>
        <dsp:cNvPr id="0" name=""/>
        <dsp:cNvSpPr/>
      </dsp:nvSpPr>
      <dsp:spPr>
        <a:xfrm>
          <a:off x="4111" y="2710307"/>
          <a:ext cx="1820666" cy="9103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40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Kreg Flowers Prod. Engr.</a:t>
          </a:r>
          <a:endParaRPr lang="en-US" sz="1500" kern="1200" dirty="0"/>
        </a:p>
      </dsp:txBody>
      <dsp:txXfrm>
        <a:off x="4111" y="2710307"/>
        <a:ext cx="1820666" cy="910333"/>
      </dsp:txXfrm>
    </dsp:sp>
    <dsp:sp modelId="{84B03D63-3A4B-4B2B-AA7C-69EEC5D09A99}">
      <dsp:nvSpPr>
        <dsp:cNvPr id="0" name=""/>
        <dsp:cNvSpPr/>
      </dsp:nvSpPr>
      <dsp:spPr>
        <a:xfrm>
          <a:off x="95144" y="2801341"/>
          <a:ext cx="546199" cy="728266"/>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26000" r="-2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7D737A-31E9-4246-9A8D-79606946D956}">
      <dsp:nvSpPr>
        <dsp:cNvPr id="0" name=""/>
        <dsp:cNvSpPr/>
      </dsp:nvSpPr>
      <dsp:spPr>
        <a:xfrm>
          <a:off x="2207117" y="2710307"/>
          <a:ext cx="1820666" cy="9103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40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Jay Odom  Staff Prod. Engr.</a:t>
          </a:r>
          <a:endParaRPr lang="en-US" sz="1500" kern="1200" dirty="0"/>
        </a:p>
      </dsp:txBody>
      <dsp:txXfrm>
        <a:off x="2207117" y="2710307"/>
        <a:ext cx="1820666" cy="910333"/>
      </dsp:txXfrm>
    </dsp:sp>
    <dsp:sp modelId="{A9BC7480-AE48-4201-8D72-102928727DC6}">
      <dsp:nvSpPr>
        <dsp:cNvPr id="0" name=""/>
        <dsp:cNvSpPr/>
      </dsp:nvSpPr>
      <dsp:spPr>
        <a:xfrm>
          <a:off x="2298151" y="2801341"/>
          <a:ext cx="546199" cy="728266"/>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8000" r="-2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88D54F-2078-4C1B-9702-28E144BC5C43}">
      <dsp:nvSpPr>
        <dsp:cNvPr id="0" name=""/>
        <dsp:cNvSpPr/>
      </dsp:nvSpPr>
      <dsp:spPr>
        <a:xfrm>
          <a:off x="4410123" y="2710307"/>
          <a:ext cx="1820666" cy="9103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40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Robert Palumbo: Sr. ITS Developer</a:t>
          </a:r>
          <a:endParaRPr lang="en-US" sz="1500" kern="1200" dirty="0"/>
        </a:p>
      </dsp:txBody>
      <dsp:txXfrm>
        <a:off x="4410123" y="2710307"/>
        <a:ext cx="1820666" cy="910333"/>
      </dsp:txXfrm>
    </dsp:sp>
    <dsp:sp modelId="{0C1D9838-EE7E-4DB1-81CC-906A10C46580}">
      <dsp:nvSpPr>
        <dsp:cNvPr id="0" name=""/>
        <dsp:cNvSpPr/>
      </dsp:nvSpPr>
      <dsp:spPr>
        <a:xfrm>
          <a:off x="4501157" y="2801341"/>
          <a:ext cx="546199" cy="728266"/>
        </a:xfrm>
        <a:prstGeom prst="rect">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CD73BD-D3B4-4AE1-A567-6E94755BBE99}">
      <dsp:nvSpPr>
        <dsp:cNvPr id="0" name=""/>
        <dsp:cNvSpPr/>
      </dsp:nvSpPr>
      <dsp:spPr>
        <a:xfrm>
          <a:off x="6613130" y="2710307"/>
          <a:ext cx="2187057" cy="9103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40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Damiano Galvan Staff Reservoir Engr.</a:t>
          </a:r>
          <a:endParaRPr lang="en-US" sz="1500" kern="1200" dirty="0"/>
        </a:p>
      </dsp:txBody>
      <dsp:txXfrm>
        <a:off x="6613130" y="2710307"/>
        <a:ext cx="2187057" cy="910333"/>
      </dsp:txXfrm>
    </dsp:sp>
    <dsp:sp modelId="{B674C0F9-69BA-4CBF-A0BF-DC551B37D34F}">
      <dsp:nvSpPr>
        <dsp:cNvPr id="0" name=""/>
        <dsp:cNvSpPr/>
      </dsp:nvSpPr>
      <dsp:spPr>
        <a:xfrm>
          <a:off x="6725784" y="2808558"/>
          <a:ext cx="623918" cy="728266"/>
        </a:xfrm>
        <a:prstGeom prst="rect">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l="-15000" r="-1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C18AD9-8CD0-4696-B57F-9FB8811ABB94}">
      <dsp:nvSpPr>
        <dsp:cNvPr id="0" name=""/>
        <dsp:cNvSpPr/>
      </dsp:nvSpPr>
      <dsp:spPr>
        <a:xfrm>
          <a:off x="9182527" y="2710307"/>
          <a:ext cx="1820666" cy="9103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440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Staff Prod. Engr.</a:t>
          </a:r>
          <a:endParaRPr lang="en-US" sz="1500" kern="1200" dirty="0"/>
        </a:p>
      </dsp:txBody>
      <dsp:txXfrm>
        <a:off x="9182527" y="2710307"/>
        <a:ext cx="1820666" cy="910333"/>
      </dsp:txXfrm>
    </dsp:sp>
    <dsp:sp modelId="{41C77D0C-D308-45B8-B8C3-59464AA94653}">
      <dsp:nvSpPr>
        <dsp:cNvPr id="0" name=""/>
        <dsp:cNvSpPr/>
      </dsp:nvSpPr>
      <dsp:spPr>
        <a:xfrm>
          <a:off x="9273560" y="2801341"/>
          <a:ext cx="546199" cy="728266"/>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18526F-2D4F-48B5-94DF-40B0D3EEA1DE}">
      <dsp:nvSpPr>
        <dsp:cNvPr id="0" name=""/>
        <dsp:cNvSpPr/>
      </dsp:nvSpPr>
      <dsp:spPr>
        <a:xfrm>
          <a:off x="0" y="57828"/>
          <a:ext cx="8809038" cy="550564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415C70-88D9-44CD-BB5E-13F3C1FB9F9B}">
      <dsp:nvSpPr>
        <dsp:cNvPr id="0" name=""/>
        <dsp:cNvSpPr/>
      </dsp:nvSpPr>
      <dsp:spPr>
        <a:xfrm>
          <a:off x="867690" y="4122914"/>
          <a:ext cx="202607" cy="2026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253F8-B331-42DD-A2C6-1A52A57701E2}">
      <dsp:nvSpPr>
        <dsp:cNvPr id="0" name=""/>
        <dsp:cNvSpPr/>
      </dsp:nvSpPr>
      <dsp:spPr>
        <a:xfrm>
          <a:off x="968994" y="4224218"/>
          <a:ext cx="1506345" cy="1310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358" tIns="0" rIns="0" bIns="0" numCol="1" spcCol="1270" anchor="t" anchorCtr="0">
          <a:noAutofit/>
        </a:bodyPr>
        <a:lstStyle/>
        <a:p>
          <a:pPr lvl="0" algn="l" defTabSz="977900">
            <a:lnSpc>
              <a:spcPct val="90000"/>
            </a:lnSpc>
            <a:spcBef>
              <a:spcPct val="0"/>
            </a:spcBef>
            <a:spcAft>
              <a:spcPct val="35000"/>
            </a:spcAft>
          </a:pPr>
          <a:r>
            <a:rPr lang="en-US" sz="2200" b="1" kern="1200" dirty="0" smtClean="0">
              <a:solidFill>
                <a:schemeClr val="tx1"/>
              </a:solidFill>
            </a:rPr>
            <a:t>Problem: </a:t>
          </a:r>
          <a:r>
            <a:rPr lang="en-US" sz="2200" b="0" kern="1200" dirty="0" smtClean="0">
              <a:solidFill>
                <a:schemeClr val="accent6">
                  <a:lumMod val="75000"/>
                </a:schemeClr>
              </a:solidFill>
            </a:rPr>
            <a:t>Formulating a solution</a:t>
          </a:r>
          <a:endParaRPr lang="en-US" sz="2200" b="0" kern="1200" dirty="0">
            <a:solidFill>
              <a:schemeClr val="accent6">
                <a:lumMod val="75000"/>
              </a:schemeClr>
            </a:solidFill>
          </a:endParaRPr>
        </a:p>
      </dsp:txBody>
      <dsp:txXfrm>
        <a:off x="968994" y="4224218"/>
        <a:ext cx="1506345" cy="1310344"/>
      </dsp:txXfrm>
    </dsp:sp>
    <dsp:sp modelId="{A640346F-9522-464E-BD77-70EA9BB669CD}">
      <dsp:nvSpPr>
        <dsp:cNvPr id="0" name=""/>
        <dsp:cNvSpPr/>
      </dsp:nvSpPr>
      <dsp:spPr>
        <a:xfrm>
          <a:off x="2299158" y="2842300"/>
          <a:ext cx="352361" cy="3523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6E5D6B-3591-481C-A6BC-660A79B1E357}">
      <dsp:nvSpPr>
        <dsp:cNvPr id="0" name=""/>
        <dsp:cNvSpPr/>
      </dsp:nvSpPr>
      <dsp:spPr>
        <a:xfrm>
          <a:off x="2475339" y="3018481"/>
          <a:ext cx="1849897" cy="2516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709" tIns="0" rIns="0" bIns="0" numCol="1" spcCol="1270" anchor="t" anchorCtr="0">
          <a:noAutofit/>
        </a:bodyPr>
        <a:lstStyle/>
        <a:p>
          <a:pPr lvl="0" algn="l" defTabSz="977900">
            <a:lnSpc>
              <a:spcPct val="90000"/>
            </a:lnSpc>
            <a:spcBef>
              <a:spcPct val="0"/>
            </a:spcBef>
            <a:spcAft>
              <a:spcPct val="35000"/>
            </a:spcAft>
          </a:pPr>
          <a:r>
            <a:rPr lang="en-US" sz="2200" b="1" kern="1200" dirty="0" smtClean="0"/>
            <a:t>Data Mgmt.: </a:t>
          </a:r>
        </a:p>
        <a:p>
          <a:pPr lvl="0" algn="l" defTabSz="977900">
            <a:lnSpc>
              <a:spcPct val="90000"/>
            </a:lnSpc>
            <a:spcBef>
              <a:spcPct val="0"/>
            </a:spcBef>
            <a:spcAft>
              <a:spcPct val="35000"/>
            </a:spcAft>
          </a:pPr>
          <a:r>
            <a:rPr lang="en-US" sz="2200" b="0" kern="1200" dirty="0" smtClean="0">
              <a:solidFill>
                <a:schemeClr val="accent6">
                  <a:lumMod val="75000"/>
                </a:schemeClr>
              </a:solidFill>
            </a:rPr>
            <a:t>Connecting to data sources</a:t>
          </a:r>
        </a:p>
        <a:p>
          <a:pPr lvl="0" algn="l" defTabSz="977900">
            <a:lnSpc>
              <a:spcPct val="90000"/>
            </a:lnSpc>
            <a:spcBef>
              <a:spcPct val="0"/>
            </a:spcBef>
            <a:spcAft>
              <a:spcPct val="35000"/>
            </a:spcAft>
          </a:pPr>
          <a:r>
            <a:rPr lang="en-US" sz="2200" b="0" kern="1200" dirty="0" smtClean="0">
              <a:solidFill>
                <a:schemeClr val="accent6">
                  <a:lumMod val="75000"/>
                </a:schemeClr>
              </a:solidFill>
            </a:rPr>
            <a:t>Gathering the data</a:t>
          </a:r>
          <a:endParaRPr lang="en-US" sz="2200" b="0" kern="1200" dirty="0">
            <a:solidFill>
              <a:schemeClr val="accent6">
                <a:lumMod val="75000"/>
              </a:schemeClr>
            </a:solidFill>
          </a:endParaRPr>
        </a:p>
      </dsp:txBody>
      <dsp:txXfrm>
        <a:off x="2475339" y="3018481"/>
        <a:ext cx="1849897" cy="2516081"/>
      </dsp:txXfrm>
    </dsp:sp>
    <dsp:sp modelId="{1030CC13-9480-4C03-BCD1-D239107269E4}">
      <dsp:nvSpPr>
        <dsp:cNvPr id="0" name=""/>
        <dsp:cNvSpPr/>
      </dsp:nvSpPr>
      <dsp:spPr>
        <a:xfrm>
          <a:off x="4127034" y="1898632"/>
          <a:ext cx="466879" cy="4668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FA3980-CB72-4358-8EFA-532A0B664093}">
      <dsp:nvSpPr>
        <dsp:cNvPr id="0" name=""/>
        <dsp:cNvSpPr/>
      </dsp:nvSpPr>
      <dsp:spPr>
        <a:xfrm>
          <a:off x="4360473" y="2132071"/>
          <a:ext cx="1849897" cy="3402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390" tIns="0" rIns="0" bIns="0" numCol="1" spcCol="1270" anchor="t" anchorCtr="0">
          <a:noAutofit/>
        </a:bodyPr>
        <a:lstStyle/>
        <a:p>
          <a:pPr lvl="0" algn="l" defTabSz="977900">
            <a:lnSpc>
              <a:spcPct val="90000"/>
            </a:lnSpc>
            <a:spcBef>
              <a:spcPct val="0"/>
            </a:spcBef>
            <a:spcAft>
              <a:spcPct val="35000"/>
            </a:spcAft>
          </a:pPr>
          <a:r>
            <a:rPr lang="en-US" sz="2200" b="1" kern="1200" dirty="0" smtClean="0"/>
            <a:t>Data Driven Exceptions: </a:t>
          </a:r>
          <a:endParaRPr lang="en-US" sz="2200" b="1" kern="1200" dirty="0" smtClean="0"/>
        </a:p>
        <a:p>
          <a:pPr lvl="0" algn="l" defTabSz="977900">
            <a:lnSpc>
              <a:spcPct val="90000"/>
            </a:lnSpc>
            <a:spcBef>
              <a:spcPct val="0"/>
            </a:spcBef>
            <a:spcAft>
              <a:spcPct val="35000"/>
            </a:spcAft>
          </a:pPr>
          <a:r>
            <a:rPr lang="en-US" sz="2200" b="0" kern="1200" dirty="0" smtClean="0">
              <a:solidFill>
                <a:schemeClr val="accent6">
                  <a:lumMod val="75000"/>
                </a:schemeClr>
              </a:solidFill>
            </a:rPr>
            <a:t>Leveraging the data </a:t>
          </a:r>
          <a:endParaRPr lang="en-US" sz="2200" b="0" kern="1200" dirty="0">
            <a:solidFill>
              <a:schemeClr val="accent6">
                <a:lumMod val="75000"/>
              </a:schemeClr>
            </a:solidFill>
          </a:endParaRPr>
        </a:p>
      </dsp:txBody>
      <dsp:txXfrm>
        <a:off x="4360473" y="2132071"/>
        <a:ext cx="1849897" cy="3402490"/>
      </dsp:txXfrm>
    </dsp:sp>
    <dsp:sp modelId="{0B577839-2EBF-42CB-960A-BE931DDD940D}">
      <dsp:nvSpPr>
        <dsp:cNvPr id="0" name=""/>
        <dsp:cNvSpPr/>
      </dsp:nvSpPr>
      <dsp:spPr>
        <a:xfrm>
          <a:off x="6117876" y="1274291"/>
          <a:ext cx="625441" cy="62544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8B5896-F76F-4579-BCFC-248711780765}">
      <dsp:nvSpPr>
        <dsp:cNvPr id="0" name=""/>
        <dsp:cNvSpPr/>
      </dsp:nvSpPr>
      <dsp:spPr>
        <a:xfrm>
          <a:off x="6545465" y="2072304"/>
          <a:ext cx="2263572" cy="1722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1409" tIns="0" rIns="0" bIns="0" numCol="1" spcCol="1270" anchor="t" anchorCtr="0">
          <a:noAutofit/>
        </a:bodyPr>
        <a:lstStyle/>
        <a:p>
          <a:pPr lvl="0" algn="l" defTabSz="977900">
            <a:lnSpc>
              <a:spcPct val="90000"/>
            </a:lnSpc>
            <a:spcBef>
              <a:spcPct val="0"/>
            </a:spcBef>
            <a:spcAft>
              <a:spcPct val="35000"/>
            </a:spcAft>
          </a:pPr>
          <a:r>
            <a:rPr lang="en-US" sz="2200" b="1" kern="1200" dirty="0" smtClean="0"/>
            <a:t>Closed </a:t>
          </a:r>
          <a:r>
            <a:rPr lang="en-US" sz="2200" b="1" kern="1200" dirty="0" smtClean="0"/>
            <a:t>Loop Control: </a:t>
          </a:r>
          <a:r>
            <a:rPr lang="en-US" sz="2200" b="0" kern="1200" dirty="0" smtClean="0">
              <a:solidFill>
                <a:schemeClr val="accent6">
                  <a:lumMod val="75000"/>
                </a:schemeClr>
              </a:solidFill>
            </a:rPr>
            <a:t>Intelligent </a:t>
          </a:r>
          <a:r>
            <a:rPr lang="en-US" sz="2200" b="0" kern="1200" dirty="0" smtClean="0">
              <a:solidFill>
                <a:schemeClr val="accent6">
                  <a:lumMod val="75000"/>
                </a:schemeClr>
              </a:solidFill>
            </a:rPr>
            <a:t>Operations </a:t>
          </a:r>
          <a:endParaRPr lang="en-US" sz="2200" b="0" kern="1200" dirty="0">
            <a:solidFill>
              <a:schemeClr val="accent6">
                <a:lumMod val="75000"/>
              </a:schemeClr>
            </a:solidFill>
          </a:endParaRPr>
        </a:p>
      </dsp:txBody>
      <dsp:txXfrm>
        <a:off x="6545465" y="2072304"/>
        <a:ext cx="2263572" cy="1722908"/>
      </dsp:txXfrm>
    </dsp:sp>
  </dsp:spTree>
</dsp:drawing>
</file>

<file path=ppt/diagrams/layout1.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8B321D8-B2AC-472D-8AB6-46495FAAA857}" type="datetimeFigureOut">
              <a:rPr lang="en-US" smtClean="0"/>
              <a:t>8/28/2018</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5F9C163-CD44-4BD1-A1F4-FB76ECA9237D}" type="slidenum">
              <a:rPr lang="en-US" smtClean="0"/>
              <a:t>‹#›</a:t>
            </a:fld>
            <a:endParaRPr lang="en-US"/>
          </a:p>
        </p:txBody>
      </p:sp>
    </p:spTree>
    <p:extLst>
      <p:ext uri="{BB962C8B-B14F-4D97-AF65-F5344CB8AC3E}">
        <p14:creationId xmlns:p14="http://schemas.microsoft.com/office/powerpoint/2010/main" val="613178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3</a:t>
            </a:fld>
            <a:endParaRPr lang="en-US"/>
          </a:p>
        </p:txBody>
      </p:sp>
    </p:spTree>
    <p:extLst>
      <p:ext uri="{BB962C8B-B14F-4D97-AF65-F5344CB8AC3E}">
        <p14:creationId xmlns:p14="http://schemas.microsoft.com/office/powerpoint/2010/main" val="3342031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596900" fontAlgn="base">
              <a:lnSpc>
                <a:spcPct val="85000"/>
              </a:lnSpc>
              <a:spcBef>
                <a:spcPct val="50000"/>
              </a:spcBef>
              <a:spcAft>
                <a:spcPct val="5000"/>
              </a:spcAft>
              <a:buSzPct val="90000"/>
              <a:buFont typeface="Wingdings" pitchFamily="2" charset="2"/>
              <a:buNone/>
            </a:pPr>
            <a:r>
              <a:rPr lang="en-US" sz="2200" dirty="0" smtClean="0">
                <a:solidFill>
                  <a:srgbClr val="002060"/>
                </a:solidFill>
              </a:rPr>
              <a:t>DOF integration</a:t>
            </a:r>
            <a:r>
              <a:rPr lang="en-US" sz="2200" baseline="0" dirty="0" smtClean="0">
                <a:solidFill>
                  <a:srgbClr val="002060"/>
                </a:solidFill>
              </a:rPr>
              <a:t> within the DJ Basin</a:t>
            </a:r>
          </a:p>
          <a:p>
            <a:pPr marL="0" indent="0" defTabSz="596900" fontAlgn="base">
              <a:lnSpc>
                <a:spcPct val="85000"/>
              </a:lnSpc>
              <a:spcBef>
                <a:spcPct val="50000"/>
              </a:spcBef>
              <a:spcAft>
                <a:spcPct val="5000"/>
              </a:spcAft>
              <a:buSzPct val="90000"/>
              <a:buFont typeface="Wingdings" pitchFamily="2" charset="2"/>
              <a:buNone/>
            </a:pPr>
            <a:endParaRPr lang="en-US" sz="2200" dirty="0" smtClean="0">
              <a:solidFill>
                <a:srgbClr val="002060"/>
              </a:solidFill>
            </a:endParaRPr>
          </a:p>
          <a:p>
            <a:pPr marL="173038" indent="-173038" defTabSz="596900" fontAlgn="base">
              <a:lnSpc>
                <a:spcPct val="85000"/>
              </a:lnSpc>
              <a:spcBef>
                <a:spcPct val="50000"/>
              </a:spcBef>
              <a:spcAft>
                <a:spcPct val="5000"/>
              </a:spcAft>
              <a:buSzPct val="90000"/>
              <a:buFont typeface="Wingdings" pitchFamily="2" charset="2"/>
              <a:buChar char="§"/>
            </a:pPr>
            <a:r>
              <a:rPr lang="en-US" sz="2200" dirty="0" smtClean="0">
                <a:solidFill>
                  <a:srgbClr val="002060"/>
                </a:solidFill>
              </a:rPr>
              <a:t>Multiple functions impacted by DOF system </a:t>
            </a:r>
          </a:p>
          <a:p>
            <a:pPr marL="173038" indent="-173038" defTabSz="596900" fontAlgn="base">
              <a:lnSpc>
                <a:spcPct val="85000"/>
              </a:lnSpc>
              <a:spcBef>
                <a:spcPct val="50000"/>
              </a:spcBef>
              <a:spcAft>
                <a:spcPct val="5000"/>
              </a:spcAft>
              <a:buSzPct val="90000"/>
              <a:buFont typeface="Wingdings" pitchFamily="2" charset="2"/>
              <a:buChar char="§"/>
            </a:pPr>
            <a:r>
              <a:rPr lang="en-US" sz="2200" dirty="0" smtClean="0">
                <a:solidFill>
                  <a:srgbClr val="002060"/>
                </a:solidFill>
              </a:rPr>
              <a:t>DOF success requires buy-in and trust from data suppliers and users</a:t>
            </a:r>
          </a:p>
          <a:p>
            <a:pPr marL="173038" lvl="0" indent="-173038" defTabSz="596900" fontAlgn="base">
              <a:lnSpc>
                <a:spcPct val="85000"/>
              </a:lnSpc>
              <a:spcBef>
                <a:spcPct val="50000"/>
              </a:spcBef>
              <a:spcAft>
                <a:spcPct val="5000"/>
              </a:spcAft>
              <a:buSzPct val="90000"/>
              <a:buFont typeface="Wingdings" pitchFamily="2" charset="2"/>
              <a:buChar char="§"/>
            </a:pPr>
            <a:r>
              <a:rPr lang="en-US" sz="2200" dirty="0" smtClean="0">
                <a:solidFill>
                  <a:srgbClr val="002060"/>
                </a:solidFill>
              </a:rPr>
              <a:t>Collaboration enables transparent information sharing</a:t>
            </a:r>
          </a:p>
          <a:p>
            <a:pPr marL="173038" lvl="0" indent="-173038" defTabSz="596900" fontAlgn="base">
              <a:lnSpc>
                <a:spcPct val="85000"/>
              </a:lnSpc>
              <a:spcBef>
                <a:spcPct val="50000"/>
              </a:spcBef>
              <a:spcAft>
                <a:spcPct val="5000"/>
              </a:spcAft>
              <a:buSzPct val="90000"/>
              <a:buFont typeface="Wingdings" pitchFamily="2" charset="2"/>
              <a:buChar char="§"/>
            </a:pPr>
            <a:r>
              <a:rPr lang="en-US" sz="2200" dirty="0" smtClean="0">
                <a:solidFill>
                  <a:srgbClr val="002060"/>
                </a:solidFill>
              </a:rPr>
              <a:t>DOF system “raises the bar” for skill development across company and ensures DOF development progresses</a:t>
            </a:r>
          </a:p>
          <a:p>
            <a:pPr lvl="1"/>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5</a:t>
            </a:fld>
            <a:endParaRPr lang="en-US"/>
          </a:p>
        </p:txBody>
      </p:sp>
    </p:spTree>
    <p:extLst>
      <p:ext uri="{BB962C8B-B14F-4D97-AF65-F5344CB8AC3E}">
        <p14:creationId xmlns:p14="http://schemas.microsoft.com/office/powerpoint/2010/main" val="1047777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The purpose of the digital oilfield is to maximize oilfield recovery, eliminate non-productive time, and increase profitability through the design and deployment of integrated workflows. Digital oilfield workflows combine business process management with advanced information technology and engineering expertise to streamline and, in many cases, automate the execution of tasks performed by cross-functional teams.</a:t>
            </a:r>
          </a:p>
          <a:p>
            <a:endParaRPr lang="en-US" sz="1100" b="0" i="0" kern="1200" dirty="0" smtClean="0">
              <a:solidFill>
                <a:schemeClr val="tx1"/>
              </a:solidFill>
              <a:effectLst/>
              <a:latin typeface="+mn-lt"/>
              <a:ea typeface="+mn-ea"/>
              <a:cs typeface="+mn-cs"/>
            </a:endParaRPr>
          </a:p>
          <a:p>
            <a:r>
              <a:rPr lang="en-US" sz="1100" b="0" i="0" kern="1200" dirty="0" smtClean="0">
                <a:solidFill>
                  <a:schemeClr val="tx1"/>
                </a:solidFill>
                <a:effectLst/>
                <a:latin typeface="+mn-lt"/>
                <a:ea typeface="+mn-ea"/>
                <a:cs typeface="+mn-cs"/>
              </a:rPr>
              <a:t>Business Process Management:</a:t>
            </a:r>
          </a:p>
          <a:p>
            <a:pPr marL="171450" indent="-171450">
              <a:buFontTx/>
              <a:buChar char="-"/>
            </a:pPr>
            <a:r>
              <a:rPr lang="en-US" sz="1100" b="0" i="0" kern="1200" baseline="0" dirty="0" smtClean="0">
                <a:solidFill>
                  <a:schemeClr val="tx1"/>
                </a:solidFill>
                <a:effectLst/>
                <a:latin typeface="+mn-lt"/>
                <a:ea typeface="+mn-ea"/>
                <a:cs typeface="+mn-cs"/>
              </a:rPr>
              <a:t>Operations (Safety, integrity monitoring, flow assurance)</a:t>
            </a:r>
          </a:p>
          <a:p>
            <a:pPr marL="171450" indent="-171450">
              <a:buFontTx/>
              <a:buChar char="-"/>
            </a:pPr>
            <a:r>
              <a:rPr lang="en-US" sz="1100" b="0" i="0" kern="1200" baseline="0" dirty="0" smtClean="0">
                <a:solidFill>
                  <a:schemeClr val="tx1"/>
                </a:solidFill>
                <a:effectLst/>
                <a:latin typeface="+mn-lt"/>
                <a:ea typeface="+mn-ea"/>
                <a:cs typeface="+mn-cs"/>
              </a:rPr>
              <a:t>Forecasting / Business Planning</a:t>
            </a:r>
          </a:p>
          <a:p>
            <a:pPr marL="171450" indent="-171450">
              <a:buFontTx/>
              <a:buChar char="-"/>
            </a:pPr>
            <a:r>
              <a:rPr lang="en-US" sz="1100" b="0" i="0" kern="1200" baseline="0" dirty="0" smtClean="0">
                <a:solidFill>
                  <a:schemeClr val="tx1"/>
                </a:solidFill>
                <a:effectLst/>
                <a:latin typeface="+mn-lt"/>
                <a:ea typeface="+mn-ea"/>
                <a:cs typeface="+mn-cs"/>
              </a:rPr>
              <a:t>Peer reviews / decision making</a:t>
            </a:r>
          </a:p>
          <a:p>
            <a:pPr marL="171450" indent="-171450">
              <a:buFontTx/>
              <a:buChar char="-"/>
            </a:pPr>
            <a:r>
              <a:rPr lang="en-US" sz="1100" b="0" i="0" kern="1200" baseline="0" dirty="0" smtClean="0">
                <a:solidFill>
                  <a:schemeClr val="tx1"/>
                </a:solidFill>
                <a:effectLst/>
                <a:latin typeface="+mn-lt"/>
                <a:ea typeface="+mn-ea"/>
                <a:cs typeface="+mn-cs"/>
              </a:rPr>
              <a:t>Optimization</a:t>
            </a:r>
            <a:endParaRPr lang="en-US" sz="11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4466297-95BF-42EA-ADEB-5452621787CE}" type="slidenum">
              <a:rPr lang="en-US" smtClean="0"/>
              <a:t>6</a:t>
            </a:fld>
            <a:endParaRPr lang="en-US"/>
          </a:p>
        </p:txBody>
      </p:sp>
    </p:spTree>
    <p:extLst>
      <p:ext uri="{BB962C8B-B14F-4D97-AF65-F5344CB8AC3E}">
        <p14:creationId xmlns:p14="http://schemas.microsoft.com/office/powerpoint/2010/main" val="1863763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Identifying the problem and formulating</a:t>
            </a:r>
            <a:r>
              <a:rPr lang="en-US" baseline="0" dirty="0" smtClean="0"/>
              <a:t> a solution</a:t>
            </a:r>
            <a:endParaRPr lang="en-US" dirty="0" smtClean="0"/>
          </a:p>
          <a:p>
            <a:r>
              <a:rPr lang="en-US" dirty="0" smtClean="0"/>
              <a:t>Engineering</a:t>
            </a:r>
            <a:r>
              <a:rPr lang="en-US" baseline="0" dirty="0" smtClean="0"/>
              <a:t> </a:t>
            </a:r>
            <a:r>
              <a:rPr lang="en-US" baseline="0" dirty="0" smtClean="0"/>
              <a:t>problem formulation: Formulating the solution process</a:t>
            </a:r>
            <a:endParaRPr lang="en-US" dirty="0"/>
          </a:p>
        </p:txBody>
      </p:sp>
      <p:sp>
        <p:nvSpPr>
          <p:cNvPr id="4" name="Slide Number Placeholder 3"/>
          <p:cNvSpPr>
            <a:spLocks noGrp="1"/>
          </p:cNvSpPr>
          <p:nvPr>
            <p:ph type="sldNum" sz="quarter" idx="10"/>
          </p:nvPr>
        </p:nvSpPr>
        <p:spPr/>
        <p:txBody>
          <a:bodyPr/>
          <a:lstStyle/>
          <a:p>
            <a:fld id="{A342D247-FE67-4647-A9AE-FAA4EFAAB716}" type="slidenum">
              <a:rPr lang="en-US" smtClean="0"/>
              <a:t>7</a:t>
            </a:fld>
            <a:endParaRPr lang="en-US"/>
          </a:p>
        </p:txBody>
      </p:sp>
    </p:spTree>
    <p:extLst>
      <p:ext uri="{BB962C8B-B14F-4D97-AF65-F5344CB8AC3E}">
        <p14:creationId xmlns:p14="http://schemas.microsoft.com/office/powerpoint/2010/main" val="2812594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rPr>
              <a:t>Leveraging DOF capabilities across this spectrum</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rPr>
              <a:t>Monitoring </a:t>
            </a: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rPr>
              <a:t>over 1500 wells</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rPr>
              <a:t>~70 million new data points stored daily</a:t>
            </a:r>
            <a:endParaRPr kumimoji="0" lang="en-US" altLang="en-US" sz="1200" b="1" i="0" u="none" strike="noStrike" kern="1200" cap="none" spc="0" normalizeH="0" baseline="0" noProof="0" dirty="0" smtClean="0">
              <a:ln>
                <a:noFill/>
              </a:ln>
              <a:solidFill>
                <a:srgbClr val="FF0000"/>
              </a:solidFill>
              <a:effectLst/>
              <a:uLnTx/>
              <a:uFillTx/>
              <a:latin typeface="Arial" panose="020B0604020202020204"/>
              <a:ea typeface="+mn-ea"/>
              <a:cs typeface="Calibri" panose="020F0502020204030204" pitchFamily="34" charset="0"/>
            </a:endParaRPr>
          </a:p>
          <a:p>
            <a:pPr marL="173831" marR="0" lvl="0" indent="-173831"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smtClean="0">
                <a:ln>
                  <a:noFill/>
                </a:ln>
                <a:solidFill>
                  <a:srgbClr val="FFFFFF"/>
                </a:solidFill>
                <a:effectLst/>
                <a:uLnTx/>
                <a:uFillTx/>
                <a:latin typeface="Arial" panose="020B0604020202020204"/>
                <a:ea typeface="+mn-ea"/>
                <a:cs typeface="+mn-cs"/>
              </a:rPr>
              <a:t>Guides field staff to highest value opportunities by exception</a:t>
            </a:r>
          </a:p>
          <a:p>
            <a:pPr marL="173831" marR="0" lvl="0" indent="-173831"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smtClean="0">
                <a:ln>
                  <a:noFill/>
                </a:ln>
                <a:solidFill>
                  <a:srgbClr val="FFFFFF"/>
                </a:solidFill>
                <a:effectLst/>
                <a:uLnTx/>
                <a:uFillTx/>
                <a:latin typeface="Arial" panose="020B0604020202020204"/>
                <a:ea typeface="+mn-ea"/>
                <a:cs typeface="+mn-cs"/>
              </a:rPr>
              <a:t>Enhances production optimization practices</a:t>
            </a:r>
          </a:p>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8</a:t>
            </a:fld>
            <a:endParaRPr lang="en-US"/>
          </a:p>
        </p:txBody>
      </p:sp>
    </p:spTree>
    <p:extLst>
      <p:ext uri="{BB962C8B-B14F-4D97-AF65-F5344CB8AC3E}">
        <p14:creationId xmlns:p14="http://schemas.microsoft.com/office/powerpoint/2010/main" val="2109688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10</a:t>
            </a:fld>
            <a:endParaRPr lang="en-US"/>
          </a:p>
        </p:txBody>
      </p:sp>
    </p:spTree>
    <p:extLst>
      <p:ext uri="{BB962C8B-B14F-4D97-AF65-F5344CB8AC3E}">
        <p14:creationId xmlns:p14="http://schemas.microsoft.com/office/powerpoint/2010/main" val="358845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11</a:t>
            </a:fld>
            <a:endParaRPr lang="en-US"/>
          </a:p>
        </p:txBody>
      </p:sp>
    </p:spTree>
    <p:extLst>
      <p:ext uri="{BB962C8B-B14F-4D97-AF65-F5344CB8AC3E}">
        <p14:creationId xmlns:p14="http://schemas.microsoft.com/office/powerpoint/2010/main" val="415346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12</a:t>
            </a:fld>
            <a:endParaRPr lang="en-US"/>
          </a:p>
        </p:txBody>
      </p:sp>
    </p:spTree>
    <p:extLst>
      <p:ext uri="{BB962C8B-B14F-4D97-AF65-F5344CB8AC3E}">
        <p14:creationId xmlns:p14="http://schemas.microsoft.com/office/powerpoint/2010/main" val="722430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13</a:t>
            </a:fld>
            <a:endParaRPr lang="en-US"/>
          </a:p>
        </p:txBody>
      </p:sp>
    </p:spTree>
    <p:extLst>
      <p:ext uri="{BB962C8B-B14F-4D97-AF65-F5344CB8AC3E}">
        <p14:creationId xmlns:p14="http://schemas.microsoft.com/office/powerpoint/2010/main" val="1659910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Going from Manual to </a:t>
            </a:r>
            <a:r>
              <a:rPr lang="en-US" sz="1000" dirty="0" smtClean="0"/>
              <a:t>automated</a:t>
            </a:r>
            <a:r>
              <a:rPr lang="en-US" sz="1000" baseline="0" dirty="0" smtClean="0"/>
              <a:t> </a:t>
            </a:r>
            <a:r>
              <a:rPr lang="en-US" sz="1000" dirty="0" smtClean="0"/>
              <a:t>control </a:t>
            </a:r>
            <a:r>
              <a:rPr lang="en-US" sz="1000" dirty="0" smtClean="0"/>
              <a:t>increases</a:t>
            </a:r>
            <a:r>
              <a:rPr lang="en-US" sz="1000" baseline="0" dirty="0" smtClean="0"/>
              <a:t> by an order of magnitude number of </a:t>
            </a:r>
            <a:r>
              <a:rPr lang="en-US" sz="1000" dirty="0" smtClean="0"/>
              <a:t>feasible</a:t>
            </a:r>
            <a:r>
              <a:rPr lang="en-US" sz="1000" baseline="0" dirty="0" smtClean="0"/>
              <a:t> well operation changes</a:t>
            </a:r>
          </a:p>
          <a:p>
            <a:endParaRPr lang="en-US" sz="1000" baseline="0" dirty="0" smtClean="0"/>
          </a:p>
          <a:p>
            <a:r>
              <a:rPr lang="en-US" sz="1000" dirty="0" smtClean="0"/>
              <a:t>Lift optimization</a:t>
            </a:r>
            <a:r>
              <a:rPr lang="en-US" sz="1000" baseline="0" dirty="0" smtClean="0"/>
              <a:t> is a non-linear problem, requires high frequency data, benefits from close-loop control.</a:t>
            </a:r>
          </a:p>
          <a:p>
            <a:r>
              <a:rPr lang="en-US" sz="1000" baseline="0" dirty="0" smtClean="0"/>
              <a:t>Clear impact on recovery efficiency </a:t>
            </a:r>
            <a:r>
              <a:rPr lang="en-US" sz="1000" baseline="0" dirty="0" smtClean="0">
                <a:sym typeface="Wingdings" panose="05000000000000000000" pitchFamily="2" charset="2"/>
              </a:rPr>
              <a:t> pressure decreasing faster due to higher depletion rate while maintaining stable lift</a:t>
            </a:r>
          </a:p>
          <a:p>
            <a:endParaRPr lang="en-US" sz="1000" baseline="0" dirty="0" smtClean="0">
              <a:sym typeface="Wingdings" panose="05000000000000000000" pitchFamily="2" charset="2"/>
            </a:endParaRPr>
          </a:p>
          <a:p>
            <a:r>
              <a:rPr lang="en-US" sz="1800" dirty="0" smtClean="0"/>
              <a:t>The Value of Intelligent Autonomous Control:</a:t>
            </a:r>
          </a:p>
          <a:p>
            <a:r>
              <a:rPr lang="en-US" sz="100" dirty="0" smtClean="0"/>
              <a:t> </a:t>
            </a:r>
          </a:p>
          <a:p>
            <a:pPr marL="403225" lvl="1" indent="-173038"/>
            <a:r>
              <a:rPr lang="en-US" sz="1400" dirty="0" smtClean="0"/>
              <a:t>Autonomous continual optimization: sustained production uplift</a:t>
            </a:r>
          </a:p>
          <a:p>
            <a:pPr marL="403225" lvl="1" indent="-173038"/>
            <a:r>
              <a:rPr lang="en-US" sz="1400" dirty="0" smtClean="0"/>
              <a:t>Reservoir management: drawdown optimization</a:t>
            </a:r>
          </a:p>
          <a:p>
            <a:pPr marL="403225" lvl="1" indent="-173038"/>
            <a:r>
              <a:rPr lang="en-US" sz="1400" dirty="0" smtClean="0"/>
              <a:t>LOE: stable and consistent ops &amp; downtime reduction</a:t>
            </a:r>
          </a:p>
          <a:p>
            <a:pPr marL="403225" lvl="1" indent="-173038"/>
            <a:r>
              <a:rPr lang="en-US" sz="1400" dirty="0" smtClean="0"/>
              <a:t>Efficiency: do more with less , every well matters </a:t>
            </a:r>
          </a:p>
          <a:p>
            <a:endParaRPr lang="en-US" sz="1000" baseline="0" dirty="0" smtClean="0">
              <a:sym typeface="Wingdings" panose="05000000000000000000" pitchFamily="2" charset="2"/>
            </a:endParaRPr>
          </a:p>
        </p:txBody>
      </p:sp>
      <p:sp>
        <p:nvSpPr>
          <p:cNvPr id="4" name="Slide Number Placeholder 3"/>
          <p:cNvSpPr>
            <a:spLocks noGrp="1"/>
          </p:cNvSpPr>
          <p:nvPr>
            <p:ph type="sldNum" sz="quarter" idx="10"/>
          </p:nvPr>
        </p:nvSpPr>
        <p:spPr/>
        <p:txBody>
          <a:bodyPr/>
          <a:lstStyle/>
          <a:p>
            <a:fld id="{4E409A81-FFB6-4C69-AAF3-BA8570DA4C2C}" type="slidenum">
              <a:rPr lang="en-US" smtClean="0"/>
              <a:t>15</a:t>
            </a:fld>
            <a:endParaRPr lang="en-US"/>
          </a:p>
        </p:txBody>
      </p:sp>
    </p:spTree>
    <p:extLst>
      <p:ext uri="{BB962C8B-B14F-4D97-AF65-F5344CB8AC3E}">
        <p14:creationId xmlns:p14="http://schemas.microsoft.com/office/powerpoint/2010/main" val="3747027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17</a:t>
            </a:fld>
            <a:endParaRPr lang="en-US"/>
          </a:p>
        </p:txBody>
      </p:sp>
    </p:spTree>
    <p:extLst>
      <p:ext uri="{BB962C8B-B14F-4D97-AF65-F5344CB8AC3E}">
        <p14:creationId xmlns:p14="http://schemas.microsoft.com/office/powerpoint/2010/main" val="2386452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Automated workflow analyzes intraday produced volumes and flags wells that are not on trend to meet the production target and provides information on the root cause of the production shortfall</a:t>
            </a:r>
          </a:p>
          <a:p>
            <a:endParaRPr lang="en-US" sz="2000" dirty="0" smtClean="0"/>
          </a:p>
          <a:p>
            <a:r>
              <a:rPr lang="en-US" sz="2000" dirty="0" smtClean="0"/>
              <a:t>Provides real time field performance insight</a:t>
            </a:r>
          </a:p>
          <a:p>
            <a:r>
              <a:rPr lang="en-US" sz="2000" dirty="0" smtClean="0"/>
              <a:t>Flagging wells that aren’t meeting production target</a:t>
            </a:r>
          </a:p>
          <a:p>
            <a:pPr lvl="1"/>
            <a:r>
              <a:rPr lang="en-US" sz="1800" dirty="0" smtClean="0"/>
              <a:t>Whichever is higher between MBX &amp; 30 Day Average</a:t>
            </a:r>
          </a:p>
          <a:p>
            <a:pPr lvl="1"/>
            <a:r>
              <a:rPr lang="en-US" sz="1800" dirty="0" smtClean="0"/>
              <a:t>12 hour target calculated every hour</a:t>
            </a:r>
          </a:p>
          <a:p>
            <a:pPr lvl="1"/>
            <a:r>
              <a:rPr lang="en-US" sz="1800" dirty="0" smtClean="0"/>
              <a:t>Can slice production delta several different ways</a:t>
            </a:r>
          </a:p>
          <a:p>
            <a:r>
              <a:rPr lang="en-US" sz="2000" dirty="0" smtClean="0"/>
              <a:t>Currently Flagging +/300 wells not meeting target</a:t>
            </a:r>
          </a:p>
          <a:p>
            <a:pPr lvl="1"/>
            <a:r>
              <a:rPr lang="en-US" sz="1800" dirty="0" smtClean="0"/>
              <a:t>Some wells may be planned downtime</a:t>
            </a:r>
          </a:p>
          <a:p>
            <a:pPr lvl="1"/>
            <a:r>
              <a:rPr lang="en-US" sz="1800" dirty="0" smtClean="0"/>
              <a:t>Working with Ops to track downtime better</a:t>
            </a:r>
          </a:p>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19</a:t>
            </a:fld>
            <a:endParaRPr lang="en-US"/>
          </a:p>
        </p:txBody>
      </p:sp>
    </p:spTree>
    <p:extLst>
      <p:ext uri="{BB962C8B-B14F-4D97-AF65-F5344CB8AC3E}">
        <p14:creationId xmlns:p14="http://schemas.microsoft.com/office/powerpoint/2010/main" val="3120300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20</a:t>
            </a:fld>
            <a:endParaRPr lang="en-US"/>
          </a:p>
        </p:txBody>
      </p:sp>
    </p:spTree>
    <p:extLst>
      <p:ext uri="{BB962C8B-B14F-4D97-AF65-F5344CB8AC3E}">
        <p14:creationId xmlns:p14="http://schemas.microsoft.com/office/powerpoint/2010/main" val="3408224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21</a:t>
            </a:fld>
            <a:endParaRPr lang="en-US"/>
          </a:p>
        </p:txBody>
      </p:sp>
    </p:spTree>
    <p:extLst>
      <p:ext uri="{BB962C8B-B14F-4D97-AF65-F5344CB8AC3E}">
        <p14:creationId xmlns:p14="http://schemas.microsoft.com/office/powerpoint/2010/main" val="2188093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Fast Plunger Arrivals:</a:t>
            </a:r>
            <a:r>
              <a:rPr lang="en-US" sz="1200" baseline="0" dirty="0" smtClean="0"/>
              <a:t> </a:t>
            </a:r>
            <a:r>
              <a:rPr lang="en-US" sz="1200" dirty="0" smtClean="0"/>
              <a:t>Caused by poor seal from plunger wear or casing build up pressure too high</a:t>
            </a:r>
          </a:p>
          <a:p>
            <a:endParaRPr lang="en-US" dirty="0" smtClean="0"/>
          </a:p>
          <a:p>
            <a:r>
              <a:rPr lang="en-US" dirty="0" smtClean="0"/>
              <a:t>Quantify value associated with slow / fast</a:t>
            </a:r>
            <a:r>
              <a:rPr lang="en-US" baseline="0" dirty="0" smtClean="0"/>
              <a:t> or missed plunger arrivals</a:t>
            </a:r>
          </a:p>
        </p:txBody>
      </p:sp>
      <p:sp>
        <p:nvSpPr>
          <p:cNvPr id="4" name="Slide Number Placeholder 3"/>
          <p:cNvSpPr>
            <a:spLocks noGrp="1"/>
          </p:cNvSpPr>
          <p:nvPr>
            <p:ph type="sldNum" sz="quarter" idx="10"/>
          </p:nvPr>
        </p:nvSpPr>
        <p:spPr/>
        <p:txBody>
          <a:bodyPr/>
          <a:lstStyle/>
          <a:p>
            <a:fld id="{45F9C163-CD44-4BD1-A1F4-FB76ECA9237D}" type="slidenum">
              <a:rPr lang="en-US" smtClean="0"/>
              <a:t>22</a:t>
            </a:fld>
            <a:endParaRPr lang="en-US"/>
          </a:p>
        </p:txBody>
      </p:sp>
    </p:spTree>
    <p:extLst>
      <p:ext uri="{BB962C8B-B14F-4D97-AF65-F5344CB8AC3E}">
        <p14:creationId xmlns:p14="http://schemas.microsoft.com/office/powerpoint/2010/main" val="1485207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 packers so BHP increase is monitored with casing pressure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Slug Volume Increasing at rate of 3 bpd</a:t>
            </a:r>
          </a:p>
          <a:p>
            <a:endParaRPr lang="en-US" dirty="0" smtClean="0"/>
          </a:p>
          <a:p>
            <a:endParaRPr lang="en-US" dirty="0" smtClean="0"/>
          </a:p>
          <a:p>
            <a:r>
              <a:rPr lang="en-US" dirty="0" smtClean="0"/>
              <a:t>Positive casing slope over 6 psi/day and negative tubing</a:t>
            </a:r>
            <a:r>
              <a:rPr lang="en-US" baseline="0" dirty="0" smtClean="0"/>
              <a:t> slope</a:t>
            </a:r>
          </a:p>
          <a:p>
            <a:r>
              <a:rPr lang="en-US" baseline="0" dirty="0" smtClean="0"/>
              <a:t>First Threshold: Line and casing pressure delta over 10 psi / day</a:t>
            </a:r>
          </a:p>
          <a:p>
            <a:r>
              <a:rPr lang="en-US" baseline="0" dirty="0" smtClean="0"/>
              <a:t>Second Threshold: Less than 0 trips in the last 12 </a:t>
            </a:r>
            <a:r>
              <a:rPr lang="en-US" baseline="0" dirty="0" err="1" smtClean="0"/>
              <a:t>hrs</a:t>
            </a:r>
            <a:endParaRPr lang="en-US" baseline="0" dirty="0" smtClean="0"/>
          </a:p>
          <a:p>
            <a:endParaRPr lang="en-US" dirty="0" smtClean="0"/>
          </a:p>
          <a:p>
            <a:r>
              <a:rPr lang="en-US" dirty="0" smtClean="0"/>
              <a:t>How is the slug volume calculated?</a:t>
            </a:r>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25</a:t>
            </a:fld>
            <a:endParaRPr lang="en-US"/>
          </a:p>
        </p:txBody>
      </p:sp>
    </p:spTree>
    <p:extLst>
      <p:ext uri="{BB962C8B-B14F-4D97-AF65-F5344CB8AC3E}">
        <p14:creationId xmlns:p14="http://schemas.microsoft.com/office/powerpoint/2010/main" val="1984502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Automated workflow provided</a:t>
            </a:r>
            <a:r>
              <a:rPr lang="en-US" baseline="0" dirty="0" smtClean="0"/>
              <a:t> guidance on choke management. One step every two weeks after POL. Then 90 days after. Reviews RPI plot following choke bumps</a:t>
            </a:r>
            <a:endParaRPr lang="en-US" dirty="0"/>
          </a:p>
        </p:txBody>
      </p:sp>
      <p:sp>
        <p:nvSpPr>
          <p:cNvPr id="4" name="Slide Number Placeholder 3"/>
          <p:cNvSpPr>
            <a:spLocks noGrp="1"/>
          </p:cNvSpPr>
          <p:nvPr>
            <p:ph type="sldNum" sz="quarter" idx="10"/>
          </p:nvPr>
        </p:nvSpPr>
        <p:spPr/>
        <p:txBody>
          <a:bodyPr/>
          <a:lstStyle/>
          <a:p>
            <a:fld id="{A342D247-FE67-4647-A9AE-FAA4EFAAB716}" type="slidenum">
              <a:rPr lang="en-US" smtClean="0"/>
              <a:t>29</a:t>
            </a:fld>
            <a:endParaRPr lang="en-US"/>
          </a:p>
        </p:txBody>
      </p:sp>
    </p:spTree>
    <p:extLst>
      <p:ext uri="{BB962C8B-B14F-4D97-AF65-F5344CB8AC3E}">
        <p14:creationId xmlns:p14="http://schemas.microsoft.com/office/powerpoint/2010/main" val="1362423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Sum the first 2 buckets</a:t>
            </a:r>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31</a:t>
            </a:fld>
            <a:endParaRPr lang="en-US"/>
          </a:p>
        </p:txBody>
      </p:sp>
    </p:spTree>
    <p:extLst>
      <p:ext uri="{BB962C8B-B14F-4D97-AF65-F5344CB8AC3E}">
        <p14:creationId xmlns:p14="http://schemas.microsoft.com/office/powerpoint/2010/main" val="3017597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Production Tracker flagged</a:t>
            </a:r>
            <a:r>
              <a:rPr lang="en-US" baseline="0" dirty="0" smtClean="0"/>
              <a:t> exceptions $60/</a:t>
            </a:r>
            <a:r>
              <a:rPr lang="en-US" baseline="0" dirty="0" err="1" smtClean="0"/>
              <a:t>bbl</a:t>
            </a:r>
            <a:r>
              <a:rPr lang="en-US" baseline="0" dirty="0" smtClean="0"/>
              <a:t> Gross</a:t>
            </a:r>
            <a:endParaRPr lang="en-US" dirty="0"/>
          </a:p>
        </p:txBody>
      </p:sp>
      <p:sp>
        <p:nvSpPr>
          <p:cNvPr id="4" name="Slide Number Placeholder 3"/>
          <p:cNvSpPr>
            <a:spLocks noGrp="1"/>
          </p:cNvSpPr>
          <p:nvPr>
            <p:ph type="sldNum" sz="quarter" idx="10"/>
          </p:nvPr>
        </p:nvSpPr>
        <p:spPr/>
        <p:txBody>
          <a:bodyPr/>
          <a:lstStyle/>
          <a:p>
            <a:fld id="{45F9C163-CD44-4BD1-A1F4-FB76ECA9237D}" type="slidenum">
              <a:rPr lang="en-US" smtClean="0"/>
              <a:t>32</a:t>
            </a:fld>
            <a:endParaRPr lang="en-US"/>
          </a:p>
        </p:txBody>
      </p:sp>
    </p:spTree>
    <p:extLst>
      <p:ext uri="{BB962C8B-B14F-4D97-AF65-F5344CB8AC3E}">
        <p14:creationId xmlns:p14="http://schemas.microsoft.com/office/powerpoint/2010/main" val="34067822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8" name="Group 7"/>
          <p:cNvGrpSpPr/>
          <p:nvPr userDrawn="1"/>
        </p:nvGrpSpPr>
        <p:grpSpPr>
          <a:xfrm>
            <a:off x="5803555" y="6022053"/>
            <a:ext cx="375864" cy="93046"/>
            <a:chOff x="5803555" y="837398"/>
            <a:chExt cx="375864" cy="93046"/>
          </a:xfrm>
        </p:grpSpPr>
        <p:cxnSp>
          <p:nvCxnSpPr>
            <p:cNvPr id="9" name="Straight Connector 8"/>
            <p:cNvCxnSpPr/>
            <p:nvPr/>
          </p:nvCxnSpPr>
          <p:spPr>
            <a:xfrm>
              <a:off x="5803555" y="837398"/>
              <a:ext cx="375864" cy="0"/>
            </a:xfrm>
            <a:prstGeom prst="line">
              <a:avLst/>
            </a:prstGeom>
            <a:ln w="15875">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938787" y="883921"/>
              <a:ext cx="240632" cy="0"/>
            </a:xfrm>
            <a:prstGeom prst="line">
              <a:avLst/>
            </a:prstGeom>
            <a:ln w="15875">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059103" y="930444"/>
              <a:ext cx="120316" cy="0"/>
            </a:xfrm>
            <a:prstGeom prst="line">
              <a:avLst/>
            </a:prstGeom>
            <a:ln w="15875">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pic>
        <p:nvPicPr>
          <p:cNvPr id="12" name="Picture 11"/>
          <p:cNvPicPr>
            <a:picLocks noChangeAspect="1"/>
          </p:cNvPicPr>
          <p:nvPr userDrawn="1"/>
        </p:nvPicPr>
        <p:blipFill rotWithShape="1">
          <a:blip r:embed="rId3">
            <a:extLst>
              <a:ext uri="{28A0092B-C50C-407E-A947-70E740481C1C}">
                <a14:useLocalDpi xmlns:a14="http://schemas.microsoft.com/office/drawing/2010/main" val="0"/>
              </a:ext>
            </a:extLst>
          </a:blip>
          <a:srcRect l="21130" t="21865" r="1161" b="20439"/>
          <a:stretch/>
        </p:blipFill>
        <p:spPr>
          <a:xfrm>
            <a:off x="593492" y="456940"/>
            <a:ext cx="2902418" cy="1665171"/>
          </a:xfrm>
          <a:prstGeom prst="rect">
            <a:avLst/>
          </a:prstGeom>
        </p:spPr>
      </p:pic>
      <p:sp>
        <p:nvSpPr>
          <p:cNvPr id="2" name="Title 1"/>
          <p:cNvSpPr>
            <a:spLocks noGrp="1"/>
          </p:cNvSpPr>
          <p:nvPr>
            <p:ph type="ctrTitle" hasCustomPrompt="1"/>
          </p:nvPr>
        </p:nvSpPr>
        <p:spPr>
          <a:xfrm>
            <a:off x="1061987" y="3008565"/>
            <a:ext cx="9144000" cy="1863764"/>
          </a:xfrm>
          <a:effectLst>
            <a:outerShdw blurRad="101600" dist="76200" dir="2700000" algn="tl" rotWithShape="0">
              <a:prstClr val="black">
                <a:alpha val="33000"/>
              </a:prstClr>
            </a:outerShdw>
          </a:effectLst>
        </p:spPr>
        <p:txBody>
          <a:bodyPr anchor="b">
            <a:noAutofit/>
          </a:bodyPr>
          <a:lstStyle>
            <a:lvl1pPr algn="l">
              <a:defRPr sz="6600" b="1">
                <a:latin typeface="+mn-lt"/>
              </a:defRPr>
            </a:lvl1pPr>
          </a:lstStyle>
          <a:p>
            <a:r>
              <a:rPr lang="en-US" dirty="0" smtClean="0"/>
              <a:t>TITLE SLIDE GOES HERE</a:t>
            </a:r>
            <a:endParaRPr lang="en-US" dirty="0"/>
          </a:p>
        </p:txBody>
      </p:sp>
      <p:sp>
        <p:nvSpPr>
          <p:cNvPr id="3" name="Subtitle 2"/>
          <p:cNvSpPr>
            <a:spLocks noGrp="1"/>
          </p:cNvSpPr>
          <p:nvPr>
            <p:ph type="subTitle" idx="1" hasCustomPrompt="1"/>
          </p:nvPr>
        </p:nvSpPr>
        <p:spPr>
          <a:xfrm>
            <a:off x="1061987" y="4918851"/>
            <a:ext cx="9144000" cy="551046"/>
          </a:xfrm>
          <a:effectLst>
            <a:outerShdw blurRad="50800" dist="38100" dir="2700000" algn="tl" rotWithShape="0">
              <a:prstClr val="black">
                <a:alpha val="40000"/>
              </a:prstClr>
            </a:outerShdw>
          </a:effectLst>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C0B226CE-163D-489D-8E0F-6E1A2B308253}"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307091374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65923148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D08A7C6-540B-4304-AD67-0EA041CA6402}"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3253466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8A0CD7-C05D-473B-87FE-A945B36846C4}" type="datetime1">
              <a:rPr lang="en-US" smtClean="0"/>
              <a:t>8/28/2018</a:t>
            </a:fld>
            <a:endParaRPr lang="en-US"/>
          </a:p>
        </p:txBody>
      </p:sp>
      <p:sp>
        <p:nvSpPr>
          <p:cNvPr id="6" name="Footer Placeholder 5"/>
          <p:cNvSpPr>
            <a:spLocks noGrp="1"/>
          </p:cNvSpPr>
          <p:nvPr>
            <p:ph type="ftr" sz="quarter" idx="11"/>
          </p:nvPr>
        </p:nvSpPr>
        <p:spPr/>
        <p:txBody>
          <a:bodyPr/>
          <a:lstStyle/>
          <a:p>
            <a:r>
              <a:rPr lang="en-US" smtClean="0"/>
              <a:t>ANADARKO DJ BASIN</a:t>
            </a:r>
            <a:endParaRPr lang="en-US"/>
          </a:p>
        </p:txBody>
      </p:sp>
      <p:sp>
        <p:nvSpPr>
          <p:cNvPr id="7" name="Slide Number Placeholder 6"/>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489677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629A47-6028-43C1-8DB1-3DEEA01220CD}" type="datetime1">
              <a:rPr lang="en-US" smtClean="0"/>
              <a:t>8/28/2018</a:t>
            </a:fld>
            <a:endParaRPr lang="en-US"/>
          </a:p>
        </p:txBody>
      </p:sp>
      <p:sp>
        <p:nvSpPr>
          <p:cNvPr id="8" name="Footer Placeholder 7"/>
          <p:cNvSpPr>
            <a:spLocks noGrp="1"/>
          </p:cNvSpPr>
          <p:nvPr>
            <p:ph type="ftr" sz="quarter" idx="11"/>
          </p:nvPr>
        </p:nvSpPr>
        <p:spPr/>
        <p:txBody>
          <a:bodyPr/>
          <a:lstStyle/>
          <a:p>
            <a:r>
              <a:rPr lang="en-US" smtClean="0"/>
              <a:t>ANADARKO DJ BASIN</a:t>
            </a:r>
            <a:endParaRPr lang="en-US"/>
          </a:p>
        </p:txBody>
      </p:sp>
      <p:sp>
        <p:nvSpPr>
          <p:cNvPr id="9" name="Slide Number Placeholder 8"/>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2973019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D2EC1D-6F73-406D-9368-46890FC0A1A4}" type="datetime1">
              <a:rPr lang="en-US" smtClean="0"/>
              <a:t>8/28/2018</a:t>
            </a:fld>
            <a:endParaRPr lang="en-US"/>
          </a:p>
        </p:txBody>
      </p:sp>
      <p:sp>
        <p:nvSpPr>
          <p:cNvPr id="4" name="Footer Placeholder 3"/>
          <p:cNvSpPr>
            <a:spLocks noGrp="1"/>
          </p:cNvSpPr>
          <p:nvPr>
            <p:ph type="ftr" sz="quarter" idx="11"/>
          </p:nvPr>
        </p:nvSpPr>
        <p:spPr/>
        <p:txBody>
          <a:bodyPr/>
          <a:lstStyle/>
          <a:p>
            <a:r>
              <a:rPr lang="en-US" smtClean="0"/>
              <a:t>ANADARKO DJ BASIN</a:t>
            </a:r>
            <a:endParaRPr lang="en-US"/>
          </a:p>
        </p:txBody>
      </p:sp>
      <p:sp>
        <p:nvSpPr>
          <p:cNvPr id="5" name="Slide Number Placeholder 4"/>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152158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B07595-15A8-483C-B7D8-0E4FD97932CE}" type="datetime1">
              <a:rPr lang="en-US" smtClean="0"/>
              <a:t>8/28/2018</a:t>
            </a:fld>
            <a:endParaRPr lang="en-US"/>
          </a:p>
        </p:txBody>
      </p:sp>
      <p:sp>
        <p:nvSpPr>
          <p:cNvPr id="3" name="Footer Placeholder 2"/>
          <p:cNvSpPr>
            <a:spLocks noGrp="1"/>
          </p:cNvSpPr>
          <p:nvPr>
            <p:ph type="ftr" sz="quarter" idx="11"/>
          </p:nvPr>
        </p:nvSpPr>
        <p:spPr/>
        <p:txBody>
          <a:bodyPr/>
          <a:lstStyle/>
          <a:p>
            <a:r>
              <a:rPr lang="en-US" smtClean="0"/>
              <a:t>ANADARKO DJ BASIN</a:t>
            </a:r>
            <a:endParaRPr lang="en-US"/>
          </a:p>
        </p:txBody>
      </p:sp>
      <p:sp>
        <p:nvSpPr>
          <p:cNvPr id="4" name="Slide Number Placeholder 3"/>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2409248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31324E8-8F65-4C6E-9989-E263D939AD2F}" type="datetime1">
              <a:rPr lang="en-US" smtClean="0"/>
              <a:t>8/28/2018</a:t>
            </a:fld>
            <a:endParaRPr lang="en-US"/>
          </a:p>
        </p:txBody>
      </p:sp>
      <p:sp>
        <p:nvSpPr>
          <p:cNvPr id="6" name="Footer Placeholder 5"/>
          <p:cNvSpPr>
            <a:spLocks noGrp="1"/>
          </p:cNvSpPr>
          <p:nvPr>
            <p:ph type="ftr" sz="quarter" idx="11"/>
          </p:nvPr>
        </p:nvSpPr>
        <p:spPr/>
        <p:txBody>
          <a:bodyPr/>
          <a:lstStyle/>
          <a:p>
            <a:r>
              <a:rPr lang="en-US" smtClean="0"/>
              <a:t>ANADARKO DJ BASIN</a:t>
            </a:r>
            <a:endParaRPr lang="en-US"/>
          </a:p>
        </p:txBody>
      </p:sp>
      <p:sp>
        <p:nvSpPr>
          <p:cNvPr id="7" name="Slide Number Placeholder 6"/>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976643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DDAC204-3B7B-416B-A233-3D581F597896}" type="datetime1">
              <a:rPr lang="en-US" smtClean="0"/>
              <a:t>8/28/2018</a:t>
            </a:fld>
            <a:endParaRPr lang="en-US"/>
          </a:p>
        </p:txBody>
      </p:sp>
      <p:sp>
        <p:nvSpPr>
          <p:cNvPr id="6" name="Footer Placeholder 5"/>
          <p:cNvSpPr>
            <a:spLocks noGrp="1"/>
          </p:cNvSpPr>
          <p:nvPr>
            <p:ph type="ftr" sz="quarter" idx="11"/>
          </p:nvPr>
        </p:nvSpPr>
        <p:spPr/>
        <p:txBody>
          <a:bodyPr/>
          <a:lstStyle/>
          <a:p>
            <a:r>
              <a:rPr lang="en-US" smtClean="0"/>
              <a:t>ANADARKO DJ BASIN</a:t>
            </a:r>
            <a:endParaRPr lang="en-US"/>
          </a:p>
        </p:txBody>
      </p:sp>
      <p:sp>
        <p:nvSpPr>
          <p:cNvPr id="7" name="Slide Number Placeholder 6"/>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2898367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787F06-6A60-4D8A-8A04-9045CCE523AF}"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169958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49A504-F3FE-4C64-8D04-315DD1D9F0FD}"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a:t>
            </a:fld>
            <a:endParaRPr lang="en-US"/>
          </a:p>
        </p:txBody>
      </p:sp>
    </p:spTree>
    <p:extLst>
      <p:ext uri="{BB962C8B-B14F-4D97-AF65-F5344CB8AC3E}">
        <p14:creationId xmlns:p14="http://schemas.microsoft.com/office/powerpoint/2010/main" val="1251717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fld id="{CBC2E174-4C28-4A87-9812-668938BEC39B}" type="slidenum">
              <a:rPr lang="en-US" smtClean="0"/>
              <a:pPr/>
              <a:t>‹#›</a:t>
            </a:fld>
            <a:endParaRPr lang="en-US"/>
          </a:p>
        </p:txBody>
      </p:sp>
      <p:sp>
        <p:nvSpPr>
          <p:cNvPr id="4" name="Text Placeholder 3"/>
          <p:cNvSpPr>
            <a:spLocks noGrp="1"/>
          </p:cNvSpPr>
          <p:nvPr>
            <p:ph type="body" sz="quarter" idx="13"/>
          </p:nvPr>
        </p:nvSpPr>
        <p:spPr>
          <a:xfrm>
            <a:off x="189296" y="1212783"/>
            <a:ext cx="11796713" cy="508165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6" name="Straight Connector 5"/>
          <p:cNvCxnSpPr/>
          <p:nvPr userDrawn="1"/>
        </p:nvCxnSpPr>
        <p:spPr bwMode="auto">
          <a:xfrm>
            <a:off x="276225" y="1017730"/>
            <a:ext cx="9638740" cy="0"/>
          </a:xfrm>
          <a:prstGeom prst="line">
            <a:avLst/>
          </a:prstGeom>
          <a:ln w="63500" cap="sq" cmpd="sng">
            <a:gradFill>
              <a:gsLst>
                <a:gs pos="0">
                  <a:srgbClr val="E4E5E7"/>
                </a:gs>
                <a:gs pos="100000">
                  <a:srgbClr val="0B3F78"/>
                </a:gs>
              </a:gsLst>
              <a:lin ang="10800000" scaled="0"/>
            </a:gradFill>
            <a:headEnd type="none" w="med" len="med"/>
            <a:tailEnd type="none" w="med" len="med"/>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29186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270937" y="1063207"/>
            <a:ext cx="9700839" cy="5074803"/>
          </a:xfrm>
        </p:spPr>
        <p:txBody>
          <a:bodyPr/>
          <a:lstStyle>
            <a:lvl1pPr>
              <a:spcBef>
                <a:spcPts val="1125"/>
              </a:spcBef>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fld id="{CBC2E174-4C28-4A87-9812-668938BEC39B}" type="slidenum">
              <a:rPr lang="en-US" smtClean="0"/>
              <a:t>‹#›</a:t>
            </a:fld>
            <a:endParaRPr lang="en-US"/>
          </a:p>
        </p:txBody>
      </p:sp>
    </p:spTree>
    <p:extLst>
      <p:ext uri="{BB962C8B-B14F-4D97-AF65-F5344CB8AC3E}">
        <p14:creationId xmlns:p14="http://schemas.microsoft.com/office/powerpoint/2010/main" val="1811526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220747"/>
            <a:ext cx="10515600" cy="923842"/>
          </a:xfrm>
          <a:prstGeom prst="rect">
            <a:avLst/>
          </a:prstGeom>
          <a:effectLst>
            <a:outerShdw blurRad="50800" dist="38100" dir="2700000" algn="tl" rotWithShape="0">
              <a:prstClr val="black">
                <a:alpha val="40000"/>
              </a:prstClr>
            </a:outerShdw>
          </a:effectLst>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581348"/>
            <a:ext cx="10515600" cy="459561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FBD399-6CCB-4199-BE2F-13963EB6502A}" type="datetime1">
              <a:rPr lang="en-US" smtClean="0"/>
              <a:t>8/28/2018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ANADARKO DJ BASIN</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806ECE-C1FD-48AE-9B78-00CD1DA05ECA}" type="slidenum">
              <a:rPr lang="en-US" smtClean="0"/>
              <a:t>‹#›</a:t>
            </a:fld>
            <a:endParaRPr lang="en-US"/>
          </a:p>
        </p:txBody>
      </p:sp>
      <p:pic>
        <p:nvPicPr>
          <p:cNvPr id="8" name="Picture 7"/>
          <p:cNvPicPr>
            <a:picLocks noChangeAspect="1"/>
          </p:cNvPicPr>
          <p:nvPr userDrawn="1"/>
        </p:nvPicPr>
        <p:blipFill rotWithShape="1">
          <a:blip r:embed="rId16" cstate="print">
            <a:extLst>
              <a:ext uri="{28A0092B-C50C-407E-A947-70E740481C1C}">
                <a14:useLocalDpi xmlns:a14="http://schemas.microsoft.com/office/drawing/2010/main" val="0"/>
              </a:ext>
            </a:extLst>
          </a:blip>
          <a:srcRect l="22059" t="27358" r="31626" b="21875"/>
          <a:stretch/>
        </p:blipFill>
        <p:spPr>
          <a:xfrm>
            <a:off x="10102693" y="135531"/>
            <a:ext cx="1419983" cy="1202724"/>
          </a:xfrm>
          <a:prstGeom prst="rect">
            <a:avLst/>
          </a:prstGeom>
        </p:spPr>
      </p:pic>
    </p:spTree>
    <p:extLst>
      <p:ext uri="{BB962C8B-B14F-4D97-AF65-F5344CB8AC3E}">
        <p14:creationId xmlns:p14="http://schemas.microsoft.com/office/powerpoint/2010/main" val="199066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1" r:id="rId12"/>
    <p:sldLayoutId id="2147483672" r:id="rId13"/>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i="1"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i="1"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13.png"/><Relationship Id="rId5" Type="http://schemas.openxmlformats.org/officeDocument/2006/relationships/diagramQuickStyle" Target="../diagrams/quickStyle2.xml"/><Relationship Id="rId10" Type="http://schemas.openxmlformats.org/officeDocument/2006/relationships/image" Target="../media/image17.png"/><Relationship Id="rId4" Type="http://schemas.openxmlformats.org/officeDocument/2006/relationships/diagramLayout" Target="../diagrams/layout2.xml"/><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1987" y="3008565"/>
            <a:ext cx="9772790" cy="1863764"/>
          </a:xfrm>
        </p:spPr>
        <p:txBody>
          <a:bodyPr/>
          <a:lstStyle/>
          <a:p>
            <a:r>
              <a:rPr lang="en-US" dirty="0" smtClean="0"/>
              <a:t>IAM: Digital </a:t>
            </a:r>
            <a:r>
              <a:rPr lang="en-US" dirty="0"/>
              <a:t>Oil Field Application </a:t>
            </a:r>
            <a:r>
              <a:rPr lang="en-US" dirty="0" smtClean="0"/>
              <a:t>in Anadarko’s DJ </a:t>
            </a:r>
            <a:r>
              <a:rPr lang="en-US" dirty="0"/>
              <a:t>Basin</a:t>
            </a:r>
          </a:p>
        </p:txBody>
      </p:sp>
      <p:sp>
        <p:nvSpPr>
          <p:cNvPr id="3" name="Subtitle 2"/>
          <p:cNvSpPr>
            <a:spLocks noGrp="1"/>
          </p:cNvSpPr>
          <p:nvPr>
            <p:ph type="subTitle" idx="1"/>
          </p:nvPr>
        </p:nvSpPr>
        <p:spPr/>
        <p:txBody>
          <a:bodyPr/>
          <a:lstStyle/>
          <a:p>
            <a:r>
              <a:rPr lang="en-US" dirty="0" smtClean="0"/>
              <a:t>September 6</a:t>
            </a:r>
            <a:r>
              <a:rPr lang="en-US" baseline="30000" dirty="0" smtClean="0"/>
              <a:t>th</a:t>
            </a:r>
            <a:r>
              <a:rPr lang="en-US" dirty="0" smtClean="0"/>
              <a:t>, 2018</a:t>
            </a:r>
            <a:endParaRPr lang="en-US" dirty="0"/>
          </a:p>
        </p:txBody>
      </p:sp>
    </p:spTree>
    <p:extLst>
      <p:ext uri="{BB962C8B-B14F-4D97-AF65-F5344CB8AC3E}">
        <p14:creationId xmlns:p14="http://schemas.microsoft.com/office/powerpoint/2010/main" val="11846191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a:xfrm>
            <a:off x="838200" y="1581348"/>
            <a:ext cx="10678064" cy="4595615"/>
          </a:xfrm>
        </p:spPr>
        <p:txBody>
          <a:bodyPr>
            <a:normAutofit lnSpcReduction="10000"/>
          </a:bodyPr>
          <a:lstStyle/>
          <a:p>
            <a:r>
              <a:rPr lang="en-US" dirty="0" smtClean="0"/>
              <a:t>Introduction</a:t>
            </a:r>
          </a:p>
          <a:p>
            <a:pPr lvl="1"/>
            <a:r>
              <a:rPr lang="en-US" dirty="0" smtClean="0"/>
              <a:t>Who we are</a:t>
            </a:r>
          </a:p>
          <a:p>
            <a:pPr lvl="1"/>
            <a:r>
              <a:rPr lang="en-US" dirty="0" smtClean="0"/>
              <a:t>What we do</a:t>
            </a:r>
          </a:p>
          <a:p>
            <a:pPr lvl="1"/>
            <a:r>
              <a:rPr lang="en-US" dirty="0" smtClean="0"/>
              <a:t>What is Digital Oil Field (DOF)?</a:t>
            </a:r>
          </a:p>
          <a:p>
            <a:r>
              <a:rPr lang="en-US" dirty="0" smtClean="0"/>
              <a:t>Business Impact</a:t>
            </a:r>
            <a:endParaRPr lang="en-US" dirty="0" smtClean="0"/>
          </a:p>
          <a:p>
            <a:pPr lvl="1"/>
            <a:r>
              <a:rPr lang="en-US" dirty="0" smtClean="0"/>
              <a:t>Horizontal Well/Facility Surveillance</a:t>
            </a:r>
          </a:p>
          <a:p>
            <a:pPr lvl="1"/>
            <a:r>
              <a:rPr lang="en-US" dirty="0" smtClean="0"/>
              <a:t>Drawdown Test Management</a:t>
            </a:r>
          </a:p>
          <a:p>
            <a:pPr lvl="1"/>
            <a:r>
              <a:rPr lang="en-US" dirty="0" smtClean="0"/>
              <a:t>Well Modelling/ Automated Well Based Forecasting</a:t>
            </a:r>
          </a:p>
          <a:p>
            <a:pPr lvl="1"/>
            <a:r>
              <a:rPr lang="en-US" dirty="0" smtClean="0"/>
              <a:t>Midstream Management</a:t>
            </a:r>
          </a:p>
          <a:p>
            <a:r>
              <a:rPr lang="en-US" dirty="0" smtClean="0"/>
              <a:t>Future Plans</a:t>
            </a:r>
          </a:p>
          <a:p>
            <a:pPr lvl="1"/>
            <a:r>
              <a:rPr lang="en-US" dirty="0" smtClean="0"/>
              <a:t>Closed Loop Automation: Intelligent Control</a:t>
            </a:r>
            <a:endParaRPr lang="en-US" dirty="0" smtClean="0"/>
          </a:p>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dirty="0"/>
          </a:p>
        </p:txBody>
      </p:sp>
      <p:sp>
        <p:nvSpPr>
          <p:cNvPr id="5" name="Footer Placeholder 4"/>
          <p:cNvSpPr>
            <a:spLocks noGrp="1"/>
          </p:cNvSpPr>
          <p:nvPr>
            <p:ph type="ftr" sz="quarter" idx="11"/>
          </p:nvPr>
        </p:nvSpPr>
        <p:spPr/>
        <p:txBody>
          <a:bodyPr/>
          <a:lstStyle/>
          <a:p>
            <a:r>
              <a:rPr lang="en-US" dirty="0" smtClean="0"/>
              <a:t>ANADARKO DJ BASIN</a:t>
            </a:r>
            <a:endParaRPr lang="en-US" dirty="0"/>
          </a:p>
        </p:txBody>
      </p:sp>
      <p:sp>
        <p:nvSpPr>
          <p:cNvPr id="6" name="Slide Number Placeholder 5"/>
          <p:cNvSpPr>
            <a:spLocks noGrp="1"/>
          </p:cNvSpPr>
          <p:nvPr>
            <p:ph type="sldNum" sz="quarter" idx="12"/>
          </p:nvPr>
        </p:nvSpPr>
        <p:spPr/>
        <p:txBody>
          <a:bodyPr/>
          <a:lstStyle/>
          <a:p>
            <a:fld id="{0F806ECE-C1FD-48AE-9B78-00CD1DA05ECA}" type="slidenum">
              <a:rPr lang="en-US" smtClean="0"/>
              <a:t>2</a:t>
            </a:fld>
            <a:endParaRPr lang="en-US" dirty="0"/>
          </a:p>
        </p:txBody>
      </p:sp>
    </p:spTree>
    <p:extLst>
      <p:ext uri="{BB962C8B-B14F-4D97-AF65-F5344CB8AC3E}">
        <p14:creationId xmlns:p14="http://schemas.microsoft.com/office/powerpoint/2010/main" val="2391267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3</a:t>
            </a:fld>
            <a:endParaRPr lang="en-US"/>
          </a:p>
        </p:txBody>
      </p:sp>
    </p:spTree>
    <p:extLst>
      <p:ext uri="{BB962C8B-B14F-4D97-AF65-F5344CB8AC3E}">
        <p14:creationId xmlns:p14="http://schemas.microsoft.com/office/powerpoint/2010/main" val="22073505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694"/>
            <a:ext cx="10515600" cy="923842"/>
          </a:xfrm>
        </p:spPr>
        <p:txBody>
          <a:bodyPr>
            <a:normAutofit fontScale="90000"/>
          </a:bodyPr>
          <a:lstStyle/>
          <a:p>
            <a:r>
              <a:rPr lang="en-US" dirty="0"/>
              <a:t>Who are we?</a:t>
            </a:r>
            <a:br>
              <a:rPr lang="en-US" dirty="0"/>
            </a:br>
            <a:r>
              <a:rPr lang="en-US" dirty="0"/>
              <a:t>DJ Basin Integrated Asset Management Team</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233897916"/>
              </p:ext>
            </p:extLst>
          </p:nvPr>
        </p:nvGraphicFramePr>
        <p:xfrm>
          <a:off x="517585" y="1138688"/>
          <a:ext cx="11007305" cy="5038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3C9B6236-3E64-412C-B927-DAF16AA62D6E}" type="datetime1">
              <a:rPr lang="en-US" smtClean="0"/>
              <a:t>8/28/2018</a:t>
            </a:fld>
            <a:endParaRPr lang="en-US" dirty="0"/>
          </a:p>
        </p:txBody>
      </p:sp>
      <p:sp>
        <p:nvSpPr>
          <p:cNvPr id="5" name="Footer Placeholder 4"/>
          <p:cNvSpPr>
            <a:spLocks noGrp="1"/>
          </p:cNvSpPr>
          <p:nvPr>
            <p:ph type="ftr" sz="quarter" idx="11"/>
          </p:nvPr>
        </p:nvSpPr>
        <p:spPr/>
        <p:txBody>
          <a:bodyPr/>
          <a:lstStyle/>
          <a:p>
            <a:r>
              <a:rPr lang="en-US" dirty="0" smtClean="0"/>
              <a:t>ANADARKO DJ BASIN</a:t>
            </a:r>
            <a:endParaRPr lang="en-US" dirty="0"/>
          </a:p>
        </p:txBody>
      </p:sp>
      <p:sp>
        <p:nvSpPr>
          <p:cNvPr id="6" name="Slide Number Placeholder 5"/>
          <p:cNvSpPr>
            <a:spLocks noGrp="1"/>
          </p:cNvSpPr>
          <p:nvPr>
            <p:ph type="sldNum" sz="quarter" idx="12"/>
          </p:nvPr>
        </p:nvSpPr>
        <p:spPr/>
        <p:txBody>
          <a:bodyPr/>
          <a:lstStyle/>
          <a:p>
            <a:fld id="{0F806ECE-C1FD-48AE-9B78-00CD1DA05ECA}" type="slidenum">
              <a:rPr lang="en-US" smtClean="0"/>
              <a:t>4</a:t>
            </a:fld>
            <a:endParaRPr lang="en-US" dirty="0"/>
          </a:p>
        </p:txBody>
      </p:sp>
      <p:sp>
        <p:nvSpPr>
          <p:cNvPr id="8" name="TextBox 7"/>
          <p:cNvSpPr txBox="1"/>
          <p:nvPr/>
        </p:nvSpPr>
        <p:spPr>
          <a:xfrm>
            <a:off x="360512" y="4848040"/>
            <a:ext cx="2268388" cy="1015663"/>
          </a:xfrm>
          <a:prstGeom prst="rect">
            <a:avLst/>
          </a:prstGeom>
          <a:noFill/>
        </p:spPr>
        <p:txBody>
          <a:bodyPr wrap="square" rtlCol="0">
            <a:spAutoFit/>
          </a:bodyPr>
          <a:lstStyle/>
          <a:p>
            <a:pPr marL="285750" indent="-285750">
              <a:buFont typeface="Wingdings" panose="05000000000000000000" pitchFamily="2" charset="2"/>
              <a:buChar char="Ø"/>
            </a:pPr>
            <a:r>
              <a:rPr lang="en-US" sz="1500" dirty="0" smtClean="0"/>
              <a:t>Drawdown Mgmt.</a:t>
            </a:r>
          </a:p>
          <a:p>
            <a:pPr marL="285750" indent="-285750">
              <a:buFont typeface="Wingdings" panose="05000000000000000000" pitchFamily="2" charset="2"/>
              <a:buChar char="Ø"/>
            </a:pPr>
            <a:r>
              <a:rPr lang="en-US" sz="1500" dirty="0" smtClean="0"/>
              <a:t>Subsurface Modelling</a:t>
            </a:r>
          </a:p>
          <a:p>
            <a:pPr marL="285750" indent="-285750">
              <a:buFont typeface="Wingdings" panose="05000000000000000000" pitchFamily="2" charset="2"/>
              <a:buChar char="Ø"/>
            </a:pPr>
            <a:r>
              <a:rPr lang="en-US" sz="1500" dirty="0" smtClean="0"/>
              <a:t>Automated Forecasting</a:t>
            </a:r>
          </a:p>
          <a:p>
            <a:pPr marL="285750" indent="-285750">
              <a:buFont typeface="Wingdings" panose="05000000000000000000" pitchFamily="2" charset="2"/>
              <a:buChar char="Ø"/>
            </a:pPr>
            <a:r>
              <a:rPr lang="en-US" sz="1500" dirty="0" smtClean="0"/>
              <a:t>Model Management</a:t>
            </a:r>
            <a:endParaRPr lang="en-US" sz="1500" dirty="0"/>
          </a:p>
        </p:txBody>
      </p:sp>
      <p:sp>
        <p:nvSpPr>
          <p:cNvPr id="9" name="TextBox 8"/>
          <p:cNvSpPr txBox="1"/>
          <p:nvPr/>
        </p:nvSpPr>
        <p:spPr>
          <a:xfrm>
            <a:off x="2696832" y="4848041"/>
            <a:ext cx="2007799" cy="1015663"/>
          </a:xfrm>
          <a:prstGeom prst="rect">
            <a:avLst/>
          </a:prstGeom>
          <a:noFill/>
        </p:spPr>
        <p:txBody>
          <a:bodyPr wrap="square" rtlCol="0">
            <a:spAutoFit/>
          </a:bodyPr>
          <a:lstStyle/>
          <a:p>
            <a:pPr marL="285750" indent="-285750">
              <a:buFont typeface="Wingdings" panose="05000000000000000000" pitchFamily="2" charset="2"/>
              <a:buChar char="Ø"/>
            </a:pPr>
            <a:r>
              <a:rPr lang="en-US" sz="1500" dirty="0" smtClean="0"/>
              <a:t>Midstream &amp; IOC Integration</a:t>
            </a:r>
          </a:p>
          <a:p>
            <a:pPr marL="285750" indent="-285750">
              <a:buFont typeface="Wingdings" panose="05000000000000000000" pitchFamily="2" charset="2"/>
              <a:buChar char="Ø"/>
            </a:pPr>
            <a:r>
              <a:rPr lang="en-US" sz="1500" dirty="0" smtClean="0"/>
              <a:t>Exception Based workflows</a:t>
            </a:r>
            <a:endParaRPr lang="en-US" sz="1500" dirty="0"/>
          </a:p>
        </p:txBody>
      </p:sp>
      <p:sp>
        <p:nvSpPr>
          <p:cNvPr id="10" name="TextBox 9"/>
          <p:cNvSpPr txBox="1"/>
          <p:nvPr/>
        </p:nvSpPr>
        <p:spPr>
          <a:xfrm>
            <a:off x="4886863" y="4848043"/>
            <a:ext cx="2007799" cy="1015663"/>
          </a:xfrm>
          <a:prstGeom prst="rect">
            <a:avLst/>
          </a:prstGeom>
          <a:noFill/>
        </p:spPr>
        <p:txBody>
          <a:bodyPr wrap="square" rtlCol="0">
            <a:spAutoFit/>
          </a:bodyPr>
          <a:lstStyle/>
          <a:p>
            <a:pPr marL="285750" indent="-285750">
              <a:buFont typeface="Wingdings" panose="05000000000000000000" pitchFamily="2" charset="2"/>
              <a:buChar char="Ø"/>
            </a:pPr>
            <a:r>
              <a:rPr lang="en-US" sz="1500" dirty="0" smtClean="0"/>
              <a:t>Software Development</a:t>
            </a:r>
          </a:p>
          <a:p>
            <a:pPr marL="285750" indent="-285750">
              <a:buFont typeface="Wingdings" panose="05000000000000000000" pitchFamily="2" charset="2"/>
              <a:buChar char="Ø"/>
            </a:pPr>
            <a:r>
              <a:rPr lang="en-US" sz="1500" dirty="0" smtClean="0"/>
              <a:t>Data Model Maintenance</a:t>
            </a:r>
          </a:p>
        </p:txBody>
      </p:sp>
      <p:sp>
        <p:nvSpPr>
          <p:cNvPr id="11" name="TextBox 10"/>
          <p:cNvSpPr txBox="1"/>
          <p:nvPr/>
        </p:nvSpPr>
        <p:spPr>
          <a:xfrm>
            <a:off x="7040951" y="4789329"/>
            <a:ext cx="2486924" cy="2169825"/>
          </a:xfrm>
          <a:prstGeom prst="rect">
            <a:avLst/>
          </a:prstGeom>
          <a:noFill/>
        </p:spPr>
        <p:txBody>
          <a:bodyPr wrap="square" rtlCol="0">
            <a:spAutoFit/>
          </a:bodyPr>
          <a:lstStyle/>
          <a:p>
            <a:pPr marL="285750" indent="-285750">
              <a:buFont typeface="Wingdings" panose="05000000000000000000" pitchFamily="2" charset="2"/>
              <a:buChar char="Ø"/>
            </a:pPr>
            <a:r>
              <a:rPr lang="en-US" sz="1500" dirty="0" smtClean="0"/>
              <a:t>Special Studies</a:t>
            </a:r>
          </a:p>
          <a:p>
            <a:pPr marL="742950" lvl="1" indent="-285750">
              <a:buFont typeface="Wingdings" panose="05000000000000000000" pitchFamily="2" charset="2"/>
              <a:buChar char="Ø"/>
            </a:pPr>
            <a:r>
              <a:rPr lang="en-US" sz="1500" dirty="0" smtClean="0"/>
              <a:t>Saltwater Disposal Modeling</a:t>
            </a:r>
          </a:p>
          <a:p>
            <a:pPr marL="742950" lvl="1" indent="-285750">
              <a:buFont typeface="Wingdings" panose="05000000000000000000" pitchFamily="2" charset="2"/>
              <a:buChar char="Ø"/>
            </a:pPr>
            <a:r>
              <a:rPr lang="en-US" sz="1500" dirty="0" smtClean="0"/>
              <a:t>Reservoir Modelling</a:t>
            </a:r>
          </a:p>
          <a:p>
            <a:pPr marL="742950" lvl="1" indent="-285750">
              <a:buFont typeface="Wingdings" panose="05000000000000000000" pitchFamily="2" charset="2"/>
              <a:buChar char="Ø"/>
            </a:pPr>
            <a:r>
              <a:rPr lang="en-US" sz="1500" dirty="0" smtClean="0"/>
              <a:t>PVT Data and Modeling</a:t>
            </a:r>
          </a:p>
          <a:p>
            <a:pPr marL="742950" lvl="1" indent="-285750">
              <a:buFont typeface="Wingdings" panose="05000000000000000000" pitchFamily="2" charset="2"/>
              <a:buChar char="Ø"/>
            </a:pPr>
            <a:r>
              <a:rPr lang="en-US" sz="1500" dirty="0" smtClean="0"/>
              <a:t>SRV Estimation and Monitoring</a:t>
            </a:r>
          </a:p>
          <a:p>
            <a:pPr marL="742950" lvl="1" indent="-285750">
              <a:buFontTx/>
              <a:buChar char="-"/>
            </a:pPr>
            <a:endParaRPr lang="en-US" sz="1500" dirty="0"/>
          </a:p>
        </p:txBody>
      </p:sp>
      <p:sp>
        <p:nvSpPr>
          <p:cNvPr id="12" name="TextBox 11"/>
          <p:cNvSpPr txBox="1"/>
          <p:nvPr/>
        </p:nvSpPr>
        <p:spPr>
          <a:xfrm>
            <a:off x="9705075" y="4787313"/>
            <a:ext cx="1984076" cy="1246495"/>
          </a:xfrm>
          <a:prstGeom prst="rect">
            <a:avLst/>
          </a:prstGeom>
          <a:noFill/>
        </p:spPr>
        <p:txBody>
          <a:bodyPr wrap="square" rtlCol="0">
            <a:spAutoFit/>
          </a:bodyPr>
          <a:lstStyle/>
          <a:p>
            <a:pPr marL="285750" indent="-285750">
              <a:buFont typeface="Wingdings" panose="05000000000000000000" pitchFamily="2" charset="2"/>
              <a:buChar char="Ø"/>
            </a:pPr>
            <a:r>
              <a:rPr lang="en-US" sz="1500" dirty="0" smtClean="0"/>
              <a:t>Closed </a:t>
            </a:r>
            <a:r>
              <a:rPr lang="en-US" sz="1500" dirty="0"/>
              <a:t>L</a:t>
            </a:r>
            <a:r>
              <a:rPr lang="en-US" sz="1500" dirty="0" smtClean="0"/>
              <a:t>oop Automation Project</a:t>
            </a:r>
          </a:p>
          <a:p>
            <a:pPr marL="285750" indent="-285750">
              <a:buFont typeface="Wingdings" panose="05000000000000000000" pitchFamily="2" charset="2"/>
              <a:buChar char="Ø"/>
            </a:pPr>
            <a:r>
              <a:rPr lang="en-US" sz="1500" dirty="0" err="1" smtClean="0"/>
              <a:t>IoT</a:t>
            </a:r>
            <a:r>
              <a:rPr lang="en-US" sz="1500" dirty="0" smtClean="0"/>
              <a:t> Projects</a:t>
            </a:r>
          </a:p>
          <a:p>
            <a:pPr marL="285750" indent="-285750">
              <a:buFont typeface="Wingdings" panose="05000000000000000000" pitchFamily="2" charset="2"/>
              <a:buChar char="Ø"/>
            </a:pPr>
            <a:r>
              <a:rPr lang="en-US" sz="1500" dirty="0" smtClean="0"/>
              <a:t>Exception Based Surveillance</a:t>
            </a:r>
          </a:p>
        </p:txBody>
      </p:sp>
    </p:spTree>
    <p:extLst>
      <p:ext uri="{BB962C8B-B14F-4D97-AF65-F5344CB8AC3E}">
        <p14:creationId xmlns:p14="http://schemas.microsoft.com/office/powerpoint/2010/main" val="409389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8" grpId="0"/>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489" y="1308271"/>
            <a:ext cx="7436319" cy="5063577"/>
          </a:xfrm>
        </p:spPr>
        <p:txBody>
          <a:bodyPr>
            <a:normAutofit lnSpcReduction="10000"/>
          </a:bodyPr>
          <a:lstStyle/>
          <a:p>
            <a:r>
              <a:rPr lang="en-US" dirty="0"/>
              <a:t>Mission Statement:</a:t>
            </a:r>
          </a:p>
          <a:p>
            <a:pPr lvl="1"/>
            <a:r>
              <a:rPr lang="en-US" dirty="0" smtClean="0"/>
              <a:t>Develop robust </a:t>
            </a:r>
            <a:r>
              <a:rPr lang="en-US" dirty="0"/>
              <a:t>and sustainable </a:t>
            </a:r>
            <a:r>
              <a:rPr lang="en-US" dirty="0" smtClean="0"/>
              <a:t>solutions </a:t>
            </a:r>
            <a:r>
              <a:rPr lang="en-US" dirty="0"/>
              <a:t>to </a:t>
            </a:r>
            <a:r>
              <a:rPr lang="en-US" dirty="0" smtClean="0"/>
              <a:t>enable multiple functions in </a:t>
            </a:r>
            <a:r>
              <a:rPr lang="en-US" dirty="0"/>
              <a:t>the efficient management of APC’s DJ assets by: </a:t>
            </a:r>
          </a:p>
          <a:p>
            <a:pPr lvl="2"/>
            <a:r>
              <a:rPr lang="en-US" u="sng" dirty="0"/>
              <a:t>Turning Data into Knowledge:</a:t>
            </a:r>
            <a:r>
              <a:rPr lang="en-US" dirty="0"/>
              <a:t> through improved understanding of system performance</a:t>
            </a:r>
          </a:p>
          <a:p>
            <a:pPr lvl="2"/>
            <a:r>
              <a:rPr lang="en-US" u="sng" dirty="0"/>
              <a:t>Expediting decision making:</a:t>
            </a:r>
            <a:r>
              <a:rPr lang="en-US" dirty="0"/>
              <a:t> through the implementation of effective tools for well surveillance and production optimization</a:t>
            </a:r>
          </a:p>
          <a:p>
            <a:pPr lvl="2"/>
            <a:r>
              <a:rPr lang="en-US" u="sng" dirty="0"/>
              <a:t>Increasing communication between multidisciplinary teams</a:t>
            </a:r>
            <a:r>
              <a:rPr lang="en-US" dirty="0"/>
              <a:t>: Production, </a:t>
            </a:r>
            <a:r>
              <a:rPr lang="en-US" dirty="0" smtClean="0"/>
              <a:t>Operations</a:t>
            </a:r>
            <a:r>
              <a:rPr lang="en-US" dirty="0"/>
              <a:t>, Completions, </a:t>
            </a:r>
            <a:r>
              <a:rPr lang="en-US" dirty="0" smtClean="0"/>
              <a:t>Reservoir, Finance, AAET</a:t>
            </a:r>
            <a:endParaRPr lang="en-US" dirty="0"/>
          </a:p>
          <a:p>
            <a:r>
              <a:rPr lang="en-US" dirty="0"/>
              <a:t>How:</a:t>
            </a:r>
          </a:p>
          <a:p>
            <a:pPr lvl="1"/>
            <a:r>
              <a:rPr lang="en-US" dirty="0" smtClean="0"/>
              <a:t>Designing and Implementing Digital </a:t>
            </a:r>
            <a:r>
              <a:rPr lang="en-US" dirty="0"/>
              <a:t>Oil Field </a:t>
            </a:r>
            <a:r>
              <a:rPr lang="en-US" dirty="0" smtClean="0"/>
              <a:t>(DOF) technologies in the DJ Basin</a:t>
            </a:r>
            <a:endParaRPr lang="en-US" dirty="0"/>
          </a:p>
          <a:p>
            <a:pPr marL="0" indent="0">
              <a:buNone/>
            </a:pPr>
            <a:endParaRPr lang="en-US" dirty="0" smtClean="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dirty="0"/>
          </a:p>
        </p:txBody>
      </p:sp>
      <p:sp>
        <p:nvSpPr>
          <p:cNvPr id="5" name="Footer Placeholder 4"/>
          <p:cNvSpPr>
            <a:spLocks noGrp="1"/>
          </p:cNvSpPr>
          <p:nvPr>
            <p:ph type="ftr" sz="quarter" idx="11"/>
          </p:nvPr>
        </p:nvSpPr>
        <p:spPr/>
        <p:txBody>
          <a:bodyPr/>
          <a:lstStyle/>
          <a:p>
            <a:r>
              <a:rPr lang="en-US" dirty="0" smtClean="0"/>
              <a:t>ANADARKO DJ BASIN</a:t>
            </a:r>
            <a:endParaRPr lang="en-US" dirty="0"/>
          </a:p>
        </p:txBody>
      </p:sp>
      <p:sp>
        <p:nvSpPr>
          <p:cNvPr id="6" name="Slide Number Placeholder 5"/>
          <p:cNvSpPr>
            <a:spLocks noGrp="1"/>
          </p:cNvSpPr>
          <p:nvPr>
            <p:ph type="sldNum" sz="quarter" idx="12"/>
          </p:nvPr>
        </p:nvSpPr>
        <p:spPr/>
        <p:txBody>
          <a:bodyPr/>
          <a:lstStyle/>
          <a:p>
            <a:fld id="{0F806ECE-C1FD-48AE-9B78-00CD1DA05ECA}" type="slidenum">
              <a:rPr lang="en-US" smtClean="0"/>
              <a:t>5</a:t>
            </a:fld>
            <a:endParaRPr lang="en-US" dirty="0"/>
          </a:p>
        </p:txBody>
      </p:sp>
      <p:pic>
        <p:nvPicPr>
          <p:cNvPr id="8" name="Picture 7"/>
          <p:cNvPicPr>
            <a:picLocks noChangeAspect="1"/>
          </p:cNvPicPr>
          <p:nvPr/>
        </p:nvPicPr>
        <p:blipFill>
          <a:blip r:embed="rId3"/>
          <a:stretch>
            <a:fillRect/>
          </a:stretch>
        </p:blipFill>
        <p:spPr>
          <a:xfrm>
            <a:off x="8609633" y="3523396"/>
            <a:ext cx="3445327" cy="2969020"/>
          </a:xfrm>
          <a:prstGeom prst="rect">
            <a:avLst/>
          </a:prstGeom>
        </p:spPr>
      </p:pic>
      <p:pic>
        <p:nvPicPr>
          <p:cNvPr id="9" name="Picture 15" descr="image0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008" y="1292773"/>
            <a:ext cx="233362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838200" y="114037"/>
            <a:ext cx="10515600" cy="923842"/>
          </a:xfrm>
          <a:effectLst>
            <a:outerShdw blurRad="50800" dist="38100" dir="2700000" algn="tl" rotWithShape="0">
              <a:prstClr val="black">
                <a:alpha val="40000"/>
              </a:prstClr>
            </a:outerShdw>
          </a:effectLst>
        </p:spPr>
        <p:txBody>
          <a:bodyPr vert="horz" lIns="91440" tIns="45720" rIns="91440" bIns="45720" rtlCol="0" anchor="ctr">
            <a:normAutofit fontScale="90000"/>
          </a:bodyPr>
          <a:lstStyle/>
          <a:p>
            <a:r>
              <a:rPr lang="en-US" sz="4000" dirty="0" smtClean="0"/>
              <a:t>What we do?</a:t>
            </a:r>
            <a:br>
              <a:rPr lang="en-US" sz="4000" dirty="0" smtClean="0"/>
            </a:br>
            <a:r>
              <a:rPr lang="en-US" sz="4000" dirty="0" smtClean="0"/>
              <a:t>DJ </a:t>
            </a:r>
            <a:r>
              <a:rPr lang="en-US" sz="4000" dirty="0"/>
              <a:t>Basin Integrated Asset Management Team</a:t>
            </a:r>
          </a:p>
        </p:txBody>
      </p:sp>
    </p:spTree>
    <p:extLst>
      <p:ext uri="{BB962C8B-B14F-4D97-AF65-F5344CB8AC3E}">
        <p14:creationId xmlns:p14="http://schemas.microsoft.com/office/powerpoint/2010/main" val="1470014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Digital Oil Field (DOF)?</a:t>
            </a:r>
            <a:endParaRPr lang="en-US" dirty="0"/>
          </a:p>
        </p:txBody>
      </p:sp>
      <p:sp>
        <p:nvSpPr>
          <p:cNvPr id="9" name="Rectangle 8"/>
          <p:cNvSpPr/>
          <p:nvPr/>
        </p:nvSpPr>
        <p:spPr>
          <a:xfrm>
            <a:off x="1463923" y="1561669"/>
            <a:ext cx="6170030" cy="461793"/>
          </a:xfrm>
          <a:prstGeom prst="rect">
            <a:avLst/>
          </a:prstGeom>
        </p:spPr>
        <p:txBody>
          <a:bodyPr wrap="square">
            <a:spAutoFit/>
          </a:bodyPr>
          <a:lstStyle/>
          <a:p>
            <a:pPr marL="357188" lvl="1" algn="ctr" defTabSz="596900" fontAlgn="base">
              <a:lnSpc>
                <a:spcPct val="85000"/>
              </a:lnSpc>
              <a:spcBef>
                <a:spcPct val="15000"/>
              </a:spcBef>
              <a:spcAft>
                <a:spcPct val="5000"/>
              </a:spcAft>
              <a:buClr>
                <a:schemeClr val="bg1"/>
              </a:buClr>
              <a:buSzPct val="80000"/>
            </a:pPr>
            <a:r>
              <a:rPr lang="en-US" altLang="en-US" sz="2800" b="1" i="1" dirty="0">
                <a:solidFill>
                  <a:srgbClr val="0070C0"/>
                </a:solidFill>
              </a:rPr>
              <a:t>Integrated workflows</a:t>
            </a:r>
          </a:p>
        </p:txBody>
      </p:sp>
      <p:sp>
        <p:nvSpPr>
          <p:cNvPr id="10" name="Rectangle 9"/>
          <p:cNvSpPr/>
          <p:nvPr/>
        </p:nvSpPr>
        <p:spPr>
          <a:xfrm>
            <a:off x="1561282" y="2238745"/>
            <a:ext cx="1741371" cy="1015663"/>
          </a:xfrm>
          <a:prstGeom prst="rect">
            <a:avLst/>
          </a:prstGeom>
        </p:spPr>
        <p:txBody>
          <a:bodyPr wrap="square">
            <a:spAutoFit/>
          </a:bodyPr>
          <a:lstStyle/>
          <a:p>
            <a:pPr lvl="0">
              <a:spcBef>
                <a:spcPct val="30000"/>
              </a:spcBef>
            </a:pPr>
            <a:r>
              <a:rPr lang="en-US" altLang="en-US" sz="2000" dirty="0"/>
              <a:t>Business Process Management</a:t>
            </a:r>
          </a:p>
        </p:txBody>
      </p:sp>
      <p:sp>
        <p:nvSpPr>
          <p:cNvPr id="11" name="Rectangle 10"/>
          <p:cNvSpPr/>
          <p:nvPr/>
        </p:nvSpPr>
        <p:spPr>
          <a:xfrm>
            <a:off x="3862811" y="2249949"/>
            <a:ext cx="1641532" cy="1015663"/>
          </a:xfrm>
          <a:prstGeom prst="rect">
            <a:avLst/>
          </a:prstGeom>
        </p:spPr>
        <p:txBody>
          <a:bodyPr wrap="square">
            <a:spAutoFit/>
          </a:bodyPr>
          <a:lstStyle/>
          <a:p>
            <a:pPr lvl="0">
              <a:spcBef>
                <a:spcPct val="30000"/>
              </a:spcBef>
            </a:pPr>
            <a:r>
              <a:rPr lang="en-US" altLang="en-US" sz="2000" dirty="0"/>
              <a:t>Advanced Information Technology</a:t>
            </a:r>
          </a:p>
        </p:txBody>
      </p:sp>
      <p:sp>
        <p:nvSpPr>
          <p:cNvPr id="12" name="Rectangle 11"/>
          <p:cNvSpPr/>
          <p:nvPr/>
        </p:nvSpPr>
        <p:spPr>
          <a:xfrm>
            <a:off x="6064502" y="2396743"/>
            <a:ext cx="1641532" cy="707886"/>
          </a:xfrm>
          <a:prstGeom prst="rect">
            <a:avLst/>
          </a:prstGeom>
        </p:spPr>
        <p:txBody>
          <a:bodyPr wrap="square">
            <a:spAutoFit/>
          </a:bodyPr>
          <a:lstStyle/>
          <a:p>
            <a:pPr lvl="0">
              <a:spcBef>
                <a:spcPct val="30000"/>
              </a:spcBef>
            </a:pPr>
            <a:r>
              <a:rPr lang="en-US" altLang="en-US" sz="2000" dirty="0"/>
              <a:t>Engineering Expertise</a:t>
            </a:r>
          </a:p>
        </p:txBody>
      </p:sp>
      <p:sp>
        <p:nvSpPr>
          <p:cNvPr id="13" name="Rectangle 12"/>
          <p:cNvSpPr/>
          <p:nvPr/>
        </p:nvSpPr>
        <p:spPr>
          <a:xfrm>
            <a:off x="8283173" y="1971562"/>
            <a:ext cx="2465476" cy="2123658"/>
          </a:xfrm>
          <a:prstGeom prst="rect">
            <a:avLst/>
          </a:prstGeom>
        </p:spPr>
        <p:txBody>
          <a:bodyPr wrap="square">
            <a:spAutoFit/>
          </a:bodyPr>
          <a:lstStyle/>
          <a:p>
            <a:pPr marL="285750" indent="-285750">
              <a:spcBef>
                <a:spcPct val="30000"/>
              </a:spcBef>
              <a:buFont typeface="Arial" panose="020B0604020202020204" pitchFamily="34" charset="0"/>
              <a:buChar char="•"/>
            </a:pPr>
            <a:r>
              <a:rPr lang="en-US" altLang="en-US" sz="2000" dirty="0"/>
              <a:t>Eliminate non-productive time</a:t>
            </a:r>
          </a:p>
          <a:p>
            <a:pPr marL="285750" indent="-285750">
              <a:spcBef>
                <a:spcPct val="30000"/>
              </a:spcBef>
              <a:buFont typeface="Arial" panose="020B0604020202020204" pitchFamily="34" charset="0"/>
              <a:buChar char="•"/>
            </a:pPr>
            <a:r>
              <a:rPr lang="en-US" altLang="en-US" sz="2000" dirty="0"/>
              <a:t>Maximize field recovery</a:t>
            </a:r>
          </a:p>
          <a:p>
            <a:pPr marL="285750" indent="-285750">
              <a:spcBef>
                <a:spcPct val="30000"/>
              </a:spcBef>
              <a:buFont typeface="Arial" panose="020B0604020202020204" pitchFamily="34" charset="0"/>
              <a:buChar char="•"/>
            </a:pPr>
            <a:r>
              <a:rPr lang="en-US" altLang="en-US" sz="2000" dirty="0"/>
              <a:t>Increase profitability</a:t>
            </a:r>
          </a:p>
        </p:txBody>
      </p:sp>
      <p:sp>
        <p:nvSpPr>
          <p:cNvPr id="17" name="Plus 16"/>
          <p:cNvSpPr/>
          <p:nvPr/>
        </p:nvSpPr>
        <p:spPr>
          <a:xfrm>
            <a:off x="3012390" y="2266848"/>
            <a:ext cx="914400" cy="914400"/>
          </a:xfrm>
          <a:prstGeom prst="mathPlu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lus 17"/>
          <p:cNvSpPr/>
          <p:nvPr/>
        </p:nvSpPr>
        <p:spPr>
          <a:xfrm>
            <a:off x="5212963" y="2238744"/>
            <a:ext cx="914400" cy="914400"/>
          </a:xfrm>
          <a:prstGeom prst="mathPlu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qual 18"/>
          <p:cNvSpPr/>
          <p:nvPr/>
        </p:nvSpPr>
        <p:spPr>
          <a:xfrm>
            <a:off x="7475869" y="2249948"/>
            <a:ext cx="914400" cy="914400"/>
          </a:xfrm>
          <a:prstGeom prst="mathEqual">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1" name="Picture 20"/>
          <p:cNvPicPr>
            <a:picLocks noChangeAspect="1"/>
          </p:cNvPicPr>
          <p:nvPr/>
        </p:nvPicPr>
        <p:blipFill>
          <a:blip r:embed="rId3"/>
          <a:stretch>
            <a:fillRect/>
          </a:stretch>
        </p:blipFill>
        <p:spPr>
          <a:xfrm>
            <a:off x="3580994" y="3679697"/>
            <a:ext cx="2009945" cy="1409793"/>
          </a:xfrm>
          <a:prstGeom prst="rect">
            <a:avLst/>
          </a:prstGeom>
        </p:spPr>
      </p:pic>
      <p:pic>
        <p:nvPicPr>
          <p:cNvPr id="23" name="Picture 22"/>
          <p:cNvPicPr>
            <a:picLocks noChangeAspect="1"/>
          </p:cNvPicPr>
          <p:nvPr/>
        </p:nvPicPr>
        <p:blipFill>
          <a:blip r:embed="rId4"/>
          <a:stretch>
            <a:fillRect/>
          </a:stretch>
        </p:blipFill>
        <p:spPr>
          <a:xfrm>
            <a:off x="7972941" y="4078458"/>
            <a:ext cx="2598519" cy="2478008"/>
          </a:xfrm>
          <a:prstGeom prst="rect">
            <a:avLst/>
          </a:prstGeom>
        </p:spPr>
      </p:pic>
      <p:pic>
        <p:nvPicPr>
          <p:cNvPr id="30" name="Picture 29"/>
          <p:cNvPicPr>
            <a:picLocks noChangeAspect="1"/>
          </p:cNvPicPr>
          <p:nvPr/>
        </p:nvPicPr>
        <p:blipFill>
          <a:blip r:embed="rId5"/>
          <a:stretch>
            <a:fillRect/>
          </a:stretch>
        </p:blipFill>
        <p:spPr>
          <a:xfrm>
            <a:off x="5994341" y="3679697"/>
            <a:ext cx="1671772" cy="1526099"/>
          </a:xfrm>
          <a:prstGeom prst="rect">
            <a:avLst/>
          </a:prstGeom>
        </p:spPr>
      </p:pic>
      <p:sp>
        <p:nvSpPr>
          <p:cNvPr id="32" name="Rectangle 31"/>
          <p:cNvSpPr/>
          <p:nvPr/>
        </p:nvSpPr>
        <p:spPr>
          <a:xfrm>
            <a:off x="8441258" y="1563271"/>
            <a:ext cx="1547783" cy="458587"/>
          </a:xfrm>
          <a:prstGeom prst="rect">
            <a:avLst/>
          </a:prstGeom>
        </p:spPr>
        <p:txBody>
          <a:bodyPr wrap="square">
            <a:spAutoFit/>
          </a:bodyPr>
          <a:lstStyle/>
          <a:p>
            <a:pPr marL="357188" lvl="1" algn="ctr" defTabSz="596900" fontAlgn="base">
              <a:lnSpc>
                <a:spcPct val="85000"/>
              </a:lnSpc>
              <a:spcBef>
                <a:spcPct val="15000"/>
              </a:spcBef>
              <a:spcAft>
                <a:spcPct val="5000"/>
              </a:spcAft>
              <a:buClr>
                <a:schemeClr val="bg1"/>
              </a:buClr>
              <a:buSzPct val="80000"/>
            </a:pPr>
            <a:r>
              <a:rPr lang="en-US" altLang="en-US" sz="2800" b="1" i="1" dirty="0">
                <a:solidFill>
                  <a:srgbClr val="0070C0"/>
                </a:solidFill>
              </a:rPr>
              <a:t>Why?</a:t>
            </a:r>
          </a:p>
        </p:txBody>
      </p:sp>
      <p:pic>
        <p:nvPicPr>
          <p:cNvPr id="6" name="Picture 5"/>
          <p:cNvPicPr>
            <a:picLocks noChangeAspect="1"/>
          </p:cNvPicPr>
          <p:nvPr/>
        </p:nvPicPr>
        <p:blipFill>
          <a:blip r:embed="rId6"/>
          <a:stretch>
            <a:fillRect/>
          </a:stretch>
        </p:blipFill>
        <p:spPr>
          <a:xfrm>
            <a:off x="1576787" y="3434791"/>
            <a:ext cx="1887028" cy="1910229"/>
          </a:xfrm>
          <a:prstGeom prst="rect">
            <a:avLst/>
          </a:prstGeom>
        </p:spPr>
      </p:pic>
    </p:spTree>
    <p:extLst>
      <p:ext uri="{BB962C8B-B14F-4D97-AF65-F5344CB8AC3E}">
        <p14:creationId xmlns:p14="http://schemas.microsoft.com/office/powerpoint/2010/main" val="404798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7" grpId="0" animBg="1"/>
      <p:bldP spid="18" grpId="0" animBg="1"/>
      <p:bldP spid="19" grpId="0" animBg="1"/>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t>IAM Journey</a:t>
            </a:r>
            <a:r>
              <a:rPr lang="en-US" dirty="0" smtClean="0"/>
              <a: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94743000"/>
              </p:ext>
            </p:extLst>
          </p:nvPr>
        </p:nvGraphicFramePr>
        <p:xfrm>
          <a:off x="1720850" y="1042989"/>
          <a:ext cx="8809038" cy="55634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0"/>
          </p:nvPr>
        </p:nvSpPr>
        <p:spPr/>
        <p:txBody>
          <a:bodyPr/>
          <a:lstStyle/>
          <a:p>
            <a:fld id="{66C4DF01-6150-48D1-859B-4A7A9D9319DD}" type="slidenum">
              <a:rPr lang="en-US" smtClean="0">
                <a:solidFill>
                  <a:srgbClr val="FFFFFF"/>
                </a:solidFill>
              </a:rPr>
              <a:pPr/>
              <a:t>7</a:t>
            </a:fld>
            <a:endParaRPr lang="en-US">
              <a:solidFill>
                <a:srgbClr val="FFFFFF"/>
              </a:solidFill>
            </a:endParaRPr>
          </a:p>
        </p:txBody>
      </p:sp>
      <p:pic>
        <p:nvPicPr>
          <p:cNvPr id="43" name="Picture 42"/>
          <p:cNvPicPr>
            <a:picLocks noChangeAspect="1"/>
          </p:cNvPicPr>
          <p:nvPr/>
        </p:nvPicPr>
        <p:blipFill>
          <a:blip r:embed="rId8"/>
          <a:stretch>
            <a:fillRect/>
          </a:stretch>
        </p:blipFill>
        <p:spPr>
          <a:xfrm>
            <a:off x="2575396" y="2424664"/>
            <a:ext cx="2341495" cy="1440920"/>
          </a:xfrm>
          <a:prstGeom prst="rect">
            <a:avLst/>
          </a:prstGeom>
        </p:spPr>
      </p:pic>
      <p:pic>
        <p:nvPicPr>
          <p:cNvPr id="45" name="Picture 44"/>
          <p:cNvPicPr>
            <a:picLocks noChangeAspect="1"/>
          </p:cNvPicPr>
          <p:nvPr/>
        </p:nvPicPr>
        <p:blipFill>
          <a:blip r:embed="rId9"/>
          <a:stretch>
            <a:fillRect/>
          </a:stretch>
        </p:blipFill>
        <p:spPr>
          <a:xfrm>
            <a:off x="5155794" y="1776101"/>
            <a:ext cx="2351677" cy="1096964"/>
          </a:xfrm>
          <a:prstGeom prst="rect">
            <a:avLst/>
          </a:prstGeom>
        </p:spPr>
      </p:pic>
      <p:pic>
        <p:nvPicPr>
          <p:cNvPr id="46" name="Picture 45"/>
          <p:cNvPicPr>
            <a:picLocks noChangeAspect="1"/>
          </p:cNvPicPr>
          <p:nvPr/>
        </p:nvPicPr>
        <p:blipFill>
          <a:blip r:embed="rId10"/>
          <a:stretch>
            <a:fillRect/>
          </a:stretch>
        </p:blipFill>
        <p:spPr>
          <a:xfrm>
            <a:off x="8285513" y="1360380"/>
            <a:ext cx="2428443" cy="1754929"/>
          </a:xfrm>
          <a:prstGeom prst="rect">
            <a:avLst/>
          </a:prstGeom>
        </p:spPr>
      </p:pic>
      <p:sp>
        <p:nvSpPr>
          <p:cNvPr id="47" name="TextBox 46"/>
          <p:cNvSpPr txBox="1"/>
          <p:nvPr/>
        </p:nvSpPr>
        <p:spPr>
          <a:xfrm>
            <a:off x="2730944" y="2015347"/>
            <a:ext cx="1795719" cy="461665"/>
          </a:xfrm>
          <a:prstGeom prst="rect">
            <a:avLst/>
          </a:prstGeom>
          <a:noFill/>
        </p:spPr>
        <p:txBody>
          <a:bodyPr wrap="square" rtlCol="0">
            <a:spAutoFit/>
          </a:bodyPr>
          <a:lstStyle/>
          <a:p>
            <a:r>
              <a:rPr lang="en-US" sz="2400" b="1" dirty="0"/>
              <a:t>2016 / 2017</a:t>
            </a:r>
          </a:p>
        </p:txBody>
      </p:sp>
      <p:sp>
        <p:nvSpPr>
          <p:cNvPr id="48" name="TextBox 47"/>
          <p:cNvSpPr txBox="1"/>
          <p:nvPr/>
        </p:nvSpPr>
        <p:spPr>
          <a:xfrm>
            <a:off x="5223488" y="1293734"/>
            <a:ext cx="1803763" cy="461665"/>
          </a:xfrm>
          <a:prstGeom prst="rect">
            <a:avLst/>
          </a:prstGeom>
          <a:noFill/>
        </p:spPr>
        <p:txBody>
          <a:bodyPr wrap="square" rtlCol="0">
            <a:spAutoFit/>
          </a:bodyPr>
          <a:lstStyle/>
          <a:p>
            <a:r>
              <a:rPr lang="en-US" sz="2400" b="1" dirty="0"/>
              <a:t>2017 / 2018</a:t>
            </a:r>
          </a:p>
        </p:txBody>
      </p:sp>
      <p:grpSp>
        <p:nvGrpSpPr>
          <p:cNvPr id="51" name="Group 50"/>
          <p:cNvGrpSpPr/>
          <p:nvPr/>
        </p:nvGrpSpPr>
        <p:grpSpPr>
          <a:xfrm>
            <a:off x="9688235" y="1372958"/>
            <a:ext cx="2119151" cy="461665"/>
            <a:chOff x="6182260" y="839839"/>
            <a:chExt cx="2119151" cy="461665"/>
          </a:xfrm>
        </p:grpSpPr>
        <p:sp>
          <p:nvSpPr>
            <p:cNvPr id="49" name="TextBox 48"/>
            <p:cNvSpPr txBox="1"/>
            <p:nvPr/>
          </p:nvSpPr>
          <p:spPr>
            <a:xfrm>
              <a:off x="6182260" y="839839"/>
              <a:ext cx="1803763" cy="461665"/>
            </a:xfrm>
            <a:prstGeom prst="rect">
              <a:avLst/>
            </a:prstGeom>
            <a:noFill/>
          </p:spPr>
          <p:txBody>
            <a:bodyPr wrap="square" rtlCol="0">
              <a:spAutoFit/>
            </a:bodyPr>
            <a:lstStyle/>
            <a:p>
              <a:r>
                <a:rPr lang="en-US" sz="2400" b="1" dirty="0" smtClean="0"/>
                <a:t>2018 / 2019 </a:t>
              </a:r>
              <a:endParaRPr lang="en-US" sz="2400" b="1" dirty="0"/>
            </a:p>
          </p:txBody>
        </p:sp>
        <p:sp>
          <p:nvSpPr>
            <p:cNvPr id="50" name="Right Arrow 49"/>
            <p:cNvSpPr/>
            <p:nvPr/>
          </p:nvSpPr>
          <p:spPr>
            <a:xfrm>
              <a:off x="7906563" y="924801"/>
              <a:ext cx="394848" cy="291740"/>
            </a:xfrm>
            <a:prstGeom prst="rightArrow">
              <a:avLst/>
            </a:prstGeom>
            <a:solidFill>
              <a:schemeClr val="accent6">
                <a:lumMod val="75000"/>
              </a:schemeClr>
            </a:solid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13" name="TextBox 12"/>
          <p:cNvSpPr txBox="1"/>
          <p:nvPr/>
        </p:nvSpPr>
        <p:spPr>
          <a:xfrm>
            <a:off x="838200" y="3773191"/>
            <a:ext cx="1795719" cy="461665"/>
          </a:xfrm>
          <a:prstGeom prst="rect">
            <a:avLst/>
          </a:prstGeom>
          <a:noFill/>
        </p:spPr>
        <p:txBody>
          <a:bodyPr wrap="square" rtlCol="0">
            <a:spAutoFit/>
          </a:bodyPr>
          <a:lstStyle/>
          <a:p>
            <a:r>
              <a:rPr lang="en-US" sz="2400" b="1" dirty="0"/>
              <a:t>2014 / 2015</a:t>
            </a:r>
          </a:p>
        </p:txBody>
      </p:sp>
      <p:pic>
        <p:nvPicPr>
          <p:cNvPr id="14" name="Picture 13"/>
          <p:cNvPicPr>
            <a:picLocks noChangeAspect="1"/>
          </p:cNvPicPr>
          <p:nvPr/>
        </p:nvPicPr>
        <p:blipFill>
          <a:blip r:embed="rId11"/>
          <a:stretch>
            <a:fillRect/>
          </a:stretch>
        </p:blipFill>
        <p:spPr>
          <a:xfrm>
            <a:off x="1488449" y="4262525"/>
            <a:ext cx="1086947" cy="992234"/>
          </a:xfrm>
          <a:prstGeom prst="rect">
            <a:avLst/>
          </a:prstGeom>
        </p:spPr>
      </p:pic>
    </p:spTree>
    <p:extLst>
      <p:ext uri="{BB962C8B-B14F-4D97-AF65-F5344CB8AC3E}">
        <p14:creationId xmlns:p14="http://schemas.microsoft.com/office/powerpoint/2010/main" val="205822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47" grpId="0"/>
      <p:bldP spid="48"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66C4DF01-6150-48D1-859B-4A7A9D9319DD}" type="slidenum">
              <a:rPr lang="en-US" smtClean="0">
                <a:solidFill>
                  <a:srgbClr val="FFFFFF"/>
                </a:solidFill>
              </a:rPr>
              <a:pPr/>
              <a:t>8</a:t>
            </a:fld>
            <a:endParaRPr lang="en-US">
              <a:solidFill>
                <a:srgbClr val="FFFFFF"/>
              </a:solidFill>
            </a:endParaRPr>
          </a:p>
        </p:txBody>
      </p:sp>
      <p:grpSp>
        <p:nvGrpSpPr>
          <p:cNvPr id="6" name="Group 5"/>
          <p:cNvGrpSpPr/>
          <p:nvPr/>
        </p:nvGrpSpPr>
        <p:grpSpPr>
          <a:xfrm>
            <a:off x="370585" y="5075305"/>
            <a:ext cx="11546209" cy="1356974"/>
            <a:chOff x="370585" y="4659669"/>
            <a:chExt cx="11546209" cy="1356974"/>
          </a:xfrm>
        </p:grpSpPr>
        <p:sp>
          <p:nvSpPr>
            <p:cNvPr id="17" name="TextBox 16"/>
            <p:cNvSpPr txBox="1"/>
            <p:nvPr/>
          </p:nvSpPr>
          <p:spPr>
            <a:xfrm>
              <a:off x="5346441" y="4659669"/>
              <a:ext cx="1847460" cy="369332"/>
            </a:xfrm>
            <a:prstGeom prst="rect">
              <a:avLst/>
            </a:prstGeom>
            <a:noFill/>
          </p:spPr>
          <p:txBody>
            <a:bodyPr wrap="square" rtlCol="0">
              <a:spAutoFit/>
            </a:bodyPr>
            <a:lstStyle/>
            <a:p>
              <a:pPr algn="ctr"/>
              <a:r>
                <a:rPr lang="en-US" b="1" dirty="0" smtClean="0">
                  <a:ln w="0"/>
                  <a:effectLst>
                    <a:outerShdw blurRad="38100" dist="19050" dir="2700000" algn="tl" rotWithShape="0">
                      <a:schemeClr val="dk1">
                        <a:alpha val="40000"/>
                      </a:schemeClr>
                    </a:outerShdw>
                  </a:effectLst>
                  <a:latin typeface="+mj-lt"/>
                </a:rPr>
                <a:t>SKILLS NEEDED</a:t>
              </a:r>
              <a:endParaRPr lang="en-US" b="1" dirty="0">
                <a:ln w="0"/>
                <a:effectLst>
                  <a:outerShdw blurRad="38100" dist="19050" dir="2700000" algn="tl" rotWithShape="0">
                    <a:schemeClr val="dk1">
                      <a:alpha val="40000"/>
                    </a:schemeClr>
                  </a:outerShdw>
                </a:effectLst>
                <a:latin typeface="+mj-lt"/>
              </a:endParaRPr>
            </a:p>
          </p:txBody>
        </p:sp>
        <p:sp>
          <p:nvSpPr>
            <p:cNvPr id="18" name="TextBox 17"/>
            <p:cNvSpPr txBox="1"/>
            <p:nvPr/>
          </p:nvSpPr>
          <p:spPr>
            <a:xfrm>
              <a:off x="5310911" y="5153490"/>
              <a:ext cx="1847460" cy="369332"/>
            </a:xfrm>
            <a:prstGeom prst="rect">
              <a:avLst/>
            </a:prstGeom>
            <a:noFill/>
          </p:spPr>
          <p:txBody>
            <a:bodyPr wrap="square" rtlCol="0">
              <a:spAutoFit/>
            </a:bodyPr>
            <a:lstStyle/>
            <a:p>
              <a:pPr algn="ctr"/>
              <a:r>
                <a:rPr lang="en-US" b="1" dirty="0" smtClean="0">
                  <a:ln w="0"/>
                  <a:effectLst>
                    <a:outerShdw blurRad="38100" dist="19050" dir="2700000" algn="tl" rotWithShape="0">
                      <a:schemeClr val="dk1">
                        <a:alpha val="40000"/>
                      </a:schemeClr>
                    </a:outerShdw>
                  </a:effectLst>
                  <a:latin typeface="+mj-lt"/>
                </a:rPr>
                <a:t>IMPACT</a:t>
              </a:r>
              <a:endParaRPr lang="en-US" b="1" dirty="0">
                <a:ln w="0"/>
                <a:effectLst>
                  <a:outerShdw blurRad="38100" dist="19050" dir="2700000" algn="tl" rotWithShape="0">
                    <a:schemeClr val="dk1">
                      <a:alpha val="40000"/>
                    </a:schemeClr>
                  </a:outerShdw>
                </a:effectLst>
                <a:latin typeface="+mj-lt"/>
              </a:endParaRPr>
            </a:p>
          </p:txBody>
        </p:sp>
        <p:sp>
          <p:nvSpPr>
            <p:cNvPr id="19" name="TextBox 18"/>
            <p:cNvSpPr txBox="1"/>
            <p:nvPr/>
          </p:nvSpPr>
          <p:spPr>
            <a:xfrm>
              <a:off x="5187820" y="5647311"/>
              <a:ext cx="2164702" cy="369332"/>
            </a:xfrm>
            <a:prstGeom prst="rect">
              <a:avLst/>
            </a:prstGeom>
            <a:noFill/>
          </p:spPr>
          <p:txBody>
            <a:bodyPr wrap="square" rtlCol="0">
              <a:spAutoFit/>
            </a:bodyPr>
            <a:lstStyle/>
            <a:p>
              <a:pPr algn="ctr"/>
              <a:r>
                <a:rPr lang="en-US" b="1" dirty="0" smtClean="0">
                  <a:ln w="0"/>
                  <a:effectLst>
                    <a:outerShdw blurRad="38100" dist="19050" dir="2700000" algn="tl" rotWithShape="0">
                      <a:schemeClr val="dk1">
                        <a:alpha val="40000"/>
                      </a:schemeClr>
                    </a:outerShdw>
                  </a:effectLst>
                  <a:latin typeface="+mj-lt"/>
                </a:rPr>
                <a:t>REVENUE</a:t>
              </a:r>
              <a:endParaRPr lang="en-US" b="1" dirty="0">
                <a:ln w="0"/>
                <a:effectLst>
                  <a:outerShdw blurRad="38100" dist="19050" dir="2700000" algn="tl" rotWithShape="0">
                    <a:schemeClr val="dk1">
                      <a:alpha val="40000"/>
                    </a:schemeClr>
                  </a:outerShdw>
                </a:effectLst>
                <a:latin typeface="+mj-lt"/>
              </a:endParaRPr>
            </a:p>
          </p:txBody>
        </p:sp>
        <p:sp>
          <p:nvSpPr>
            <p:cNvPr id="20" name="TextBox 19"/>
            <p:cNvSpPr txBox="1"/>
            <p:nvPr/>
          </p:nvSpPr>
          <p:spPr>
            <a:xfrm>
              <a:off x="10034837" y="4662304"/>
              <a:ext cx="1847460" cy="369332"/>
            </a:xfrm>
            <a:prstGeom prst="rect">
              <a:avLst/>
            </a:prstGeom>
            <a:noFill/>
          </p:spPr>
          <p:txBody>
            <a:bodyPr wrap="square" rtlCol="0">
              <a:spAutoFit/>
            </a:bodyPr>
            <a:lstStyle/>
            <a:p>
              <a:pPr algn="ctr"/>
              <a:r>
                <a:rPr lang="en-US" b="1" dirty="0" smtClean="0">
                  <a:ln w="0"/>
                  <a:solidFill>
                    <a:schemeClr val="accent5"/>
                  </a:solidFill>
                  <a:effectLst>
                    <a:outerShdw blurRad="38100" dist="19050" dir="2700000" algn="tl" rotWithShape="0">
                      <a:schemeClr val="dk1">
                        <a:alpha val="40000"/>
                      </a:schemeClr>
                    </a:outerShdw>
                  </a:effectLst>
                  <a:latin typeface="+mj-lt"/>
                </a:rPr>
                <a:t>DATA ENGR.</a:t>
              </a:r>
              <a:endParaRPr lang="en-US" b="1" dirty="0">
                <a:ln w="0"/>
                <a:solidFill>
                  <a:schemeClr val="accent5"/>
                </a:solidFill>
                <a:effectLst>
                  <a:outerShdw blurRad="38100" dist="19050" dir="2700000" algn="tl" rotWithShape="0">
                    <a:schemeClr val="dk1">
                      <a:alpha val="40000"/>
                    </a:schemeClr>
                  </a:outerShdw>
                </a:effectLst>
                <a:latin typeface="+mj-lt"/>
              </a:endParaRPr>
            </a:p>
          </p:txBody>
        </p:sp>
        <p:sp>
          <p:nvSpPr>
            <p:cNvPr id="21" name="TextBox 20"/>
            <p:cNvSpPr txBox="1"/>
            <p:nvPr/>
          </p:nvSpPr>
          <p:spPr>
            <a:xfrm>
              <a:off x="10034837" y="5153490"/>
              <a:ext cx="1847460" cy="369332"/>
            </a:xfrm>
            <a:prstGeom prst="rect">
              <a:avLst/>
            </a:prstGeom>
            <a:noFill/>
          </p:spPr>
          <p:txBody>
            <a:bodyPr wrap="square" rtlCol="0">
              <a:spAutoFit/>
            </a:bodyPr>
            <a:lstStyle/>
            <a:p>
              <a:pPr algn="ctr"/>
              <a:r>
                <a:rPr lang="en-US" b="1" dirty="0" smtClean="0">
                  <a:ln w="0"/>
                  <a:solidFill>
                    <a:schemeClr val="accent5"/>
                  </a:solidFill>
                  <a:effectLst>
                    <a:outerShdw blurRad="38100" dist="19050" dir="2700000" algn="tl" rotWithShape="0">
                      <a:schemeClr val="dk1">
                        <a:alpha val="40000"/>
                      </a:schemeClr>
                    </a:outerShdw>
                  </a:effectLst>
                  <a:latin typeface="+mj-lt"/>
                </a:rPr>
                <a:t>SHORT TERM</a:t>
              </a:r>
              <a:endParaRPr lang="en-US" b="1" dirty="0">
                <a:ln w="0"/>
                <a:solidFill>
                  <a:schemeClr val="accent5"/>
                </a:solidFill>
                <a:effectLst>
                  <a:outerShdw blurRad="38100" dist="19050" dir="2700000" algn="tl" rotWithShape="0">
                    <a:schemeClr val="dk1">
                      <a:alpha val="40000"/>
                    </a:schemeClr>
                  </a:outerShdw>
                </a:effectLst>
                <a:latin typeface="+mj-lt"/>
              </a:endParaRPr>
            </a:p>
          </p:txBody>
        </p:sp>
        <p:sp>
          <p:nvSpPr>
            <p:cNvPr id="22" name="TextBox 21"/>
            <p:cNvSpPr txBox="1"/>
            <p:nvPr/>
          </p:nvSpPr>
          <p:spPr>
            <a:xfrm>
              <a:off x="9752092" y="5614846"/>
              <a:ext cx="2164702" cy="369332"/>
            </a:xfrm>
            <a:prstGeom prst="rect">
              <a:avLst/>
            </a:prstGeom>
            <a:noFill/>
          </p:spPr>
          <p:txBody>
            <a:bodyPr wrap="square" rtlCol="0">
              <a:spAutoFit/>
            </a:bodyPr>
            <a:lstStyle/>
            <a:p>
              <a:pPr algn="ctr"/>
              <a:r>
                <a:rPr lang="en-US" b="1" dirty="0" smtClean="0">
                  <a:ln w="0"/>
                  <a:solidFill>
                    <a:schemeClr val="accent5"/>
                  </a:solidFill>
                  <a:effectLst>
                    <a:outerShdw blurRad="38100" dist="19050" dir="2700000" algn="tl" rotWithShape="0">
                      <a:schemeClr val="dk1">
                        <a:alpha val="40000"/>
                      </a:schemeClr>
                    </a:outerShdw>
                  </a:effectLst>
                  <a:latin typeface="+mj-lt"/>
                </a:rPr>
                <a:t>LESS</a:t>
              </a:r>
              <a:endParaRPr lang="en-US" b="1" dirty="0">
                <a:ln w="0"/>
                <a:solidFill>
                  <a:schemeClr val="accent5"/>
                </a:solidFill>
                <a:effectLst>
                  <a:outerShdw blurRad="38100" dist="19050" dir="2700000" algn="tl" rotWithShape="0">
                    <a:schemeClr val="dk1">
                      <a:alpha val="40000"/>
                    </a:schemeClr>
                  </a:outerShdw>
                </a:effectLst>
                <a:latin typeface="+mj-lt"/>
              </a:endParaRPr>
            </a:p>
          </p:txBody>
        </p:sp>
        <p:sp>
          <p:nvSpPr>
            <p:cNvPr id="23" name="TextBox 22"/>
            <p:cNvSpPr txBox="1"/>
            <p:nvPr/>
          </p:nvSpPr>
          <p:spPr>
            <a:xfrm>
              <a:off x="370585" y="4694296"/>
              <a:ext cx="1970551" cy="369332"/>
            </a:xfrm>
            <a:prstGeom prst="rect">
              <a:avLst/>
            </a:prstGeom>
            <a:noFill/>
          </p:spPr>
          <p:txBody>
            <a:bodyPr wrap="square" rtlCol="0">
              <a:spAutoFit/>
            </a:bodyPr>
            <a:lstStyle/>
            <a:p>
              <a:pPr algn="ctr"/>
              <a:r>
                <a:rPr lang="en-US" b="1" dirty="0" smtClean="0">
                  <a:ln w="0"/>
                  <a:solidFill>
                    <a:schemeClr val="accent5"/>
                  </a:solidFill>
                  <a:effectLst>
                    <a:outerShdw blurRad="38100" dist="19050" dir="2700000" algn="tl" rotWithShape="0">
                      <a:schemeClr val="dk1">
                        <a:alpha val="40000"/>
                      </a:schemeClr>
                    </a:outerShdw>
                  </a:effectLst>
                  <a:latin typeface="+mj-lt"/>
                </a:rPr>
                <a:t>PETROLEUM ENGR.</a:t>
              </a:r>
              <a:endParaRPr lang="en-US" b="1" dirty="0">
                <a:ln w="0"/>
                <a:solidFill>
                  <a:schemeClr val="accent5"/>
                </a:solidFill>
                <a:effectLst>
                  <a:outerShdw blurRad="38100" dist="19050" dir="2700000" algn="tl" rotWithShape="0">
                    <a:schemeClr val="dk1">
                      <a:alpha val="40000"/>
                    </a:schemeClr>
                  </a:outerShdw>
                </a:effectLst>
                <a:latin typeface="+mj-lt"/>
              </a:endParaRPr>
            </a:p>
          </p:txBody>
        </p:sp>
        <p:sp>
          <p:nvSpPr>
            <p:cNvPr id="24" name="TextBox 23"/>
            <p:cNvSpPr txBox="1"/>
            <p:nvPr/>
          </p:nvSpPr>
          <p:spPr>
            <a:xfrm>
              <a:off x="493676" y="5153490"/>
              <a:ext cx="1847460" cy="369332"/>
            </a:xfrm>
            <a:prstGeom prst="rect">
              <a:avLst/>
            </a:prstGeom>
            <a:noFill/>
          </p:spPr>
          <p:txBody>
            <a:bodyPr wrap="square" rtlCol="0">
              <a:spAutoFit/>
            </a:bodyPr>
            <a:lstStyle/>
            <a:p>
              <a:pPr algn="ctr"/>
              <a:r>
                <a:rPr lang="en-US" b="1" dirty="0" smtClean="0">
                  <a:ln w="0"/>
                  <a:solidFill>
                    <a:schemeClr val="accent5"/>
                  </a:solidFill>
                  <a:effectLst>
                    <a:outerShdw blurRad="38100" dist="19050" dir="2700000" algn="tl" rotWithShape="0">
                      <a:schemeClr val="dk1">
                        <a:alpha val="40000"/>
                      </a:schemeClr>
                    </a:outerShdw>
                  </a:effectLst>
                  <a:latin typeface="+mj-lt"/>
                </a:rPr>
                <a:t>LONG TERM</a:t>
              </a:r>
              <a:endParaRPr lang="en-US" b="1" dirty="0">
                <a:ln w="0"/>
                <a:solidFill>
                  <a:schemeClr val="accent5"/>
                </a:solidFill>
                <a:effectLst>
                  <a:outerShdw blurRad="38100" dist="19050" dir="2700000" algn="tl" rotWithShape="0">
                    <a:schemeClr val="dk1">
                      <a:alpha val="40000"/>
                    </a:schemeClr>
                  </a:outerShdw>
                </a:effectLst>
                <a:latin typeface="+mj-lt"/>
              </a:endParaRPr>
            </a:p>
          </p:txBody>
        </p:sp>
        <p:sp>
          <p:nvSpPr>
            <p:cNvPr id="25" name="TextBox 24"/>
            <p:cNvSpPr txBox="1"/>
            <p:nvPr/>
          </p:nvSpPr>
          <p:spPr>
            <a:xfrm>
              <a:off x="370585" y="5628232"/>
              <a:ext cx="2164702" cy="369332"/>
            </a:xfrm>
            <a:prstGeom prst="rect">
              <a:avLst/>
            </a:prstGeom>
            <a:noFill/>
          </p:spPr>
          <p:txBody>
            <a:bodyPr wrap="square" rtlCol="0">
              <a:spAutoFit/>
            </a:bodyPr>
            <a:lstStyle/>
            <a:p>
              <a:pPr algn="ctr"/>
              <a:r>
                <a:rPr lang="en-US" b="1" dirty="0" smtClean="0">
                  <a:ln w="0"/>
                  <a:solidFill>
                    <a:schemeClr val="accent5"/>
                  </a:solidFill>
                  <a:effectLst>
                    <a:outerShdw blurRad="38100" dist="19050" dir="2700000" algn="tl" rotWithShape="0">
                      <a:schemeClr val="dk1">
                        <a:alpha val="40000"/>
                      </a:schemeClr>
                    </a:outerShdw>
                  </a:effectLst>
                  <a:latin typeface="+mj-lt"/>
                </a:rPr>
                <a:t>MORE</a:t>
              </a:r>
              <a:endParaRPr lang="en-US" b="1" dirty="0">
                <a:ln w="0"/>
                <a:solidFill>
                  <a:schemeClr val="accent5"/>
                </a:solidFill>
                <a:effectLst>
                  <a:outerShdw blurRad="38100" dist="19050" dir="2700000" algn="tl" rotWithShape="0">
                    <a:schemeClr val="dk1">
                      <a:alpha val="40000"/>
                    </a:schemeClr>
                  </a:outerShdw>
                </a:effectLst>
                <a:latin typeface="+mj-lt"/>
              </a:endParaRPr>
            </a:p>
          </p:txBody>
        </p:sp>
        <p:grpSp>
          <p:nvGrpSpPr>
            <p:cNvPr id="34" name="Group 33"/>
            <p:cNvGrpSpPr/>
            <p:nvPr/>
          </p:nvGrpSpPr>
          <p:grpSpPr>
            <a:xfrm>
              <a:off x="7481530" y="4844335"/>
              <a:ext cx="2607597" cy="987642"/>
              <a:chOff x="7481530" y="4844335"/>
              <a:chExt cx="2607597" cy="987642"/>
            </a:xfrm>
          </p:grpSpPr>
          <p:cxnSp>
            <p:nvCxnSpPr>
              <p:cNvPr id="27" name="Straight Arrow Connector 26"/>
              <p:cNvCxnSpPr/>
              <p:nvPr/>
            </p:nvCxnSpPr>
            <p:spPr bwMode="auto">
              <a:xfrm>
                <a:off x="7481531" y="4844335"/>
                <a:ext cx="2607596" cy="0"/>
              </a:xfrm>
              <a:prstGeom prst="straightConnector1">
                <a:avLst/>
              </a:prstGeom>
              <a:ln w="762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28" name="Straight Arrow Connector 27"/>
              <p:cNvCxnSpPr/>
              <p:nvPr/>
            </p:nvCxnSpPr>
            <p:spPr bwMode="auto">
              <a:xfrm>
                <a:off x="7481531" y="5348532"/>
                <a:ext cx="2607596" cy="0"/>
              </a:xfrm>
              <a:prstGeom prst="straightConnector1">
                <a:avLst/>
              </a:prstGeom>
              <a:ln w="762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bwMode="auto">
              <a:xfrm>
                <a:off x="7481530" y="5831977"/>
                <a:ext cx="2607596" cy="0"/>
              </a:xfrm>
              <a:prstGeom prst="straightConnector1">
                <a:avLst/>
              </a:prstGeom>
              <a:ln w="76200">
                <a:headEnd type="none" w="med" len="med"/>
                <a:tailEnd type="triangle"/>
              </a:ln>
            </p:spPr>
            <p:style>
              <a:lnRef idx="1">
                <a:schemeClr val="accent6"/>
              </a:lnRef>
              <a:fillRef idx="0">
                <a:schemeClr val="accent6"/>
              </a:fillRef>
              <a:effectRef idx="0">
                <a:schemeClr val="accent6"/>
              </a:effectRef>
              <a:fontRef idx="minor">
                <a:schemeClr val="tx1"/>
              </a:fontRef>
            </p:style>
          </p:cxnSp>
        </p:grpSp>
        <p:grpSp>
          <p:nvGrpSpPr>
            <p:cNvPr id="33" name="Group 32"/>
            <p:cNvGrpSpPr/>
            <p:nvPr/>
          </p:nvGrpSpPr>
          <p:grpSpPr>
            <a:xfrm rot="10800000">
              <a:off x="2406715" y="4861748"/>
              <a:ext cx="2606040" cy="987642"/>
              <a:chOff x="2942276" y="4761992"/>
              <a:chExt cx="2607597" cy="987642"/>
            </a:xfrm>
          </p:grpSpPr>
          <p:cxnSp>
            <p:nvCxnSpPr>
              <p:cNvPr id="30" name="Straight Arrow Connector 29"/>
              <p:cNvCxnSpPr/>
              <p:nvPr/>
            </p:nvCxnSpPr>
            <p:spPr bwMode="auto">
              <a:xfrm>
                <a:off x="2942277" y="4761992"/>
                <a:ext cx="2607596" cy="0"/>
              </a:xfrm>
              <a:prstGeom prst="straightConnector1">
                <a:avLst/>
              </a:prstGeom>
              <a:ln w="762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1" name="Straight Arrow Connector 30"/>
              <p:cNvCxnSpPr/>
              <p:nvPr/>
            </p:nvCxnSpPr>
            <p:spPr bwMode="auto">
              <a:xfrm>
                <a:off x="2942277" y="5266189"/>
                <a:ext cx="2607596" cy="0"/>
              </a:xfrm>
              <a:prstGeom prst="straightConnector1">
                <a:avLst/>
              </a:prstGeom>
              <a:ln w="762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p:cNvCxnSpPr/>
              <p:nvPr/>
            </p:nvCxnSpPr>
            <p:spPr bwMode="auto">
              <a:xfrm>
                <a:off x="2942276" y="5749634"/>
                <a:ext cx="2607596" cy="0"/>
              </a:xfrm>
              <a:prstGeom prst="straightConnector1">
                <a:avLst/>
              </a:prstGeom>
              <a:ln w="76200">
                <a:headEnd type="none" w="med" len="med"/>
                <a:tailEnd type="triangle"/>
              </a:ln>
            </p:spPr>
            <p:style>
              <a:lnRef idx="1">
                <a:schemeClr val="accent6"/>
              </a:lnRef>
              <a:fillRef idx="0">
                <a:schemeClr val="accent6"/>
              </a:fillRef>
              <a:effectRef idx="0">
                <a:schemeClr val="accent6"/>
              </a:effectRef>
              <a:fontRef idx="minor">
                <a:schemeClr val="tx1"/>
              </a:fontRef>
            </p:style>
          </p:cxnSp>
        </p:grpSp>
      </p:grpSp>
      <p:sp>
        <p:nvSpPr>
          <p:cNvPr id="35" name="Rounded Rectangle 185"/>
          <p:cNvSpPr>
            <a:spLocks noChangeArrowheads="1"/>
          </p:cNvSpPr>
          <p:nvPr/>
        </p:nvSpPr>
        <p:spPr bwMode="auto">
          <a:xfrm>
            <a:off x="722362" y="2024814"/>
            <a:ext cx="1812925" cy="1456124"/>
          </a:xfrm>
          <a:prstGeom prst="roundRect">
            <a:avLst>
              <a:gd name="adj" fmla="val 9370"/>
            </a:avLst>
          </a:prstGeom>
          <a:noFill/>
          <a:ln>
            <a:noFill/>
          </a:ln>
          <a:extLst/>
        </p:spPr>
        <p:style>
          <a:lnRef idx="0">
            <a:scrgbClr r="0" g="0" b="0"/>
          </a:lnRef>
          <a:fillRef idx="0">
            <a:scrgbClr r="0" g="0" b="0"/>
          </a:fillRef>
          <a:effectRef idx="0">
            <a:scrgbClr r="0" g="0" b="0"/>
          </a:effectRef>
          <a:fontRef idx="minor">
            <a:schemeClr val="dk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fontAlgn="base">
              <a:spcBef>
                <a:spcPct val="0"/>
              </a:spcBef>
              <a:spcAft>
                <a:spcPct val="0"/>
              </a:spcAft>
            </a:pPr>
            <a:endParaRPr lang="en-US" altLang="en-US" smtClean="0">
              <a:solidFill>
                <a:srgbClr val="FFFFFF"/>
              </a:solidFill>
            </a:endParaRPr>
          </a:p>
        </p:txBody>
      </p:sp>
      <p:grpSp>
        <p:nvGrpSpPr>
          <p:cNvPr id="3" name="Group 2"/>
          <p:cNvGrpSpPr/>
          <p:nvPr/>
        </p:nvGrpSpPr>
        <p:grpSpPr>
          <a:xfrm>
            <a:off x="111129" y="1501143"/>
            <a:ext cx="11954325" cy="3211288"/>
            <a:chOff x="111129" y="1160310"/>
            <a:chExt cx="11954325" cy="3211288"/>
          </a:xfrm>
        </p:grpSpPr>
        <p:grpSp>
          <p:nvGrpSpPr>
            <p:cNvPr id="16" name="Group 15"/>
            <p:cNvGrpSpPr/>
            <p:nvPr/>
          </p:nvGrpSpPr>
          <p:grpSpPr>
            <a:xfrm>
              <a:off x="111129" y="1160310"/>
              <a:ext cx="11954325" cy="3211288"/>
              <a:chOff x="111129" y="1160310"/>
              <a:chExt cx="11954325" cy="3211288"/>
            </a:xfrm>
          </p:grpSpPr>
          <p:grpSp>
            <p:nvGrpSpPr>
              <p:cNvPr id="11" name="Group 10"/>
              <p:cNvGrpSpPr/>
              <p:nvPr/>
            </p:nvGrpSpPr>
            <p:grpSpPr>
              <a:xfrm>
                <a:off x="111129" y="1160310"/>
                <a:ext cx="11954325" cy="3211288"/>
                <a:chOff x="111129" y="1925416"/>
                <a:chExt cx="11954325" cy="3211288"/>
              </a:xfrm>
            </p:grpSpPr>
            <p:sp>
              <p:nvSpPr>
                <p:cNvPr id="5" name="Oval 4"/>
                <p:cNvSpPr/>
                <p:nvPr/>
              </p:nvSpPr>
              <p:spPr>
                <a:xfrm>
                  <a:off x="111129" y="1925417"/>
                  <a:ext cx="3105785" cy="3198844"/>
                </a:xfrm>
                <a:prstGeom prst="ellipse">
                  <a:avLst/>
                </a:prstGeom>
                <a:solidFill>
                  <a:schemeClr val="accent2">
                    <a:alpha val="19000"/>
                  </a:schemeClr>
                </a:solidFill>
                <a:ln>
                  <a:noFill/>
                  <a:prstDash val="sysDot"/>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nvGrpSpPr>
                <p:cNvPr id="10" name="Group 9"/>
                <p:cNvGrpSpPr/>
                <p:nvPr/>
              </p:nvGrpSpPr>
              <p:grpSpPr>
                <a:xfrm>
                  <a:off x="3053394" y="1925416"/>
                  <a:ext cx="9012060" cy="3211288"/>
                  <a:chOff x="3053394" y="1925416"/>
                  <a:chExt cx="9012060" cy="3211288"/>
                </a:xfrm>
              </p:grpSpPr>
              <p:sp>
                <p:nvSpPr>
                  <p:cNvPr id="7" name="Oval 6"/>
                  <p:cNvSpPr/>
                  <p:nvPr/>
                </p:nvSpPr>
                <p:spPr>
                  <a:xfrm>
                    <a:off x="3053394" y="1937860"/>
                    <a:ext cx="3105785" cy="3198844"/>
                  </a:xfrm>
                  <a:prstGeom prst="ellipse">
                    <a:avLst/>
                  </a:prstGeom>
                  <a:solidFill>
                    <a:schemeClr val="accent3">
                      <a:lumMod val="50000"/>
                      <a:alpha val="19000"/>
                    </a:schemeClr>
                  </a:solidFill>
                  <a:ln>
                    <a:noFill/>
                    <a:prstDash val="sysDot"/>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8" name="Oval 7"/>
                  <p:cNvSpPr/>
                  <p:nvPr/>
                </p:nvSpPr>
                <p:spPr>
                  <a:xfrm>
                    <a:off x="6011184" y="1925416"/>
                    <a:ext cx="3105785" cy="3198844"/>
                  </a:xfrm>
                  <a:prstGeom prst="ellipse">
                    <a:avLst/>
                  </a:prstGeom>
                  <a:solidFill>
                    <a:schemeClr val="accent1">
                      <a:alpha val="19000"/>
                    </a:schemeClr>
                  </a:solidFill>
                  <a:ln>
                    <a:noFill/>
                    <a:prstDash val="sysDot"/>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Oval 8"/>
                  <p:cNvSpPr/>
                  <p:nvPr/>
                </p:nvSpPr>
                <p:spPr>
                  <a:xfrm>
                    <a:off x="8959669" y="1937860"/>
                    <a:ext cx="3105785" cy="3198844"/>
                  </a:xfrm>
                  <a:prstGeom prst="ellipse">
                    <a:avLst/>
                  </a:prstGeom>
                  <a:solidFill>
                    <a:schemeClr val="accent5">
                      <a:alpha val="19000"/>
                    </a:schemeClr>
                  </a:solidFill>
                  <a:ln>
                    <a:noFill/>
                    <a:prstDash val="sysDot"/>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sp>
            <p:nvSpPr>
              <p:cNvPr id="12" name="TextBox 11"/>
              <p:cNvSpPr txBox="1"/>
              <p:nvPr/>
            </p:nvSpPr>
            <p:spPr>
              <a:xfrm>
                <a:off x="809228" y="1516982"/>
                <a:ext cx="1670180" cy="369332"/>
              </a:xfrm>
              <a:prstGeom prst="rect">
                <a:avLst/>
              </a:prstGeom>
              <a:noFill/>
            </p:spPr>
            <p:txBody>
              <a:bodyPr wrap="square" rtlCol="0">
                <a:spAutoFit/>
              </a:bodyPr>
              <a:lstStyle/>
              <a:p>
                <a:pPr algn="ctr"/>
                <a:r>
                  <a:rPr lang="en-US" b="1" u="sng" dirty="0" smtClean="0">
                    <a:effectLst>
                      <a:outerShdw blurRad="50800" dist="38100" dir="5400000" algn="t" rotWithShape="0">
                        <a:prstClr val="black">
                          <a:alpha val="40000"/>
                        </a:prstClr>
                      </a:outerShdw>
                    </a:effectLst>
                  </a:rPr>
                  <a:t>Special Studies</a:t>
                </a:r>
                <a:endParaRPr lang="en-US" b="1" u="sng" dirty="0">
                  <a:effectLst>
                    <a:outerShdw blurRad="50800" dist="38100" dir="5400000" algn="t" rotWithShape="0">
                      <a:prstClr val="black">
                        <a:alpha val="40000"/>
                      </a:prstClr>
                    </a:outerShdw>
                  </a:effectLst>
                </a:endParaRPr>
              </a:p>
            </p:txBody>
          </p:sp>
          <p:sp>
            <p:nvSpPr>
              <p:cNvPr id="13" name="TextBox 12"/>
              <p:cNvSpPr txBox="1"/>
              <p:nvPr/>
            </p:nvSpPr>
            <p:spPr>
              <a:xfrm>
                <a:off x="3817354" y="1516982"/>
                <a:ext cx="1670180" cy="369332"/>
              </a:xfrm>
              <a:prstGeom prst="rect">
                <a:avLst/>
              </a:prstGeom>
              <a:noFill/>
            </p:spPr>
            <p:txBody>
              <a:bodyPr wrap="square" rtlCol="0">
                <a:spAutoFit/>
              </a:bodyPr>
              <a:lstStyle/>
              <a:p>
                <a:pPr algn="ctr"/>
                <a:r>
                  <a:rPr lang="en-US" b="1" u="sng" dirty="0" smtClean="0">
                    <a:ln w="0"/>
                    <a:effectLst>
                      <a:outerShdw blurRad="38100" dist="19050" dir="2700000" algn="tl" rotWithShape="0">
                        <a:schemeClr val="dk1">
                          <a:alpha val="40000"/>
                        </a:schemeClr>
                      </a:outerShdw>
                    </a:effectLst>
                  </a:rPr>
                  <a:t>Well Modeling</a:t>
                </a:r>
                <a:endParaRPr lang="en-US" b="1" u="sng" dirty="0">
                  <a:ln w="0"/>
                  <a:effectLst>
                    <a:outerShdw blurRad="38100" dist="19050" dir="2700000" algn="tl" rotWithShape="0">
                      <a:schemeClr val="dk1">
                        <a:alpha val="40000"/>
                      </a:schemeClr>
                    </a:outerShdw>
                  </a:effectLst>
                </a:endParaRPr>
              </a:p>
            </p:txBody>
          </p:sp>
          <p:sp>
            <p:nvSpPr>
              <p:cNvPr id="14" name="TextBox 13"/>
              <p:cNvSpPr txBox="1"/>
              <p:nvPr/>
            </p:nvSpPr>
            <p:spPr>
              <a:xfrm>
                <a:off x="6758605" y="1367796"/>
                <a:ext cx="1670180" cy="646331"/>
              </a:xfrm>
              <a:prstGeom prst="rect">
                <a:avLst/>
              </a:prstGeom>
              <a:noFill/>
            </p:spPr>
            <p:txBody>
              <a:bodyPr wrap="square" rtlCol="0">
                <a:spAutoFit/>
              </a:bodyPr>
              <a:lstStyle/>
              <a:p>
                <a:pPr algn="ctr"/>
                <a:r>
                  <a:rPr lang="en-US" b="1" u="sng" dirty="0" smtClean="0">
                    <a:ln w="0"/>
                    <a:effectLst>
                      <a:outerShdw blurRad="38100" dist="19050" dir="2700000" algn="tl" rotWithShape="0">
                        <a:schemeClr val="dk1">
                          <a:alpha val="40000"/>
                        </a:schemeClr>
                      </a:outerShdw>
                    </a:effectLst>
                  </a:rPr>
                  <a:t>Data Driven Exceptions</a:t>
                </a:r>
                <a:endParaRPr lang="en-US" b="1" u="sng" dirty="0">
                  <a:ln w="0"/>
                  <a:effectLst>
                    <a:outerShdw blurRad="38100" dist="19050" dir="2700000" algn="tl" rotWithShape="0">
                      <a:schemeClr val="dk1">
                        <a:alpha val="40000"/>
                      </a:schemeClr>
                    </a:outerShdw>
                  </a:effectLst>
                </a:endParaRPr>
              </a:p>
            </p:txBody>
          </p:sp>
          <p:sp>
            <p:nvSpPr>
              <p:cNvPr id="15" name="TextBox 14"/>
              <p:cNvSpPr txBox="1"/>
              <p:nvPr/>
            </p:nvSpPr>
            <p:spPr>
              <a:xfrm>
                <a:off x="9677471" y="1378517"/>
                <a:ext cx="1670180" cy="646331"/>
              </a:xfrm>
              <a:prstGeom prst="rect">
                <a:avLst/>
              </a:prstGeom>
              <a:noFill/>
            </p:spPr>
            <p:txBody>
              <a:bodyPr wrap="square" rtlCol="0">
                <a:spAutoFit/>
              </a:bodyPr>
              <a:lstStyle/>
              <a:p>
                <a:pPr algn="ctr"/>
                <a:r>
                  <a:rPr lang="en-US" b="1" u="sng" dirty="0" smtClean="0">
                    <a:ln w="0"/>
                    <a:effectLst>
                      <a:outerShdw blurRad="38100" dist="19050" dir="2700000" algn="tl" rotWithShape="0">
                        <a:schemeClr val="dk1">
                          <a:alpha val="40000"/>
                        </a:schemeClr>
                      </a:outerShdw>
                    </a:effectLst>
                  </a:rPr>
                  <a:t>Business Processes</a:t>
                </a:r>
                <a:endParaRPr lang="en-US" b="1" u="sng" dirty="0">
                  <a:ln w="0"/>
                  <a:effectLst>
                    <a:outerShdw blurRad="38100" dist="19050" dir="2700000" algn="tl" rotWithShape="0">
                      <a:schemeClr val="dk1">
                        <a:alpha val="40000"/>
                      </a:schemeClr>
                    </a:outerShdw>
                  </a:effectLst>
                </a:endParaRPr>
              </a:p>
            </p:txBody>
          </p:sp>
        </p:grpSp>
        <p:sp>
          <p:nvSpPr>
            <p:cNvPr id="36" name="TextBox 35"/>
            <p:cNvSpPr txBox="1"/>
            <p:nvPr/>
          </p:nvSpPr>
          <p:spPr>
            <a:xfrm>
              <a:off x="805259" y="2296258"/>
              <a:ext cx="2166728" cy="1323439"/>
            </a:xfrm>
            <a:prstGeom prst="rect">
              <a:avLst/>
            </a:prstGeom>
            <a:noFill/>
          </p:spPr>
          <p:txBody>
            <a:bodyPr wrap="square" rtlCol="0">
              <a:spAutoFit/>
            </a:bodyPr>
            <a:lstStyle/>
            <a:p>
              <a:pPr lvl="0">
                <a:defRPr/>
              </a:pPr>
              <a:r>
                <a:rPr lang="en-US" sz="1600" dirty="0" smtClean="0">
                  <a:ln w="0"/>
                  <a:solidFill>
                    <a:srgbClr val="000000"/>
                  </a:solidFill>
                  <a:effectLst>
                    <a:outerShdw blurRad="38100" dist="19050" dir="2700000" algn="tl" rotWithShape="0">
                      <a:srgbClr val="000000">
                        <a:alpha val="40000"/>
                      </a:srgbClr>
                    </a:outerShdw>
                  </a:effectLst>
                </a:rPr>
                <a:t>Drawdown Strategy</a:t>
              </a:r>
            </a:p>
            <a:p>
              <a:pPr lvl="0">
                <a:defRPr/>
              </a:pPr>
              <a:r>
                <a:rPr lang="en-US" sz="1600" dirty="0" smtClean="0">
                  <a:ln w="0"/>
                  <a:solidFill>
                    <a:srgbClr val="000000"/>
                  </a:solidFill>
                  <a:effectLst>
                    <a:outerShdw blurRad="38100" dist="19050" dir="2700000" algn="tl" rotWithShape="0">
                      <a:srgbClr val="000000">
                        <a:alpha val="40000"/>
                      </a:srgbClr>
                    </a:outerShdw>
                  </a:effectLst>
                </a:rPr>
                <a:t>Completion </a:t>
              </a:r>
              <a:r>
                <a:rPr lang="en-US" sz="1600" dirty="0">
                  <a:ln w="0"/>
                  <a:solidFill>
                    <a:srgbClr val="000000"/>
                  </a:solidFill>
                  <a:effectLst>
                    <a:outerShdw blurRad="38100" dist="19050" dir="2700000" algn="tl" rotWithShape="0">
                      <a:srgbClr val="000000">
                        <a:alpha val="40000"/>
                      </a:srgbClr>
                    </a:outerShdw>
                  </a:effectLst>
                </a:rPr>
                <a:t>Design</a:t>
              </a:r>
            </a:p>
            <a:p>
              <a:pPr lvl="0">
                <a:defRPr/>
              </a:pPr>
              <a:r>
                <a:rPr lang="en-US" sz="1600" dirty="0" smtClean="0">
                  <a:ln w="0"/>
                  <a:solidFill>
                    <a:srgbClr val="000000"/>
                  </a:solidFill>
                  <a:effectLst>
                    <a:outerShdw blurRad="38100" dist="19050" dir="2700000" algn="tl" rotWithShape="0">
                      <a:srgbClr val="000000">
                        <a:alpha val="40000"/>
                      </a:srgbClr>
                    </a:outerShdw>
                  </a:effectLst>
                </a:rPr>
                <a:t>Production Forecasting</a:t>
              </a:r>
              <a:endParaRPr lang="en-US" sz="1600" dirty="0">
                <a:ln w="0"/>
                <a:solidFill>
                  <a:srgbClr val="000000"/>
                </a:solidFill>
                <a:effectLst>
                  <a:outerShdw blurRad="38100" dist="19050" dir="2700000" algn="tl" rotWithShape="0">
                    <a:srgbClr val="000000">
                      <a:alpha val="40000"/>
                    </a:srgbClr>
                  </a:outerShdw>
                </a:effectLst>
              </a:endParaRPr>
            </a:p>
            <a:p>
              <a:pPr lvl="0">
                <a:defRPr/>
              </a:pPr>
              <a:r>
                <a:rPr lang="en-US" sz="1600" dirty="0">
                  <a:ln w="0"/>
                  <a:solidFill>
                    <a:srgbClr val="000000"/>
                  </a:solidFill>
                  <a:effectLst>
                    <a:outerShdw blurRad="38100" dist="19050" dir="2700000" algn="tl" rotWithShape="0">
                      <a:srgbClr val="000000">
                        <a:alpha val="40000"/>
                      </a:srgbClr>
                    </a:outerShdw>
                  </a:effectLst>
                </a:rPr>
                <a:t>Separator </a:t>
              </a:r>
              <a:r>
                <a:rPr lang="en-US" sz="1600" dirty="0" smtClean="0">
                  <a:ln w="0"/>
                  <a:solidFill>
                    <a:srgbClr val="000000"/>
                  </a:solidFill>
                  <a:effectLst>
                    <a:outerShdw blurRad="38100" dist="19050" dir="2700000" algn="tl" rotWithShape="0">
                      <a:srgbClr val="000000">
                        <a:alpha val="40000"/>
                      </a:srgbClr>
                    </a:outerShdw>
                  </a:effectLst>
                </a:rPr>
                <a:t>Sizing</a:t>
              </a:r>
            </a:p>
            <a:p>
              <a:pPr lvl="0">
                <a:defRPr/>
              </a:pPr>
              <a:r>
                <a:rPr lang="en-US" sz="1600" dirty="0" smtClean="0">
                  <a:ln w="0"/>
                  <a:solidFill>
                    <a:srgbClr val="000000"/>
                  </a:solidFill>
                  <a:effectLst>
                    <a:outerShdw blurRad="38100" dist="19050" dir="2700000" algn="tl" rotWithShape="0">
                      <a:srgbClr val="000000">
                        <a:alpha val="40000"/>
                      </a:srgbClr>
                    </a:outerShdw>
                  </a:effectLst>
                </a:rPr>
                <a:t>Artificial Lift Strategy</a:t>
              </a:r>
              <a:endParaRPr lang="en-US" sz="1600" dirty="0">
                <a:ln w="0"/>
                <a:solidFill>
                  <a:srgbClr val="000000"/>
                </a:solidFill>
                <a:effectLst>
                  <a:outerShdw blurRad="38100" dist="19050" dir="2700000" algn="tl" rotWithShape="0">
                    <a:srgbClr val="000000">
                      <a:alpha val="40000"/>
                    </a:srgbClr>
                  </a:outerShdw>
                </a:effectLst>
              </a:endParaRPr>
            </a:p>
          </p:txBody>
        </p:sp>
        <p:sp>
          <p:nvSpPr>
            <p:cNvPr id="37" name="TextBox 36"/>
            <p:cNvSpPr txBox="1"/>
            <p:nvPr/>
          </p:nvSpPr>
          <p:spPr>
            <a:xfrm>
              <a:off x="3897021" y="2261632"/>
              <a:ext cx="1798141" cy="1077218"/>
            </a:xfrm>
            <a:prstGeom prst="rect">
              <a:avLst/>
            </a:prstGeom>
            <a:noFill/>
          </p:spPr>
          <p:txBody>
            <a:bodyPr wrap="square" rtlCol="0">
              <a:spAutoFit/>
            </a:bodyPr>
            <a:lstStyle/>
            <a:p>
              <a:pPr lvl="0">
                <a:defRPr/>
              </a:pPr>
              <a:r>
                <a:rPr lang="en-US" sz="1600" dirty="0">
                  <a:ln w="0"/>
                  <a:solidFill>
                    <a:srgbClr val="000000"/>
                  </a:solidFill>
                  <a:effectLst>
                    <a:outerShdw blurRad="38100" dist="19050" dir="2700000" algn="tl" rotWithShape="0">
                      <a:srgbClr val="000000">
                        <a:alpha val="40000"/>
                      </a:srgbClr>
                    </a:outerShdw>
                  </a:effectLst>
                </a:rPr>
                <a:t>Prod Optimization</a:t>
              </a:r>
            </a:p>
            <a:p>
              <a:pPr lvl="0">
                <a:defRPr/>
              </a:pPr>
              <a:r>
                <a:rPr lang="en-US" sz="1600" dirty="0">
                  <a:ln w="0"/>
                  <a:solidFill>
                    <a:srgbClr val="000000"/>
                  </a:solidFill>
                  <a:effectLst>
                    <a:outerShdw blurRad="38100" dist="19050" dir="2700000" algn="tl" rotWithShape="0">
                      <a:srgbClr val="000000">
                        <a:alpha val="40000"/>
                      </a:srgbClr>
                    </a:outerShdw>
                  </a:effectLst>
                </a:rPr>
                <a:t>GOR Forecasting</a:t>
              </a:r>
            </a:p>
            <a:p>
              <a:pPr lvl="0">
                <a:defRPr/>
              </a:pPr>
              <a:r>
                <a:rPr lang="en-US" sz="1600" dirty="0">
                  <a:ln w="0"/>
                  <a:solidFill>
                    <a:srgbClr val="000000"/>
                  </a:solidFill>
                  <a:effectLst>
                    <a:outerShdw blurRad="38100" dist="19050" dir="2700000" algn="tl" rotWithShape="0">
                      <a:srgbClr val="000000">
                        <a:alpha val="40000"/>
                      </a:srgbClr>
                    </a:outerShdw>
                  </a:effectLst>
                </a:rPr>
                <a:t>RVP Prediction</a:t>
              </a:r>
            </a:p>
            <a:p>
              <a:pPr lvl="0">
                <a:defRPr/>
              </a:pPr>
              <a:r>
                <a:rPr lang="en-US" sz="1600" dirty="0">
                  <a:ln w="0"/>
                  <a:solidFill>
                    <a:srgbClr val="000000"/>
                  </a:solidFill>
                  <a:effectLst>
                    <a:outerShdw blurRad="38100" dist="19050" dir="2700000" algn="tl" rotWithShape="0">
                      <a:srgbClr val="000000">
                        <a:alpha val="40000"/>
                      </a:srgbClr>
                    </a:outerShdw>
                  </a:effectLst>
                </a:rPr>
                <a:t>Flow </a:t>
              </a:r>
              <a:r>
                <a:rPr lang="en-US" sz="1600" dirty="0" smtClean="0">
                  <a:ln w="0"/>
                  <a:solidFill>
                    <a:srgbClr val="000000"/>
                  </a:solidFill>
                  <a:effectLst>
                    <a:outerShdw blurRad="38100" dist="19050" dir="2700000" algn="tl" rotWithShape="0">
                      <a:srgbClr val="000000">
                        <a:alpha val="40000"/>
                      </a:srgbClr>
                    </a:outerShdw>
                  </a:effectLst>
                </a:rPr>
                <a:t>Assurance</a:t>
              </a:r>
              <a:endParaRPr lang="en-US" sz="1600" dirty="0">
                <a:ln w="0"/>
                <a:solidFill>
                  <a:srgbClr val="000000"/>
                </a:solidFill>
                <a:effectLst>
                  <a:outerShdw blurRad="38100" dist="19050" dir="2700000" algn="tl" rotWithShape="0">
                    <a:srgbClr val="000000">
                      <a:alpha val="40000"/>
                    </a:srgbClr>
                  </a:outerShdw>
                </a:effectLst>
              </a:endParaRPr>
            </a:p>
          </p:txBody>
        </p:sp>
        <p:sp>
          <p:nvSpPr>
            <p:cNvPr id="38" name="TextBox 37"/>
            <p:cNvSpPr txBox="1"/>
            <p:nvPr/>
          </p:nvSpPr>
          <p:spPr>
            <a:xfrm>
              <a:off x="6475201" y="2180690"/>
              <a:ext cx="2478248" cy="1323439"/>
            </a:xfrm>
            <a:prstGeom prst="rect">
              <a:avLst/>
            </a:prstGeom>
            <a:noFill/>
          </p:spPr>
          <p:txBody>
            <a:bodyPr wrap="square" rtlCol="0">
              <a:spAutoFit/>
            </a:bodyPr>
            <a:lstStyle/>
            <a:p>
              <a:pPr lvl="0">
                <a:defRPr/>
              </a:pPr>
              <a:r>
                <a:rPr lang="en-US" sz="1600" dirty="0">
                  <a:ln w="0"/>
                  <a:solidFill>
                    <a:srgbClr val="000000"/>
                  </a:solidFill>
                  <a:effectLst>
                    <a:outerShdw blurRad="38100" dist="19050" dir="2700000" algn="tl" rotWithShape="0">
                      <a:srgbClr val="000000">
                        <a:alpha val="40000"/>
                      </a:srgbClr>
                    </a:outerShdw>
                  </a:effectLst>
                </a:rPr>
                <a:t>Plunger Surveillance</a:t>
              </a:r>
            </a:p>
            <a:p>
              <a:pPr lvl="0">
                <a:defRPr/>
              </a:pPr>
              <a:r>
                <a:rPr lang="en-US" sz="1600" dirty="0">
                  <a:ln w="0"/>
                  <a:solidFill>
                    <a:srgbClr val="000000"/>
                  </a:solidFill>
                  <a:effectLst>
                    <a:outerShdw blurRad="38100" dist="19050" dir="2700000" algn="tl" rotWithShape="0">
                      <a:srgbClr val="000000">
                        <a:alpha val="40000"/>
                      </a:srgbClr>
                    </a:outerShdw>
                  </a:effectLst>
                </a:rPr>
                <a:t>Coriolis Monitoring</a:t>
              </a:r>
            </a:p>
            <a:p>
              <a:pPr lvl="0">
                <a:defRPr/>
              </a:pPr>
              <a:r>
                <a:rPr lang="en-US" sz="1600" dirty="0">
                  <a:ln w="0"/>
                  <a:solidFill>
                    <a:srgbClr val="000000"/>
                  </a:solidFill>
                  <a:effectLst>
                    <a:outerShdw blurRad="38100" dist="19050" dir="2700000" algn="tl" rotWithShape="0">
                      <a:srgbClr val="000000">
                        <a:alpha val="40000"/>
                      </a:srgbClr>
                    </a:outerShdw>
                  </a:effectLst>
                </a:rPr>
                <a:t>Well Loading Trends</a:t>
              </a:r>
            </a:p>
            <a:p>
              <a:pPr lvl="0">
                <a:defRPr/>
              </a:pPr>
              <a:r>
                <a:rPr lang="en-US" sz="1600" dirty="0">
                  <a:ln w="0"/>
                  <a:solidFill>
                    <a:srgbClr val="000000"/>
                  </a:solidFill>
                  <a:effectLst>
                    <a:outerShdw blurRad="38100" dist="19050" dir="2700000" algn="tl" rotWithShape="0">
                      <a:srgbClr val="000000">
                        <a:alpha val="40000"/>
                      </a:srgbClr>
                    </a:outerShdw>
                  </a:effectLst>
                </a:rPr>
                <a:t>Production Tracker</a:t>
              </a:r>
            </a:p>
            <a:p>
              <a:pPr lvl="0">
                <a:defRPr/>
              </a:pPr>
              <a:r>
                <a:rPr lang="en-US" sz="1600" dirty="0" smtClean="0">
                  <a:ln w="0"/>
                  <a:solidFill>
                    <a:srgbClr val="000000"/>
                  </a:solidFill>
                  <a:effectLst>
                    <a:outerShdw blurRad="38100" dist="19050" dir="2700000" algn="tl" rotWithShape="0">
                      <a:srgbClr val="000000">
                        <a:alpha val="40000"/>
                      </a:srgbClr>
                    </a:outerShdw>
                  </a:effectLst>
                </a:rPr>
                <a:t>Line Pressure Surveillance</a:t>
              </a:r>
              <a:endParaRPr lang="en-US" sz="1600" dirty="0">
                <a:ln w="0"/>
                <a:solidFill>
                  <a:srgbClr val="000000"/>
                </a:solidFill>
                <a:effectLst>
                  <a:outerShdw blurRad="38100" dist="19050" dir="2700000" algn="tl" rotWithShape="0">
                    <a:srgbClr val="000000">
                      <a:alpha val="40000"/>
                    </a:srgbClr>
                  </a:outerShdw>
                </a:effectLst>
              </a:endParaRPr>
            </a:p>
          </p:txBody>
        </p:sp>
        <p:sp>
          <p:nvSpPr>
            <p:cNvPr id="39" name="TextBox 38"/>
            <p:cNvSpPr txBox="1"/>
            <p:nvPr/>
          </p:nvSpPr>
          <p:spPr>
            <a:xfrm>
              <a:off x="9812940" y="2180689"/>
              <a:ext cx="1872318" cy="1323439"/>
            </a:xfrm>
            <a:prstGeom prst="rect">
              <a:avLst/>
            </a:prstGeom>
            <a:noFill/>
          </p:spPr>
          <p:txBody>
            <a:bodyPr wrap="square" rtlCol="0">
              <a:spAutoFit/>
            </a:bodyPr>
            <a:lstStyle/>
            <a:p>
              <a:pPr lvl="0">
                <a:defRPr/>
              </a:pPr>
              <a:r>
                <a:rPr lang="en-US" sz="1600" dirty="0">
                  <a:ln w="0"/>
                  <a:solidFill>
                    <a:srgbClr val="000000"/>
                  </a:solidFill>
                  <a:effectLst>
                    <a:outerShdw blurRad="38100" dist="19050" dir="2700000" algn="tl" rotWithShape="0">
                      <a:srgbClr val="000000">
                        <a:alpha val="40000"/>
                      </a:srgbClr>
                    </a:outerShdw>
                  </a:effectLst>
                </a:rPr>
                <a:t>Dispatching</a:t>
              </a:r>
            </a:p>
            <a:p>
              <a:pPr lvl="0">
                <a:defRPr/>
              </a:pPr>
              <a:r>
                <a:rPr lang="en-US" sz="1600" dirty="0">
                  <a:ln w="0"/>
                  <a:solidFill>
                    <a:srgbClr val="000000"/>
                  </a:solidFill>
                  <a:effectLst>
                    <a:outerShdw blurRad="38100" dist="19050" dir="2700000" algn="tl" rotWithShape="0">
                      <a:srgbClr val="000000">
                        <a:alpha val="40000"/>
                      </a:srgbClr>
                    </a:outerShdw>
                  </a:effectLst>
                </a:rPr>
                <a:t>Income Statements</a:t>
              </a:r>
            </a:p>
            <a:p>
              <a:pPr lvl="0">
                <a:defRPr/>
              </a:pPr>
              <a:r>
                <a:rPr lang="en-US" sz="1600" dirty="0">
                  <a:ln w="0"/>
                  <a:solidFill>
                    <a:srgbClr val="000000"/>
                  </a:solidFill>
                  <a:effectLst>
                    <a:outerShdw blurRad="38100" dist="19050" dir="2700000" algn="tl" rotWithShape="0">
                      <a:srgbClr val="000000">
                        <a:alpha val="40000"/>
                      </a:srgbClr>
                    </a:outerShdw>
                  </a:effectLst>
                </a:rPr>
                <a:t>Pigging (Midstream)</a:t>
              </a:r>
            </a:p>
            <a:p>
              <a:pPr lvl="0">
                <a:defRPr/>
              </a:pPr>
              <a:r>
                <a:rPr lang="en-US" sz="1600" dirty="0">
                  <a:ln w="0"/>
                  <a:solidFill>
                    <a:srgbClr val="000000"/>
                  </a:solidFill>
                  <a:effectLst>
                    <a:outerShdw blurRad="38100" dist="19050" dir="2700000" algn="tl" rotWithShape="0">
                      <a:srgbClr val="000000">
                        <a:alpha val="40000"/>
                      </a:srgbClr>
                    </a:outerShdw>
                  </a:effectLst>
                </a:rPr>
                <a:t>Reporting</a:t>
              </a:r>
            </a:p>
            <a:p>
              <a:pPr lvl="0">
                <a:defRPr/>
              </a:pPr>
              <a:r>
                <a:rPr lang="en-US" sz="1600" dirty="0">
                  <a:ln w="0"/>
                  <a:solidFill>
                    <a:srgbClr val="000000"/>
                  </a:solidFill>
                  <a:effectLst>
                    <a:outerShdw blurRad="38100" dist="19050" dir="2700000" algn="tl" rotWithShape="0">
                      <a:srgbClr val="000000">
                        <a:alpha val="40000"/>
                      </a:srgbClr>
                    </a:outerShdw>
                  </a:effectLst>
                </a:rPr>
                <a:t>Employee </a:t>
              </a:r>
              <a:r>
                <a:rPr lang="en-US" sz="1600" dirty="0" smtClean="0">
                  <a:ln w="0"/>
                  <a:solidFill>
                    <a:srgbClr val="000000"/>
                  </a:solidFill>
                  <a:effectLst>
                    <a:outerShdw blurRad="38100" dist="19050" dir="2700000" algn="tl" rotWithShape="0">
                      <a:srgbClr val="000000">
                        <a:alpha val="40000"/>
                      </a:srgbClr>
                    </a:outerShdw>
                  </a:effectLst>
                </a:rPr>
                <a:t>Tracking</a:t>
              </a:r>
              <a:endParaRPr lang="en-US" sz="1600" dirty="0">
                <a:ln w="0"/>
                <a:solidFill>
                  <a:srgbClr val="000000"/>
                </a:solidFill>
                <a:effectLst>
                  <a:outerShdw blurRad="38100" dist="19050" dir="2700000" algn="tl" rotWithShape="0">
                    <a:srgbClr val="000000">
                      <a:alpha val="40000"/>
                    </a:srgbClr>
                  </a:outerShdw>
                </a:effectLst>
              </a:endParaRPr>
            </a:p>
          </p:txBody>
        </p:sp>
      </p:grpSp>
      <p:sp>
        <p:nvSpPr>
          <p:cNvPr id="53" name="Title 1"/>
          <p:cNvSpPr>
            <a:spLocks noGrp="1"/>
          </p:cNvSpPr>
          <p:nvPr>
            <p:ph type="title"/>
          </p:nvPr>
        </p:nvSpPr>
        <p:spPr>
          <a:xfrm>
            <a:off x="449090" y="0"/>
            <a:ext cx="10515600" cy="1325563"/>
          </a:xfrm>
        </p:spPr>
        <p:txBody>
          <a:bodyPr/>
          <a:lstStyle/>
          <a:p>
            <a:r>
              <a:rPr lang="en-US" dirty="0" smtClean="0"/>
              <a:t>Anadarko </a:t>
            </a:r>
            <a:r>
              <a:rPr lang="en-US" dirty="0" smtClean="0"/>
              <a:t>IAM Work Spectrum</a:t>
            </a:r>
            <a:endParaRPr lang="en-US" dirty="0"/>
          </a:p>
        </p:txBody>
      </p:sp>
    </p:spTree>
    <p:extLst>
      <p:ext uri="{BB962C8B-B14F-4D97-AF65-F5344CB8AC3E}">
        <p14:creationId xmlns:p14="http://schemas.microsoft.com/office/powerpoint/2010/main" val="97322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506" y="220747"/>
            <a:ext cx="10515600" cy="923842"/>
          </a:xfrm>
        </p:spPr>
        <p:txBody>
          <a:bodyPr/>
          <a:lstStyle/>
          <a:p>
            <a:r>
              <a:rPr lang="en-US" dirty="0" smtClean="0"/>
              <a:t>How </a:t>
            </a:r>
            <a:r>
              <a:rPr lang="en-US" dirty="0" smtClean="0"/>
              <a:t>are we impacting the business today?</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9</a:t>
            </a:fld>
            <a:endParaRPr lang="en-US"/>
          </a:p>
        </p:txBody>
      </p:sp>
    </p:spTree>
    <p:extLst>
      <p:ext uri="{BB962C8B-B14F-4D97-AF65-F5344CB8AC3E}">
        <p14:creationId xmlns:p14="http://schemas.microsoft.com/office/powerpoint/2010/main" val="41516062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Horizontal Well/Facility Surveillance</a:t>
            </a:r>
            <a:br>
              <a:rPr lang="en-US" dirty="0"/>
            </a:b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10</a:t>
            </a:fld>
            <a:endParaRPr lang="en-US"/>
          </a:p>
        </p:txBody>
      </p:sp>
      <p:sp>
        <p:nvSpPr>
          <p:cNvPr id="7" name="TextBox 6"/>
          <p:cNvSpPr txBox="1"/>
          <p:nvPr/>
        </p:nvSpPr>
        <p:spPr>
          <a:xfrm rot="20008956">
            <a:off x="4827479" y="2679272"/>
            <a:ext cx="1054559" cy="769441"/>
          </a:xfrm>
          <a:prstGeom prst="rect">
            <a:avLst/>
          </a:prstGeom>
          <a:noFill/>
        </p:spPr>
        <p:txBody>
          <a:bodyPr wrap="square" rtlCol="0">
            <a:spAutoFit/>
          </a:bodyPr>
          <a:lstStyle/>
          <a:p>
            <a:r>
              <a:rPr lang="en-US" sz="4400" dirty="0" smtClean="0">
                <a:solidFill>
                  <a:srgbClr val="FF0000"/>
                </a:solidFill>
              </a:rPr>
              <a:t>Jay</a:t>
            </a:r>
            <a:endParaRPr lang="en-US" sz="4400" dirty="0">
              <a:solidFill>
                <a:srgbClr val="FF0000"/>
              </a:solidFill>
            </a:endParaRPr>
          </a:p>
        </p:txBody>
      </p:sp>
    </p:spTree>
    <p:extLst>
      <p:ext uri="{BB962C8B-B14F-4D97-AF65-F5344CB8AC3E}">
        <p14:creationId xmlns:p14="http://schemas.microsoft.com/office/powerpoint/2010/main" val="2259195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Drawdown Test Management</a:t>
            </a:r>
            <a:r>
              <a:rPr lang="en-US" dirty="0"/>
              <a:t/>
            </a:r>
            <a:br>
              <a:rPr lang="en-US" dirty="0"/>
            </a:b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11</a:t>
            </a:fld>
            <a:endParaRPr lang="en-US"/>
          </a:p>
        </p:txBody>
      </p:sp>
      <p:sp>
        <p:nvSpPr>
          <p:cNvPr id="7" name="TextBox 6"/>
          <p:cNvSpPr txBox="1"/>
          <p:nvPr/>
        </p:nvSpPr>
        <p:spPr>
          <a:xfrm rot="20008956">
            <a:off x="4814891" y="2625852"/>
            <a:ext cx="1293861" cy="769441"/>
          </a:xfrm>
          <a:prstGeom prst="rect">
            <a:avLst/>
          </a:prstGeom>
          <a:noFill/>
        </p:spPr>
        <p:txBody>
          <a:bodyPr wrap="square" rtlCol="0">
            <a:spAutoFit/>
          </a:bodyPr>
          <a:lstStyle/>
          <a:p>
            <a:r>
              <a:rPr lang="en-US" sz="4400" dirty="0" smtClean="0">
                <a:solidFill>
                  <a:srgbClr val="FF0000"/>
                </a:solidFill>
              </a:rPr>
              <a:t>Kreg</a:t>
            </a:r>
            <a:endParaRPr lang="en-US" sz="4400" dirty="0">
              <a:solidFill>
                <a:srgbClr val="FF0000"/>
              </a:solidFill>
            </a:endParaRPr>
          </a:p>
        </p:txBody>
      </p:sp>
    </p:spTree>
    <p:extLst>
      <p:ext uri="{BB962C8B-B14F-4D97-AF65-F5344CB8AC3E}">
        <p14:creationId xmlns:p14="http://schemas.microsoft.com/office/powerpoint/2010/main" val="16695290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Automated Well Based Forecasting</a:t>
            </a: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12</a:t>
            </a:fld>
            <a:endParaRPr lang="en-US"/>
          </a:p>
        </p:txBody>
      </p:sp>
      <p:sp>
        <p:nvSpPr>
          <p:cNvPr id="7" name="TextBox 6"/>
          <p:cNvSpPr txBox="1"/>
          <p:nvPr/>
        </p:nvSpPr>
        <p:spPr>
          <a:xfrm rot="20008956">
            <a:off x="4814891" y="2625852"/>
            <a:ext cx="1293861" cy="769441"/>
          </a:xfrm>
          <a:prstGeom prst="rect">
            <a:avLst/>
          </a:prstGeom>
          <a:noFill/>
        </p:spPr>
        <p:txBody>
          <a:bodyPr wrap="square" rtlCol="0">
            <a:spAutoFit/>
          </a:bodyPr>
          <a:lstStyle/>
          <a:p>
            <a:r>
              <a:rPr lang="en-US" sz="4400" dirty="0" smtClean="0">
                <a:solidFill>
                  <a:srgbClr val="FF0000"/>
                </a:solidFill>
              </a:rPr>
              <a:t>Kreg</a:t>
            </a:r>
            <a:endParaRPr lang="en-US" sz="4400" dirty="0">
              <a:solidFill>
                <a:srgbClr val="FF0000"/>
              </a:solidFill>
            </a:endParaRPr>
          </a:p>
        </p:txBody>
      </p:sp>
    </p:spTree>
    <p:extLst>
      <p:ext uri="{BB962C8B-B14F-4D97-AF65-F5344CB8AC3E}">
        <p14:creationId xmlns:p14="http://schemas.microsoft.com/office/powerpoint/2010/main" val="12535054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Midstream Management</a:t>
            </a: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13</a:t>
            </a:fld>
            <a:endParaRPr lang="en-US"/>
          </a:p>
        </p:txBody>
      </p:sp>
      <p:sp>
        <p:nvSpPr>
          <p:cNvPr id="7" name="TextBox 6"/>
          <p:cNvSpPr txBox="1"/>
          <p:nvPr/>
        </p:nvSpPr>
        <p:spPr>
          <a:xfrm rot="20008956">
            <a:off x="4814891" y="2625852"/>
            <a:ext cx="1293861" cy="769441"/>
          </a:xfrm>
          <a:prstGeom prst="rect">
            <a:avLst/>
          </a:prstGeom>
          <a:noFill/>
        </p:spPr>
        <p:txBody>
          <a:bodyPr wrap="square" rtlCol="0">
            <a:spAutoFit/>
          </a:bodyPr>
          <a:lstStyle/>
          <a:p>
            <a:r>
              <a:rPr lang="en-US" sz="4400" dirty="0" smtClean="0">
                <a:solidFill>
                  <a:srgbClr val="FF0000"/>
                </a:solidFill>
              </a:rPr>
              <a:t>Jay</a:t>
            </a:r>
            <a:endParaRPr lang="en-US" sz="4400" dirty="0">
              <a:solidFill>
                <a:srgbClr val="FF0000"/>
              </a:solidFill>
            </a:endParaRPr>
          </a:p>
        </p:txBody>
      </p:sp>
    </p:spTree>
    <p:extLst>
      <p:ext uri="{BB962C8B-B14F-4D97-AF65-F5344CB8AC3E}">
        <p14:creationId xmlns:p14="http://schemas.microsoft.com/office/powerpoint/2010/main" val="16595620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plans</a:t>
            </a:r>
            <a:endParaRPr lang="en-US" dirty="0"/>
          </a:p>
        </p:txBody>
      </p:sp>
      <p:sp>
        <p:nvSpPr>
          <p:cNvPr id="3" name="Slide Number Placeholder 2"/>
          <p:cNvSpPr>
            <a:spLocks noGrp="1"/>
          </p:cNvSpPr>
          <p:nvPr>
            <p:ph type="sldNum" sz="quarter" idx="12"/>
          </p:nvPr>
        </p:nvSpPr>
        <p:spPr/>
        <p:txBody>
          <a:bodyPr/>
          <a:lstStyle/>
          <a:p>
            <a:fld id="{CBC2E174-4C28-4A87-9812-668938BEC39B}" type="slidenum">
              <a:rPr lang="en-US" smtClean="0"/>
              <a:pPr/>
              <a:t>14</a:t>
            </a:fld>
            <a:endParaRPr lang="en-US"/>
          </a:p>
        </p:txBody>
      </p:sp>
      <p:sp>
        <p:nvSpPr>
          <p:cNvPr id="4" name="Text Placeholder 3"/>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5096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775284" y="3356766"/>
            <a:ext cx="4854864" cy="3033634"/>
          </a:xfrm>
          <a:prstGeom prst="rect">
            <a:avLst/>
          </a:prstGeom>
        </p:spPr>
      </p:pic>
      <p:cxnSp>
        <p:nvCxnSpPr>
          <p:cNvPr id="23" name="Straight Arrow Connector 22"/>
          <p:cNvCxnSpPr/>
          <p:nvPr/>
        </p:nvCxnSpPr>
        <p:spPr>
          <a:xfrm>
            <a:off x="7905998" y="3790901"/>
            <a:ext cx="2143125" cy="202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Rectangle 23"/>
          <p:cNvSpPr/>
          <p:nvPr/>
        </p:nvSpPr>
        <p:spPr>
          <a:xfrm>
            <a:off x="5562281" y="6400074"/>
            <a:ext cx="5280870" cy="278153"/>
          </a:xfrm>
          <a:prstGeom prst="rect">
            <a:avLst/>
          </a:prstGeom>
        </p:spPr>
        <p:txBody>
          <a:bodyPr wrap="square">
            <a:spAutoFit/>
          </a:bodyPr>
          <a:lstStyle/>
          <a:p>
            <a:pPr algn="ctr">
              <a:lnSpc>
                <a:spcPct val="115000"/>
              </a:lnSpc>
            </a:pPr>
            <a:r>
              <a:rPr lang="en-US" sz="1050" b="1" dirty="0" smtClean="0">
                <a:solidFill>
                  <a:srgbClr val="7F7F7F"/>
                </a:solidFill>
                <a:latin typeface="Arial" panose="020B0604020202020204" pitchFamily="34" charset="0"/>
                <a:ea typeface="Arial" panose="020B0604020202020204" pitchFamily="34" charset="0"/>
                <a:cs typeface="Times New Roman" panose="02020603050405020304" pitchFamily="18" charset="0"/>
              </a:rPr>
              <a:t>Autonomous </a:t>
            </a:r>
            <a:r>
              <a:rPr lang="en-US" sz="1050" b="1" dirty="0">
                <a:solidFill>
                  <a:srgbClr val="7F7F7F"/>
                </a:solidFill>
                <a:latin typeface="Arial" panose="020B0604020202020204" pitchFamily="34" charset="0"/>
                <a:ea typeface="Arial" panose="020B0604020202020204" pitchFamily="34" charset="0"/>
                <a:cs typeface="Times New Roman" panose="02020603050405020304" pitchFamily="18" charset="0"/>
              </a:rPr>
              <a:t>control </a:t>
            </a:r>
            <a:r>
              <a:rPr lang="en-US" sz="1050" b="1" dirty="0" smtClean="0">
                <a:solidFill>
                  <a:srgbClr val="7F7F7F"/>
                </a:solidFill>
                <a:latin typeface="Arial" panose="020B0604020202020204" pitchFamily="34" charset="0"/>
                <a:ea typeface="Arial" panose="020B0604020202020204" pitchFamily="34" charset="0"/>
                <a:cs typeface="Times New Roman" panose="02020603050405020304" pitchFamily="18" charset="0"/>
              </a:rPr>
              <a:t>on DJ well shows improved drawdown management</a:t>
            </a:r>
            <a:endParaRPr lang="en-US" sz="1100" b="1" dirty="0">
              <a:solidFill>
                <a:srgbClr val="7F7F7F"/>
              </a:solidFill>
              <a:latin typeface="Arial" panose="020B0604020202020204" pitchFamily="34" charset="0"/>
              <a:ea typeface="Arial" panose="020B0604020202020204" pitchFamily="34" charset="0"/>
              <a:cs typeface="Times New Roman" panose="02020603050405020304" pitchFamily="18" charset="0"/>
            </a:endParaRPr>
          </a:p>
        </p:txBody>
      </p:sp>
      <p:sp>
        <p:nvSpPr>
          <p:cNvPr id="14" name="TextBox 13"/>
          <p:cNvSpPr txBox="1"/>
          <p:nvPr/>
        </p:nvSpPr>
        <p:spPr>
          <a:xfrm>
            <a:off x="6524530" y="4881513"/>
            <a:ext cx="951903" cy="230832"/>
          </a:xfrm>
          <a:prstGeom prst="rect">
            <a:avLst/>
          </a:prstGeom>
          <a:solidFill>
            <a:schemeClr val="bg1"/>
          </a:solidFill>
          <a:ln>
            <a:solidFill>
              <a:schemeClr val="bg2">
                <a:lumMod val="75000"/>
              </a:schemeClr>
            </a:solidFill>
          </a:ln>
        </p:spPr>
        <p:txBody>
          <a:bodyPr wrap="square" rtlCol="0">
            <a:spAutoFit/>
          </a:bodyPr>
          <a:lstStyle/>
          <a:p>
            <a:r>
              <a:rPr lang="en-US" sz="900" dirty="0" smtClean="0">
                <a:ln>
                  <a:solidFill>
                    <a:schemeClr val="bg1">
                      <a:lumMod val="50000"/>
                    </a:schemeClr>
                  </a:solidFill>
                </a:ln>
                <a:solidFill>
                  <a:schemeClr val="bg1">
                    <a:lumMod val="50000"/>
                  </a:schemeClr>
                </a:solidFill>
              </a:rPr>
              <a:t>Manual control</a:t>
            </a:r>
          </a:p>
        </p:txBody>
      </p:sp>
      <p:sp>
        <p:nvSpPr>
          <p:cNvPr id="15" name="TextBox 14"/>
          <p:cNvSpPr txBox="1"/>
          <p:nvPr/>
        </p:nvSpPr>
        <p:spPr>
          <a:xfrm>
            <a:off x="8428605" y="4894254"/>
            <a:ext cx="1208302" cy="230832"/>
          </a:xfrm>
          <a:prstGeom prst="rect">
            <a:avLst/>
          </a:prstGeom>
          <a:solidFill>
            <a:schemeClr val="bg1"/>
          </a:solidFill>
          <a:ln>
            <a:solidFill>
              <a:schemeClr val="bg2">
                <a:lumMod val="75000"/>
              </a:schemeClr>
            </a:solidFill>
          </a:ln>
        </p:spPr>
        <p:txBody>
          <a:bodyPr wrap="square" rtlCol="0">
            <a:spAutoFit/>
          </a:bodyPr>
          <a:lstStyle/>
          <a:p>
            <a:r>
              <a:rPr lang="en-US" sz="900" dirty="0" smtClean="0">
                <a:ln>
                  <a:solidFill>
                    <a:schemeClr val="bg1">
                      <a:lumMod val="50000"/>
                    </a:schemeClr>
                  </a:solidFill>
                </a:ln>
                <a:solidFill>
                  <a:schemeClr val="bg1">
                    <a:lumMod val="50000"/>
                  </a:schemeClr>
                </a:solidFill>
              </a:rPr>
              <a:t>Closed loop control</a:t>
            </a:r>
          </a:p>
        </p:txBody>
      </p:sp>
      <p:cxnSp>
        <p:nvCxnSpPr>
          <p:cNvPr id="22" name="Straight Arrow Connector 21"/>
          <p:cNvCxnSpPr/>
          <p:nvPr/>
        </p:nvCxnSpPr>
        <p:spPr>
          <a:xfrm flipV="1">
            <a:off x="6324848" y="3733651"/>
            <a:ext cx="1325745" cy="52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 name="Group 2"/>
          <p:cNvGrpSpPr/>
          <p:nvPr/>
        </p:nvGrpSpPr>
        <p:grpSpPr>
          <a:xfrm>
            <a:off x="252357" y="3281749"/>
            <a:ext cx="4577063" cy="3396478"/>
            <a:chOff x="403517" y="2974178"/>
            <a:chExt cx="4577063" cy="3396478"/>
          </a:xfrm>
        </p:grpSpPr>
        <p:sp>
          <p:nvSpPr>
            <p:cNvPr id="54" name="Rectangle 53"/>
            <p:cNvSpPr/>
            <p:nvPr/>
          </p:nvSpPr>
          <p:spPr>
            <a:xfrm>
              <a:off x="1476910" y="2974178"/>
              <a:ext cx="2906052" cy="240525"/>
            </a:xfrm>
            <a:prstGeom prst="rect">
              <a:avLst/>
            </a:prstGeom>
          </p:spPr>
          <p:txBody>
            <a:bodyPr wrap="square" anchor="ctr">
              <a:noAutofit/>
            </a:bodyPr>
            <a:lstStyle/>
            <a:p>
              <a:pPr algn="ctr"/>
              <a:r>
                <a:rPr lang="en-US" sz="1200" dirty="0" smtClean="0"/>
                <a:t>Cloud-based Analytics &amp; Asset History</a:t>
              </a:r>
              <a:endParaRPr lang="en-US" sz="1200" dirty="0"/>
            </a:p>
          </p:txBody>
        </p:sp>
        <p:sp>
          <p:nvSpPr>
            <p:cNvPr id="56" name="Rectangle 55"/>
            <p:cNvSpPr/>
            <p:nvPr/>
          </p:nvSpPr>
          <p:spPr>
            <a:xfrm>
              <a:off x="1881096" y="6130131"/>
              <a:ext cx="1875106" cy="240525"/>
            </a:xfrm>
            <a:prstGeom prst="rect">
              <a:avLst/>
            </a:prstGeom>
          </p:spPr>
          <p:txBody>
            <a:bodyPr wrap="square" anchor="ctr">
              <a:noAutofit/>
            </a:bodyPr>
            <a:lstStyle/>
            <a:p>
              <a:pPr algn="ctr"/>
              <a:r>
                <a:rPr lang="en-US" sz="1200" dirty="0" smtClean="0"/>
                <a:t>Human Insights &amp; Observations</a:t>
              </a:r>
              <a:endParaRPr lang="en-US" sz="1200" dirty="0"/>
            </a:p>
          </p:txBody>
        </p:sp>
        <p:grpSp>
          <p:nvGrpSpPr>
            <p:cNvPr id="59" name="Group 58"/>
            <p:cNvGrpSpPr/>
            <p:nvPr/>
          </p:nvGrpSpPr>
          <p:grpSpPr>
            <a:xfrm>
              <a:off x="403517" y="3247917"/>
              <a:ext cx="4577063" cy="2789538"/>
              <a:chOff x="4927068" y="1590988"/>
              <a:chExt cx="7055875" cy="4241977"/>
            </a:xfrm>
          </p:grpSpPr>
          <p:grpSp>
            <p:nvGrpSpPr>
              <p:cNvPr id="55" name="Group 54"/>
              <p:cNvGrpSpPr/>
              <p:nvPr/>
            </p:nvGrpSpPr>
            <p:grpSpPr>
              <a:xfrm>
                <a:off x="6472415" y="1590988"/>
                <a:ext cx="4355512" cy="4241977"/>
                <a:chOff x="6898972" y="1602802"/>
                <a:chExt cx="5184695" cy="5049546"/>
              </a:xfrm>
            </p:grpSpPr>
            <p:sp>
              <p:nvSpPr>
                <p:cNvPr id="11" name="Oval 10"/>
                <p:cNvSpPr/>
                <p:nvPr/>
              </p:nvSpPr>
              <p:spPr>
                <a:xfrm>
                  <a:off x="7741020" y="2377276"/>
                  <a:ext cx="3500599" cy="3500599"/>
                </a:xfrm>
                <a:prstGeom prst="ellipse">
                  <a:avLst/>
                </a:prstGeom>
                <a:noFill/>
                <a:ln w="50800" cap="rnd">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Intelligent </a:t>
                  </a:r>
                </a:p>
                <a:p>
                  <a:pPr algn="ctr"/>
                  <a:r>
                    <a:rPr lang="en-US" sz="1400" b="1" dirty="0" smtClean="0">
                      <a:solidFill>
                        <a:schemeClr val="tx1"/>
                      </a:solidFill>
                    </a:rPr>
                    <a:t>Autonomous </a:t>
                  </a:r>
                </a:p>
                <a:p>
                  <a:pPr algn="ctr"/>
                  <a:r>
                    <a:rPr lang="en-US" sz="1400" b="1" dirty="0" smtClean="0">
                      <a:solidFill>
                        <a:schemeClr val="tx1"/>
                      </a:solidFill>
                    </a:rPr>
                    <a:t>Control</a:t>
                  </a:r>
                  <a:endParaRPr lang="en-US" sz="1400" b="1" dirty="0">
                    <a:solidFill>
                      <a:schemeClr val="tx1"/>
                    </a:solidFill>
                  </a:endParaRPr>
                </a:p>
              </p:txBody>
            </p:sp>
            <p:sp>
              <p:nvSpPr>
                <p:cNvPr id="50" name="Oval 49"/>
                <p:cNvSpPr/>
                <p:nvPr/>
              </p:nvSpPr>
              <p:spPr>
                <a:xfrm>
                  <a:off x="8805519" y="5280748"/>
                  <a:ext cx="1371600" cy="1371600"/>
                </a:xfrm>
                <a:prstGeom prst="ellipse">
                  <a:avLst/>
                </a:prstGeom>
                <a:solidFill>
                  <a:srgbClr val="0E80C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46" name="Group 273"/>
                <p:cNvGrpSpPr>
                  <a:grpSpLocks/>
                </p:cNvGrpSpPr>
                <p:nvPr/>
              </p:nvGrpSpPr>
              <p:grpSpPr bwMode="auto">
                <a:xfrm>
                  <a:off x="8948333" y="5666204"/>
                  <a:ext cx="1085973" cy="600689"/>
                  <a:chOff x="3132" y="4264"/>
                  <a:chExt cx="1125" cy="623"/>
                </a:xfrm>
                <a:solidFill>
                  <a:schemeClr val="bg1"/>
                </a:solidFill>
              </p:grpSpPr>
              <p:sp>
                <p:nvSpPr>
                  <p:cNvPr id="47" name="Freeform 274"/>
                  <p:cNvSpPr>
                    <a:spLocks noEditPoints="1"/>
                  </p:cNvSpPr>
                  <p:nvPr/>
                </p:nvSpPr>
                <p:spPr bwMode="auto">
                  <a:xfrm>
                    <a:off x="3132" y="4264"/>
                    <a:ext cx="1125" cy="623"/>
                  </a:xfrm>
                  <a:custGeom>
                    <a:avLst/>
                    <a:gdLst>
                      <a:gd name="T0" fmla="*/ 71 w 16875"/>
                      <a:gd name="T1" fmla="*/ 27 h 9345"/>
                      <a:gd name="T2" fmla="*/ 64 w 16875"/>
                      <a:gd name="T3" fmla="*/ 33 h 9345"/>
                      <a:gd name="T4" fmla="*/ 49 w 16875"/>
                      <a:gd name="T5" fmla="*/ 40 h 9345"/>
                      <a:gd name="T6" fmla="*/ 30 w 16875"/>
                      <a:gd name="T7" fmla="*/ 41 h 9345"/>
                      <a:gd name="T8" fmla="*/ 14 w 16875"/>
                      <a:gd name="T9" fmla="*/ 35 h 9345"/>
                      <a:gd name="T10" fmla="*/ 5 w 16875"/>
                      <a:gd name="T11" fmla="*/ 28 h 9345"/>
                      <a:gd name="T12" fmla="*/ 1 w 16875"/>
                      <a:gd name="T13" fmla="*/ 22 h 9345"/>
                      <a:gd name="T14" fmla="*/ 4 w 16875"/>
                      <a:gd name="T15" fmla="*/ 15 h 9345"/>
                      <a:gd name="T16" fmla="*/ 9 w 16875"/>
                      <a:gd name="T17" fmla="*/ 10 h 9345"/>
                      <a:gd name="T18" fmla="*/ 24 w 16875"/>
                      <a:gd name="T19" fmla="*/ 2 h 9345"/>
                      <a:gd name="T20" fmla="*/ 43 w 16875"/>
                      <a:gd name="T21" fmla="*/ 0 h 9345"/>
                      <a:gd name="T22" fmla="*/ 60 w 16875"/>
                      <a:gd name="T23" fmla="*/ 5 h 9345"/>
                      <a:gd name="T24" fmla="*/ 69 w 16875"/>
                      <a:gd name="T25" fmla="*/ 13 h 9345"/>
                      <a:gd name="T26" fmla="*/ 74 w 16875"/>
                      <a:gd name="T27" fmla="*/ 19 h 9345"/>
                      <a:gd name="T28" fmla="*/ 65 w 16875"/>
                      <a:gd name="T29" fmla="*/ 16 h 9345"/>
                      <a:gd name="T30" fmla="*/ 57 w 16875"/>
                      <a:gd name="T31" fmla="*/ 10 h 9345"/>
                      <a:gd name="T32" fmla="*/ 46 w 16875"/>
                      <a:gd name="T33" fmla="*/ 5 h 9345"/>
                      <a:gd name="T34" fmla="*/ 49 w 16875"/>
                      <a:gd name="T35" fmla="*/ 8 h 9345"/>
                      <a:gd name="T36" fmla="*/ 52 w 16875"/>
                      <a:gd name="T37" fmla="*/ 12 h 9345"/>
                      <a:gd name="T38" fmla="*/ 55 w 16875"/>
                      <a:gd name="T39" fmla="*/ 17 h 9345"/>
                      <a:gd name="T40" fmla="*/ 55 w 16875"/>
                      <a:gd name="T41" fmla="*/ 23 h 9345"/>
                      <a:gd name="T42" fmla="*/ 53 w 16875"/>
                      <a:gd name="T43" fmla="*/ 28 h 9345"/>
                      <a:gd name="T44" fmla="*/ 50 w 16875"/>
                      <a:gd name="T45" fmla="*/ 33 h 9345"/>
                      <a:gd name="T46" fmla="*/ 46 w 16875"/>
                      <a:gd name="T47" fmla="*/ 36 h 9345"/>
                      <a:gd name="T48" fmla="*/ 57 w 16875"/>
                      <a:gd name="T49" fmla="*/ 32 h 9345"/>
                      <a:gd name="T50" fmla="*/ 68 w 16875"/>
                      <a:gd name="T51" fmla="*/ 21 h 9345"/>
                      <a:gd name="T52" fmla="*/ 50 w 16875"/>
                      <a:gd name="T53" fmla="*/ 15 h 9345"/>
                      <a:gd name="T54" fmla="*/ 47 w 16875"/>
                      <a:gd name="T55" fmla="*/ 11 h 9345"/>
                      <a:gd name="T56" fmla="*/ 41 w 16875"/>
                      <a:gd name="T57" fmla="*/ 8 h 9345"/>
                      <a:gd name="T58" fmla="*/ 36 w 16875"/>
                      <a:gd name="T59" fmla="*/ 7 h 9345"/>
                      <a:gd name="T60" fmla="*/ 32 w 16875"/>
                      <a:gd name="T61" fmla="*/ 8 h 9345"/>
                      <a:gd name="T62" fmla="*/ 17 w 16875"/>
                      <a:gd name="T63" fmla="*/ 10 h 9345"/>
                      <a:gd name="T64" fmla="*/ 8 w 16875"/>
                      <a:gd name="T65" fmla="*/ 22 h 9345"/>
                      <a:gd name="T66" fmla="*/ 12 w 16875"/>
                      <a:gd name="T67" fmla="*/ 27 h 9345"/>
                      <a:gd name="T68" fmla="*/ 19 w 16875"/>
                      <a:gd name="T69" fmla="*/ 33 h 9345"/>
                      <a:gd name="T70" fmla="*/ 30 w 16875"/>
                      <a:gd name="T71" fmla="*/ 36 h 9345"/>
                      <a:gd name="T72" fmla="*/ 26 w 16875"/>
                      <a:gd name="T73" fmla="*/ 33 h 9345"/>
                      <a:gd name="T74" fmla="*/ 22 w 16875"/>
                      <a:gd name="T75" fmla="*/ 29 h 9345"/>
                      <a:gd name="T76" fmla="*/ 20 w 16875"/>
                      <a:gd name="T77" fmla="*/ 24 h 9345"/>
                      <a:gd name="T78" fmla="*/ 20 w 16875"/>
                      <a:gd name="T79" fmla="*/ 18 h 9345"/>
                      <a:gd name="T80" fmla="*/ 24 w 16875"/>
                      <a:gd name="T81" fmla="*/ 19 h 9345"/>
                      <a:gd name="T82" fmla="*/ 24 w 16875"/>
                      <a:gd name="T83" fmla="*/ 24 h 9345"/>
                      <a:gd name="T84" fmla="*/ 27 w 16875"/>
                      <a:gd name="T85" fmla="*/ 30 h 9345"/>
                      <a:gd name="T86" fmla="*/ 32 w 16875"/>
                      <a:gd name="T87" fmla="*/ 33 h 9345"/>
                      <a:gd name="T88" fmla="*/ 38 w 16875"/>
                      <a:gd name="T89" fmla="*/ 34 h 9345"/>
                      <a:gd name="T90" fmla="*/ 44 w 16875"/>
                      <a:gd name="T91" fmla="*/ 33 h 9345"/>
                      <a:gd name="T92" fmla="*/ 48 w 16875"/>
                      <a:gd name="T93" fmla="*/ 29 h 9345"/>
                      <a:gd name="T94" fmla="*/ 51 w 16875"/>
                      <a:gd name="T95" fmla="*/ 24 h 9345"/>
                      <a:gd name="T96" fmla="*/ 48 w 16875"/>
                      <a:gd name="T97" fmla="*/ 23 h 9345"/>
                      <a:gd name="T98" fmla="*/ 46 w 16875"/>
                      <a:gd name="T99" fmla="*/ 27 h 9345"/>
                      <a:gd name="T100" fmla="*/ 42 w 16875"/>
                      <a:gd name="T101" fmla="*/ 30 h 9345"/>
                      <a:gd name="T102" fmla="*/ 38 w 16875"/>
                      <a:gd name="T103" fmla="*/ 31 h 9345"/>
                      <a:gd name="T104" fmla="*/ 33 w 16875"/>
                      <a:gd name="T105" fmla="*/ 30 h 9345"/>
                      <a:gd name="T106" fmla="*/ 30 w 16875"/>
                      <a:gd name="T107" fmla="*/ 28 h 9345"/>
                      <a:gd name="T108" fmla="*/ 27 w 16875"/>
                      <a:gd name="T109" fmla="*/ 24 h 9345"/>
                      <a:gd name="T110" fmla="*/ 27 w 16875"/>
                      <a:gd name="T111" fmla="*/ 19 h 9345"/>
                      <a:gd name="T112" fmla="*/ 35 w 16875"/>
                      <a:gd name="T113" fmla="*/ 11 h 9345"/>
                      <a:gd name="T114" fmla="*/ 40 w 16875"/>
                      <a:gd name="T115" fmla="*/ 11 h 9345"/>
                      <a:gd name="T116" fmla="*/ 44 w 16875"/>
                      <a:gd name="T117" fmla="*/ 13 h 9345"/>
                      <a:gd name="T118" fmla="*/ 47 w 16875"/>
                      <a:gd name="T119" fmla="*/ 16 h 9345"/>
                      <a:gd name="T120" fmla="*/ 48 w 16875"/>
                      <a:gd name="T121" fmla="*/ 20 h 934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875"/>
                      <a:gd name="T184" fmla="*/ 0 h 9345"/>
                      <a:gd name="T185" fmla="*/ 16875 w 16875"/>
                      <a:gd name="T186" fmla="*/ 9345 h 934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875" h="9345">
                        <a:moveTo>
                          <a:pt x="16875" y="4679"/>
                        </a:moveTo>
                        <a:lnTo>
                          <a:pt x="16828" y="4764"/>
                        </a:lnTo>
                        <a:lnTo>
                          <a:pt x="16779" y="4849"/>
                        </a:lnTo>
                        <a:lnTo>
                          <a:pt x="16729" y="4932"/>
                        </a:lnTo>
                        <a:lnTo>
                          <a:pt x="16680" y="5014"/>
                        </a:lnTo>
                        <a:lnTo>
                          <a:pt x="16629" y="5095"/>
                        </a:lnTo>
                        <a:lnTo>
                          <a:pt x="16579" y="5176"/>
                        </a:lnTo>
                        <a:lnTo>
                          <a:pt x="16526" y="5256"/>
                        </a:lnTo>
                        <a:lnTo>
                          <a:pt x="16474" y="5335"/>
                        </a:lnTo>
                        <a:lnTo>
                          <a:pt x="16420" y="5415"/>
                        </a:lnTo>
                        <a:lnTo>
                          <a:pt x="16368" y="5493"/>
                        </a:lnTo>
                        <a:lnTo>
                          <a:pt x="16313" y="5569"/>
                        </a:lnTo>
                        <a:lnTo>
                          <a:pt x="16258" y="5645"/>
                        </a:lnTo>
                        <a:lnTo>
                          <a:pt x="16202" y="5721"/>
                        </a:lnTo>
                        <a:lnTo>
                          <a:pt x="16145" y="5795"/>
                        </a:lnTo>
                        <a:lnTo>
                          <a:pt x="16088" y="5870"/>
                        </a:lnTo>
                        <a:lnTo>
                          <a:pt x="16031" y="5943"/>
                        </a:lnTo>
                        <a:lnTo>
                          <a:pt x="15972" y="6015"/>
                        </a:lnTo>
                        <a:lnTo>
                          <a:pt x="15913" y="6086"/>
                        </a:lnTo>
                        <a:lnTo>
                          <a:pt x="15854" y="6158"/>
                        </a:lnTo>
                        <a:lnTo>
                          <a:pt x="15793" y="6227"/>
                        </a:lnTo>
                        <a:lnTo>
                          <a:pt x="15732" y="6297"/>
                        </a:lnTo>
                        <a:lnTo>
                          <a:pt x="15671" y="6365"/>
                        </a:lnTo>
                        <a:lnTo>
                          <a:pt x="15608" y="6433"/>
                        </a:lnTo>
                        <a:lnTo>
                          <a:pt x="15545" y="6499"/>
                        </a:lnTo>
                        <a:lnTo>
                          <a:pt x="15481" y="6566"/>
                        </a:lnTo>
                        <a:lnTo>
                          <a:pt x="15416" y="6631"/>
                        </a:lnTo>
                        <a:lnTo>
                          <a:pt x="15352" y="6695"/>
                        </a:lnTo>
                        <a:lnTo>
                          <a:pt x="15286" y="6759"/>
                        </a:lnTo>
                        <a:lnTo>
                          <a:pt x="15219" y="6823"/>
                        </a:lnTo>
                        <a:lnTo>
                          <a:pt x="15152" y="6885"/>
                        </a:lnTo>
                        <a:lnTo>
                          <a:pt x="15084" y="6946"/>
                        </a:lnTo>
                        <a:lnTo>
                          <a:pt x="15016" y="7007"/>
                        </a:lnTo>
                        <a:lnTo>
                          <a:pt x="14849" y="7152"/>
                        </a:lnTo>
                        <a:lnTo>
                          <a:pt x="14680" y="7291"/>
                        </a:lnTo>
                        <a:lnTo>
                          <a:pt x="14508" y="7426"/>
                        </a:lnTo>
                        <a:lnTo>
                          <a:pt x="14334" y="7555"/>
                        </a:lnTo>
                        <a:lnTo>
                          <a:pt x="14158" y="7681"/>
                        </a:lnTo>
                        <a:lnTo>
                          <a:pt x="13979" y="7802"/>
                        </a:lnTo>
                        <a:lnTo>
                          <a:pt x="13797" y="7919"/>
                        </a:lnTo>
                        <a:lnTo>
                          <a:pt x="13614" y="8031"/>
                        </a:lnTo>
                        <a:lnTo>
                          <a:pt x="13427" y="8138"/>
                        </a:lnTo>
                        <a:lnTo>
                          <a:pt x="13238" y="8240"/>
                        </a:lnTo>
                        <a:lnTo>
                          <a:pt x="13046" y="8338"/>
                        </a:lnTo>
                        <a:lnTo>
                          <a:pt x="12852" y="8432"/>
                        </a:lnTo>
                        <a:lnTo>
                          <a:pt x="12656" y="8522"/>
                        </a:lnTo>
                        <a:lnTo>
                          <a:pt x="12457" y="8606"/>
                        </a:lnTo>
                        <a:lnTo>
                          <a:pt x="12255" y="8686"/>
                        </a:lnTo>
                        <a:lnTo>
                          <a:pt x="12051" y="8761"/>
                        </a:lnTo>
                        <a:lnTo>
                          <a:pt x="11845" y="8832"/>
                        </a:lnTo>
                        <a:lnTo>
                          <a:pt x="11635" y="8898"/>
                        </a:lnTo>
                        <a:lnTo>
                          <a:pt x="11424" y="8959"/>
                        </a:lnTo>
                        <a:lnTo>
                          <a:pt x="11210" y="9016"/>
                        </a:lnTo>
                        <a:lnTo>
                          <a:pt x="10994" y="9069"/>
                        </a:lnTo>
                        <a:lnTo>
                          <a:pt x="10775" y="9117"/>
                        </a:lnTo>
                        <a:lnTo>
                          <a:pt x="10553" y="9161"/>
                        </a:lnTo>
                        <a:lnTo>
                          <a:pt x="10329" y="9200"/>
                        </a:lnTo>
                        <a:lnTo>
                          <a:pt x="10103" y="9233"/>
                        </a:lnTo>
                        <a:lnTo>
                          <a:pt x="9874" y="9263"/>
                        </a:lnTo>
                        <a:lnTo>
                          <a:pt x="9642" y="9288"/>
                        </a:lnTo>
                        <a:lnTo>
                          <a:pt x="9408" y="9308"/>
                        </a:lnTo>
                        <a:lnTo>
                          <a:pt x="9172" y="9325"/>
                        </a:lnTo>
                        <a:lnTo>
                          <a:pt x="8933" y="9336"/>
                        </a:lnTo>
                        <a:lnTo>
                          <a:pt x="8692" y="9343"/>
                        </a:lnTo>
                        <a:lnTo>
                          <a:pt x="8448" y="9345"/>
                        </a:lnTo>
                        <a:lnTo>
                          <a:pt x="8203" y="9343"/>
                        </a:lnTo>
                        <a:lnTo>
                          <a:pt x="7962" y="9336"/>
                        </a:lnTo>
                        <a:lnTo>
                          <a:pt x="7723" y="9325"/>
                        </a:lnTo>
                        <a:lnTo>
                          <a:pt x="7487" y="9308"/>
                        </a:lnTo>
                        <a:lnTo>
                          <a:pt x="7253" y="9288"/>
                        </a:lnTo>
                        <a:lnTo>
                          <a:pt x="7021" y="9263"/>
                        </a:lnTo>
                        <a:lnTo>
                          <a:pt x="6792" y="9233"/>
                        </a:lnTo>
                        <a:lnTo>
                          <a:pt x="6565" y="9200"/>
                        </a:lnTo>
                        <a:lnTo>
                          <a:pt x="6341" y="9161"/>
                        </a:lnTo>
                        <a:lnTo>
                          <a:pt x="6119" y="9117"/>
                        </a:lnTo>
                        <a:lnTo>
                          <a:pt x="5900" y="9069"/>
                        </a:lnTo>
                        <a:lnTo>
                          <a:pt x="5684" y="9016"/>
                        </a:lnTo>
                        <a:lnTo>
                          <a:pt x="5470" y="8959"/>
                        </a:lnTo>
                        <a:lnTo>
                          <a:pt x="5258" y="8898"/>
                        </a:lnTo>
                        <a:lnTo>
                          <a:pt x="5048" y="8832"/>
                        </a:lnTo>
                        <a:lnTo>
                          <a:pt x="4841" y="8761"/>
                        </a:lnTo>
                        <a:lnTo>
                          <a:pt x="4636" y="8686"/>
                        </a:lnTo>
                        <a:lnTo>
                          <a:pt x="4435" y="8606"/>
                        </a:lnTo>
                        <a:lnTo>
                          <a:pt x="4236" y="8522"/>
                        </a:lnTo>
                        <a:lnTo>
                          <a:pt x="4038" y="8432"/>
                        </a:lnTo>
                        <a:lnTo>
                          <a:pt x="3844" y="8338"/>
                        </a:lnTo>
                        <a:lnTo>
                          <a:pt x="3652" y="8240"/>
                        </a:lnTo>
                        <a:lnTo>
                          <a:pt x="3463" y="8138"/>
                        </a:lnTo>
                        <a:lnTo>
                          <a:pt x="3276" y="8031"/>
                        </a:lnTo>
                        <a:lnTo>
                          <a:pt x="3091" y="7919"/>
                        </a:lnTo>
                        <a:lnTo>
                          <a:pt x="2909" y="7802"/>
                        </a:lnTo>
                        <a:lnTo>
                          <a:pt x="2730" y="7681"/>
                        </a:lnTo>
                        <a:lnTo>
                          <a:pt x="2552" y="7555"/>
                        </a:lnTo>
                        <a:lnTo>
                          <a:pt x="2378" y="7426"/>
                        </a:lnTo>
                        <a:lnTo>
                          <a:pt x="2206" y="7291"/>
                        </a:lnTo>
                        <a:lnTo>
                          <a:pt x="2037" y="7152"/>
                        </a:lnTo>
                        <a:lnTo>
                          <a:pt x="1869" y="7007"/>
                        </a:lnTo>
                        <a:lnTo>
                          <a:pt x="1800" y="6946"/>
                        </a:lnTo>
                        <a:lnTo>
                          <a:pt x="1733" y="6885"/>
                        </a:lnTo>
                        <a:lnTo>
                          <a:pt x="1665" y="6823"/>
                        </a:lnTo>
                        <a:lnTo>
                          <a:pt x="1599" y="6759"/>
                        </a:lnTo>
                        <a:lnTo>
                          <a:pt x="1534" y="6695"/>
                        </a:lnTo>
                        <a:lnTo>
                          <a:pt x="1468" y="6631"/>
                        </a:lnTo>
                        <a:lnTo>
                          <a:pt x="1404" y="6566"/>
                        </a:lnTo>
                        <a:lnTo>
                          <a:pt x="1339" y="6499"/>
                        </a:lnTo>
                        <a:lnTo>
                          <a:pt x="1276" y="6433"/>
                        </a:lnTo>
                        <a:lnTo>
                          <a:pt x="1214" y="6365"/>
                        </a:lnTo>
                        <a:lnTo>
                          <a:pt x="1152" y="6297"/>
                        </a:lnTo>
                        <a:lnTo>
                          <a:pt x="1091" y="6227"/>
                        </a:lnTo>
                        <a:lnTo>
                          <a:pt x="1029" y="6158"/>
                        </a:lnTo>
                        <a:lnTo>
                          <a:pt x="969" y="6086"/>
                        </a:lnTo>
                        <a:lnTo>
                          <a:pt x="910" y="6015"/>
                        </a:lnTo>
                        <a:lnTo>
                          <a:pt x="851" y="5943"/>
                        </a:lnTo>
                        <a:lnTo>
                          <a:pt x="793" y="5870"/>
                        </a:lnTo>
                        <a:lnTo>
                          <a:pt x="736" y="5795"/>
                        </a:lnTo>
                        <a:lnTo>
                          <a:pt x="679" y="5721"/>
                        </a:lnTo>
                        <a:lnTo>
                          <a:pt x="623" y="5645"/>
                        </a:lnTo>
                        <a:lnTo>
                          <a:pt x="567" y="5569"/>
                        </a:lnTo>
                        <a:lnTo>
                          <a:pt x="513" y="5493"/>
                        </a:lnTo>
                        <a:lnTo>
                          <a:pt x="459" y="5415"/>
                        </a:lnTo>
                        <a:lnTo>
                          <a:pt x="405" y="5335"/>
                        </a:lnTo>
                        <a:lnTo>
                          <a:pt x="352" y="5256"/>
                        </a:lnTo>
                        <a:lnTo>
                          <a:pt x="301" y="5176"/>
                        </a:lnTo>
                        <a:lnTo>
                          <a:pt x="249" y="5095"/>
                        </a:lnTo>
                        <a:lnTo>
                          <a:pt x="197" y="5014"/>
                        </a:lnTo>
                        <a:lnTo>
                          <a:pt x="148" y="4932"/>
                        </a:lnTo>
                        <a:lnTo>
                          <a:pt x="97" y="4849"/>
                        </a:lnTo>
                        <a:lnTo>
                          <a:pt x="49" y="4764"/>
                        </a:lnTo>
                        <a:lnTo>
                          <a:pt x="0" y="4679"/>
                        </a:lnTo>
                        <a:lnTo>
                          <a:pt x="49" y="4595"/>
                        </a:lnTo>
                        <a:lnTo>
                          <a:pt x="97" y="4510"/>
                        </a:lnTo>
                        <a:lnTo>
                          <a:pt x="148" y="4426"/>
                        </a:lnTo>
                        <a:lnTo>
                          <a:pt x="197" y="4344"/>
                        </a:lnTo>
                        <a:lnTo>
                          <a:pt x="249" y="4261"/>
                        </a:lnTo>
                        <a:lnTo>
                          <a:pt x="301" y="4180"/>
                        </a:lnTo>
                        <a:lnTo>
                          <a:pt x="352" y="4100"/>
                        </a:lnTo>
                        <a:lnTo>
                          <a:pt x="405" y="4020"/>
                        </a:lnTo>
                        <a:lnTo>
                          <a:pt x="459" y="3941"/>
                        </a:lnTo>
                        <a:lnTo>
                          <a:pt x="513" y="3863"/>
                        </a:lnTo>
                        <a:lnTo>
                          <a:pt x="567" y="3786"/>
                        </a:lnTo>
                        <a:lnTo>
                          <a:pt x="623" y="3709"/>
                        </a:lnTo>
                        <a:lnTo>
                          <a:pt x="679" y="3633"/>
                        </a:lnTo>
                        <a:lnTo>
                          <a:pt x="736" y="3558"/>
                        </a:lnTo>
                        <a:lnTo>
                          <a:pt x="793" y="3484"/>
                        </a:lnTo>
                        <a:lnTo>
                          <a:pt x="851" y="3411"/>
                        </a:lnTo>
                        <a:lnTo>
                          <a:pt x="910" y="3338"/>
                        </a:lnTo>
                        <a:lnTo>
                          <a:pt x="969" y="3265"/>
                        </a:lnTo>
                        <a:lnTo>
                          <a:pt x="1029" y="3195"/>
                        </a:lnTo>
                        <a:lnTo>
                          <a:pt x="1091" y="3124"/>
                        </a:lnTo>
                        <a:lnTo>
                          <a:pt x="1152" y="3055"/>
                        </a:lnTo>
                        <a:lnTo>
                          <a:pt x="1214" y="2986"/>
                        </a:lnTo>
                        <a:lnTo>
                          <a:pt x="1276" y="2918"/>
                        </a:lnTo>
                        <a:lnTo>
                          <a:pt x="1339" y="2850"/>
                        </a:lnTo>
                        <a:lnTo>
                          <a:pt x="1404" y="2784"/>
                        </a:lnTo>
                        <a:lnTo>
                          <a:pt x="1468" y="2717"/>
                        </a:lnTo>
                        <a:lnTo>
                          <a:pt x="1534" y="2652"/>
                        </a:lnTo>
                        <a:lnTo>
                          <a:pt x="1599" y="2588"/>
                        </a:lnTo>
                        <a:lnTo>
                          <a:pt x="1665" y="2524"/>
                        </a:lnTo>
                        <a:lnTo>
                          <a:pt x="1733" y="2461"/>
                        </a:lnTo>
                        <a:lnTo>
                          <a:pt x="1800" y="2399"/>
                        </a:lnTo>
                        <a:lnTo>
                          <a:pt x="1869" y="2338"/>
                        </a:lnTo>
                        <a:lnTo>
                          <a:pt x="2037" y="2194"/>
                        </a:lnTo>
                        <a:lnTo>
                          <a:pt x="2206" y="2054"/>
                        </a:lnTo>
                        <a:lnTo>
                          <a:pt x="2378" y="1919"/>
                        </a:lnTo>
                        <a:lnTo>
                          <a:pt x="2552" y="1790"/>
                        </a:lnTo>
                        <a:lnTo>
                          <a:pt x="2730" y="1664"/>
                        </a:lnTo>
                        <a:lnTo>
                          <a:pt x="2909" y="1543"/>
                        </a:lnTo>
                        <a:lnTo>
                          <a:pt x="3091" y="1426"/>
                        </a:lnTo>
                        <a:lnTo>
                          <a:pt x="3276" y="1314"/>
                        </a:lnTo>
                        <a:lnTo>
                          <a:pt x="3463" y="1207"/>
                        </a:lnTo>
                        <a:lnTo>
                          <a:pt x="3652" y="1105"/>
                        </a:lnTo>
                        <a:lnTo>
                          <a:pt x="3844" y="1007"/>
                        </a:lnTo>
                        <a:lnTo>
                          <a:pt x="4038" y="913"/>
                        </a:lnTo>
                        <a:lnTo>
                          <a:pt x="4236" y="824"/>
                        </a:lnTo>
                        <a:lnTo>
                          <a:pt x="4435" y="739"/>
                        </a:lnTo>
                        <a:lnTo>
                          <a:pt x="4636" y="660"/>
                        </a:lnTo>
                        <a:lnTo>
                          <a:pt x="4841" y="584"/>
                        </a:lnTo>
                        <a:lnTo>
                          <a:pt x="5048" y="513"/>
                        </a:lnTo>
                        <a:lnTo>
                          <a:pt x="5258" y="447"/>
                        </a:lnTo>
                        <a:lnTo>
                          <a:pt x="5470" y="386"/>
                        </a:lnTo>
                        <a:lnTo>
                          <a:pt x="5684" y="329"/>
                        </a:lnTo>
                        <a:lnTo>
                          <a:pt x="5900" y="276"/>
                        </a:lnTo>
                        <a:lnTo>
                          <a:pt x="6119" y="228"/>
                        </a:lnTo>
                        <a:lnTo>
                          <a:pt x="6341" y="184"/>
                        </a:lnTo>
                        <a:lnTo>
                          <a:pt x="6565" y="145"/>
                        </a:lnTo>
                        <a:lnTo>
                          <a:pt x="6792" y="112"/>
                        </a:lnTo>
                        <a:lnTo>
                          <a:pt x="7021" y="82"/>
                        </a:lnTo>
                        <a:lnTo>
                          <a:pt x="7253" y="57"/>
                        </a:lnTo>
                        <a:lnTo>
                          <a:pt x="7487" y="37"/>
                        </a:lnTo>
                        <a:lnTo>
                          <a:pt x="7723" y="20"/>
                        </a:lnTo>
                        <a:lnTo>
                          <a:pt x="7962" y="9"/>
                        </a:lnTo>
                        <a:lnTo>
                          <a:pt x="8203" y="2"/>
                        </a:lnTo>
                        <a:lnTo>
                          <a:pt x="8448" y="0"/>
                        </a:lnTo>
                        <a:lnTo>
                          <a:pt x="8692" y="2"/>
                        </a:lnTo>
                        <a:lnTo>
                          <a:pt x="8933" y="9"/>
                        </a:lnTo>
                        <a:lnTo>
                          <a:pt x="9172" y="20"/>
                        </a:lnTo>
                        <a:lnTo>
                          <a:pt x="9408" y="37"/>
                        </a:lnTo>
                        <a:lnTo>
                          <a:pt x="9642" y="57"/>
                        </a:lnTo>
                        <a:lnTo>
                          <a:pt x="9874" y="82"/>
                        </a:lnTo>
                        <a:lnTo>
                          <a:pt x="10103" y="112"/>
                        </a:lnTo>
                        <a:lnTo>
                          <a:pt x="10329" y="145"/>
                        </a:lnTo>
                        <a:lnTo>
                          <a:pt x="10553" y="184"/>
                        </a:lnTo>
                        <a:lnTo>
                          <a:pt x="10775" y="228"/>
                        </a:lnTo>
                        <a:lnTo>
                          <a:pt x="10994" y="276"/>
                        </a:lnTo>
                        <a:lnTo>
                          <a:pt x="11210" y="329"/>
                        </a:lnTo>
                        <a:lnTo>
                          <a:pt x="11424" y="386"/>
                        </a:lnTo>
                        <a:lnTo>
                          <a:pt x="11635" y="447"/>
                        </a:lnTo>
                        <a:lnTo>
                          <a:pt x="11845" y="513"/>
                        </a:lnTo>
                        <a:lnTo>
                          <a:pt x="12051" y="584"/>
                        </a:lnTo>
                        <a:lnTo>
                          <a:pt x="12255" y="660"/>
                        </a:lnTo>
                        <a:lnTo>
                          <a:pt x="12457" y="739"/>
                        </a:lnTo>
                        <a:lnTo>
                          <a:pt x="12656" y="824"/>
                        </a:lnTo>
                        <a:lnTo>
                          <a:pt x="12852" y="913"/>
                        </a:lnTo>
                        <a:lnTo>
                          <a:pt x="13046" y="1007"/>
                        </a:lnTo>
                        <a:lnTo>
                          <a:pt x="13238" y="1105"/>
                        </a:lnTo>
                        <a:lnTo>
                          <a:pt x="13427" y="1207"/>
                        </a:lnTo>
                        <a:lnTo>
                          <a:pt x="13614" y="1314"/>
                        </a:lnTo>
                        <a:lnTo>
                          <a:pt x="13797" y="1426"/>
                        </a:lnTo>
                        <a:lnTo>
                          <a:pt x="13979" y="1543"/>
                        </a:lnTo>
                        <a:lnTo>
                          <a:pt x="14158" y="1664"/>
                        </a:lnTo>
                        <a:lnTo>
                          <a:pt x="14334" y="1790"/>
                        </a:lnTo>
                        <a:lnTo>
                          <a:pt x="14508" y="1919"/>
                        </a:lnTo>
                        <a:lnTo>
                          <a:pt x="14680" y="2054"/>
                        </a:lnTo>
                        <a:lnTo>
                          <a:pt x="14849" y="2194"/>
                        </a:lnTo>
                        <a:lnTo>
                          <a:pt x="15016" y="2338"/>
                        </a:lnTo>
                        <a:lnTo>
                          <a:pt x="15084" y="2399"/>
                        </a:lnTo>
                        <a:lnTo>
                          <a:pt x="15152" y="2461"/>
                        </a:lnTo>
                        <a:lnTo>
                          <a:pt x="15219" y="2524"/>
                        </a:lnTo>
                        <a:lnTo>
                          <a:pt x="15286" y="2588"/>
                        </a:lnTo>
                        <a:lnTo>
                          <a:pt x="15352" y="2652"/>
                        </a:lnTo>
                        <a:lnTo>
                          <a:pt x="15416" y="2717"/>
                        </a:lnTo>
                        <a:lnTo>
                          <a:pt x="15481" y="2784"/>
                        </a:lnTo>
                        <a:lnTo>
                          <a:pt x="15545" y="2850"/>
                        </a:lnTo>
                        <a:lnTo>
                          <a:pt x="15608" y="2918"/>
                        </a:lnTo>
                        <a:lnTo>
                          <a:pt x="15671" y="2986"/>
                        </a:lnTo>
                        <a:lnTo>
                          <a:pt x="15732" y="3055"/>
                        </a:lnTo>
                        <a:lnTo>
                          <a:pt x="15793" y="3124"/>
                        </a:lnTo>
                        <a:lnTo>
                          <a:pt x="15854" y="3195"/>
                        </a:lnTo>
                        <a:lnTo>
                          <a:pt x="15913" y="3265"/>
                        </a:lnTo>
                        <a:lnTo>
                          <a:pt x="15972" y="3338"/>
                        </a:lnTo>
                        <a:lnTo>
                          <a:pt x="16031" y="3411"/>
                        </a:lnTo>
                        <a:lnTo>
                          <a:pt x="16088" y="3484"/>
                        </a:lnTo>
                        <a:lnTo>
                          <a:pt x="16145" y="3558"/>
                        </a:lnTo>
                        <a:lnTo>
                          <a:pt x="16202" y="3633"/>
                        </a:lnTo>
                        <a:lnTo>
                          <a:pt x="16258" y="3709"/>
                        </a:lnTo>
                        <a:lnTo>
                          <a:pt x="16313" y="3786"/>
                        </a:lnTo>
                        <a:lnTo>
                          <a:pt x="16368" y="3863"/>
                        </a:lnTo>
                        <a:lnTo>
                          <a:pt x="16420" y="3941"/>
                        </a:lnTo>
                        <a:lnTo>
                          <a:pt x="16474" y="4020"/>
                        </a:lnTo>
                        <a:lnTo>
                          <a:pt x="16526" y="4100"/>
                        </a:lnTo>
                        <a:lnTo>
                          <a:pt x="16579" y="4180"/>
                        </a:lnTo>
                        <a:lnTo>
                          <a:pt x="16629" y="4261"/>
                        </a:lnTo>
                        <a:lnTo>
                          <a:pt x="16680" y="4344"/>
                        </a:lnTo>
                        <a:lnTo>
                          <a:pt x="16729" y="4426"/>
                        </a:lnTo>
                        <a:lnTo>
                          <a:pt x="16779" y="4510"/>
                        </a:lnTo>
                        <a:lnTo>
                          <a:pt x="16828" y="4595"/>
                        </a:lnTo>
                        <a:lnTo>
                          <a:pt x="16875" y="4679"/>
                        </a:lnTo>
                        <a:close/>
                        <a:moveTo>
                          <a:pt x="15271" y="4679"/>
                        </a:moveTo>
                        <a:lnTo>
                          <a:pt x="15210" y="4574"/>
                        </a:lnTo>
                        <a:lnTo>
                          <a:pt x="15147" y="4470"/>
                        </a:lnTo>
                        <a:lnTo>
                          <a:pt x="15116" y="4420"/>
                        </a:lnTo>
                        <a:lnTo>
                          <a:pt x="15084" y="4368"/>
                        </a:lnTo>
                        <a:lnTo>
                          <a:pt x="15051" y="4317"/>
                        </a:lnTo>
                        <a:lnTo>
                          <a:pt x="15018" y="4268"/>
                        </a:lnTo>
                        <a:lnTo>
                          <a:pt x="14950" y="4168"/>
                        </a:lnTo>
                        <a:lnTo>
                          <a:pt x="14882" y="4070"/>
                        </a:lnTo>
                        <a:lnTo>
                          <a:pt x="14811" y="3973"/>
                        </a:lnTo>
                        <a:lnTo>
                          <a:pt x="14738" y="3877"/>
                        </a:lnTo>
                        <a:lnTo>
                          <a:pt x="14664" y="3783"/>
                        </a:lnTo>
                        <a:lnTo>
                          <a:pt x="14588" y="3690"/>
                        </a:lnTo>
                        <a:lnTo>
                          <a:pt x="14511" y="3598"/>
                        </a:lnTo>
                        <a:lnTo>
                          <a:pt x="14433" y="3509"/>
                        </a:lnTo>
                        <a:lnTo>
                          <a:pt x="14352" y="3420"/>
                        </a:lnTo>
                        <a:lnTo>
                          <a:pt x="14271" y="3333"/>
                        </a:lnTo>
                        <a:lnTo>
                          <a:pt x="14188" y="3247"/>
                        </a:lnTo>
                        <a:lnTo>
                          <a:pt x="14103" y="3163"/>
                        </a:lnTo>
                        <a:lnTo>
                          <a:pt x="13999" y="3065"/>
                        </a:lnTo>
                        <a:lnTo>
                          <a:pt x="13892" y="2969"/>
                        </a:lnTo>
                        <a:lnTo>
                          <a:pt x="13786" y="2875"/>
                        </a:lnTo>
                        <a:lnTo>
                          <a:pt x="13677" y="2784"/>
                        </a:lnTo>
                        <a:lnTo>
                          <a:pt x="13566" y="2695"/>
                        </a:lnTo>
                        <a:lnTo>
                          <a:pt x="13455" y="2609"/>
                        </a:lnTo>
                        <a:lnTo>
                          <a:pt x="13342" y="2524"/>
                        </a:lnTo>
                        <a:lnTo>
                          <a:pt x="13228" y="2442"/>
                        </a:lnTo>
                        <a:lnTo>
                          <a:pt x="13111" y="2363"/>
                        </a:lnTo>
                        <a:lnTo>
                          <a:pt x="12994" y="2285"/>
                        </a:lnTo>
                        <a:lnTo>
                          <a:pt x="12875" y="2210"/>
                        </a:lnTo>
                        <a:lnTo>
                          <a:pt x="12754" y="2138"/>
                        </a:lnTo>
                        <a:lnTo>
                          <a:pt x="12632" y="2067"/>
                        </a:lnTo>
                        <a:lnTo>
                          <a:pt x="12509" y="1999"/>
                        </a:lnTo>
                        <a:lnTo>
                          <a:pt x="12384" y="1933"/>
                        </a:lnTo>
                        <a:lnTo>
                          <a:pt x="12258" y="1870"/>
                        </a:lnTo>
                        <a:lnTo>
                          <a:pt x="12129" y="1809"/>
                        </a:lnTo>
                        <a:lnTo>
                          <a:pt x="12000" y="1750"/>
                        </a:lnTo>
                        <a:lnTo>
                          <a:pt x="11869" y="1694"/>
                        </a:lnTo>
                        <a:lnTo>
                          <a:pt x="11737" y="1640"/>
                        </a:lnTo>
                        <a:lnTo>
                          <a:pt x="11603" y="1587"/>
                        </a:lnTo>
                        <a:lnTo>
                          <a:pt x="11468" y="1538"/>
                        </a:lnTo>
                        <a:lnTo>
                          <a:pt x="11331" y="1491"/>
                        </a:lnTo>
                        <a:lnTo>
                          <a:pt x="11192" y="1446"/>
                        </a:lnTo>
                        <a:lnTo>
                          <a:pt x="11052" y="1404"/>
                        </a:lnTo>
                        <a:lnTo>
                          <a:pt x="10911" y="1363"/>
                        </a:lnTo>
                        <a:lnTo>
                          <a:pt x="10768" y="1326"/>
                        </a:lnTo>
                        <a:lnTo>
                          <a:pt x="10624" y="1290"/>
                        </a:lnTo>
                        <a:lnTo>
                          <a:pt x="10478" y="1256"/>
                        </a:lnTo>
                        <a:lnTo>
                          <a:pt x="10331" y="1226"/>
                        </a:lnTo>
                        <a:lnTo>
                          <a:pt x="10182" y="1197"/>
                        </a:lnTo>
                        <a:lnTo>
                          <a:pt x="10031" y="1171"/>
                        </a:lnTo>
                        <a:lnTo>
                          <a:pt x="10097" y="1199"/>
                        </a:lnTo>
                        <a:lnTo>
                          <a:pt x="10162" y="1229"/>
                        </a:lnTo>
                        <a:lnTo>
                          <a:pt x="10225" y="1259"/>
                        </a:lnTo>
                        <a:lnTo>
                          <a:pt x="10288" y="1290"/>
                        </a:lnTo>
                        <a:lnTo>
                          <a:pt x="10351" y="1323"/>
                        </a:lnTo>
                        <a:lnTo>
                          <a:pt x="10412" y="1355"/>
                        </a:lnTo>
                        <a:lnTo>
                          <a:pt x="10472" y="1390"/>
                        </a:lnTo>
                        <a:lnTo>
                          <a:pt x="10532" y="1425"/>
                        </a:lnTo>
                        <a:lnTo>
                          <a:pt x="10591" y="1462"/>
                        </a:lnTo>
                        <a:lnTo>
                          <a:pt x="10649" y="1499"/>
                        </a:lnTo>
                        <a:lnTo>
                          <a:pt x="10706" y="1537"/>
                        </a:lnTo>
                        <a:lnTo>
                          <a:pt x="10763" y="1576"/>
                        </a:lnTo>
                        <a:lnTo>
                          <a:pt x="10818" y="1616"/>
                        </a:lnTo>
                        <a:lnTo>
                          <a:pt x="10874" y="1657"/>
                        </a:lnTo>
                        <a:lnTo>
                          <a:pt x="10928" y="1698"/>
                        </a:lnTo>
                        <a:lnTo>
                          <a:pt x="10980" y="1741"/>
                        </a:lnTo>
                        <a:lnTo>
                          <a:pt x="11033" y="1786"/>
                        </a:lnTo>
                        <a:lnTo>
                          <a:pt x="11085" y="1830"/>
                        </a:lnTo>
                        <a:lnTo>
                          <a:pt x="11135" y="1875"/>
                        </a:lnTo>
                        <a:lnTo>
                          <a:pt x="11186" y="1923"/>
                        </a:lnTo>
                        <a:lnTo>
                          <a:pt x="11235" y="1970"/>
                        </a:lnTo>
                        <a:lnTo>
                          <a:pt x="11283" y="2018"/>
                        </a:lnTo>
                        <a:lnTo>
                          <a:pt x="11331" y="2068"/>
                        </a:lnTo>
                        <a:lnTo>
                          <a:pt x="11378" y="2119"/>
                        </a:lnTo>
                        <a:lnTo>
                          <a:pt x="11423" y="2169"/>
                        </a:lnTo>
                        <a:lnTo>
                          <a:pt x="11469" y="2222"/>
                        </a:lnTo>
                        <a:lnTo>
                          <a:pt x="11513" y="2276"/>
                        </a:lnTo>
                        <a:lnTo>
                          <a:pt x="11557" y="2329"/>
                        </a:lnTo>
                        <a:lnTo>
                          <a:pt x="11599" y="2385"/>
                        </a:lnTo>
                        <a:lnTo>
                          <a:pt x="11642" y="2441"/>
                        </a:lnTo>
                        <a:lnTo>
                          <a:pt x="11683" y="2498"/>
                        </a:lnTo>
                        <a:lnTo>
                          <a:pt x="11723" y="2556"/>
                        </a:lnTo>
                        <a:lnTo>
                          <a:pt x="11763" y="2616"/>
                        </a:lnTo>
                        <a:lnTo>
                          <a:pt x="11802" y="2677"/>
                        </a:lnTo>
                        <a:lnTo>
                          <a:pt x="11839" y="2738"/>
                        </a:lnTo>
                        <a:lnTo>
                          <a:pt x="11876" y="2799"/>
                        </a:lnTo>
                        <a:lnTo>
                          <a:pt x="11911" y="2862"/>
                        </a:lnTo>
                        <a:lnTo>
                          <a:pt x="11943" y="2924"/>
                        </a:lnTo>
                        <a:lnTo>
                          <a:pt x="11976" y="2986"/>
                        </a:lnTo>
                        <a:lnTo>
                          <a:pt x="12007" y="3049"/>
                        </a:lnTo>
                        <a:lnTo>
                          <a:pt x="12037" y="3113"/>
                        </a:lnTo>
                        <a:lnTo>
                          <a:pt x="12066" y="3176"/>
                        </a:lnTo>
                        <a:lnTo>
                          <a:pt x="12092" y="3240"/>
                        </a:lnTo>
                        <a:lnTo>
                          <a:pt x="12118" y="3305"/>
                        </a:lnTo>
                        <a:lnTo>
                          <a:pt x="12143" y="3370"/>
                        </a:lnTo>
                        <a:lnTo>
                          <a:pt x="12167" y="3435"/>
                        </a:lnTo>
                        <a:lnTo>
                          <a:pt x="12189" y="3501"/>
                        </a:lnTo>
                        <a:lnTo>
                          <a:pt x="12209" y="3567"/>
                        </a:lnTo>
                        <a:lnTo>
                          <a:pt x="12229" y="3634"/>
                        </a:lnTo>
                        <a:lnTo>
                          <a:pt x="12247" y="3701"/>
                        </a:lnTo>
                        <a:lnTo>
                          <a:pt x="12264" y="3768"/>
                        </a:lnTo>
                        <a:lnTo>
                          <a:pt x="12280" y="3836"/>
                        </a:lnTo>
                        <a:lnTo>
                          <a:pt x="12294" y="3904"/>
                        </a:lnTo>
                        <a:lnTo>
                          <a:pt x="12308" y="3973"/>
                        </a:lnTo>
                        <a:lnTo>
                          <a:pt x="12320" y="4041"/>
                        </a:lnTo>
                        <a:lnTo>
                          <a:pt x="12330" y="4111"/>
                        </a:lnTo>
                        <a:lnTo>
                          <a:pt x="12340" y="4180"/>
                        </a:lnTo>
                        <a:lnTo>
                          <a:pt x="12348" y="4251"/>
                        </a:lnTo>
                        <a:lnTo>
                          <a:pt x="12356" y="4322"/>
                        </a:lnTo>
                        <a:lnTo>
                          <a:pt x="12361" y="4392"/>
                        </a:lnTo>
                        <a:lnTo>
                          <a:pt x="12365" y="4463"/>
                        </a:lnTo>
                        <a:lnTo>
                          <a:pt x="12368" y="4534"/>
                        </a:lnTo>
                        <a:lnTo>
                          <a:pt x="12370" y="4607"/>
                        </a:lnTo>
                        <a:lnTo>
                          <a:pt x="12370" y="4679"/>
                        </a:lnTo>
                        <a:lnTo>
                          <a:pt x="12370" y="4750"/>
                        </a:lnTo>
                        <a:lnTo>
                          <a:pt x="12368" y="4822"/>
                        </a:lnTo>
                        <a:lnTo>
                          <a:pt x="12365" y="4893"/>
                        </a:lnTo>
                        <a:lnTo>
                          <a:pt x="12361" y="4962"/>
                        </a:lnTo>
                        <a:lnTo>
                          <a:pt x="12356" y="5033"/>
                        </a:lnTo>
                        <a:lnTo>
                          <a:pt x="12348" y="5103"/>
                        </a:lnTo>
                        <a:lnTo>
                          <a:pt x="12341" y="5171"/>
                        </a:lnTo>
                        <a:lnTo>
                          <a:pt x="12331" y="5241"/>
                        </a:lnTo>
                        <a:lnTo>
                          <a:pt x="12321" y="5308"/>
                        </a:lnTo>
                        <a:lnTo>
                          <a:pt x="12309" y="5377"/>
                        </a:lnTo>
                        <a:lnTo>
                          <a:pt x="12296" y="5444"/>
                        </a:lnTo>
                        <a:lnTo>
                          <a:pt x="12282" y="5512"/>
                        </a:lnTo>
                        <a:lnTo>
                          <a:pt x="12266" y="5578"/>
                        </a:lnTo>
                        <a:lnTo>
                          <a:pt x="12249" y="5644"/>
                        </a:lnTo>
                        <a:lnTo>
                          <a:pt x="12231" y="5711"/>
                        </a:lnTo>
                        <a:lnTo>
                          <a:pt x="12212" y="5776"/>
                        </a:lnTo>
                        <a:lnTo>
                          <a:pt x="12192" y="5841"/>
                        </a:lnTo>
                        <a:lnTo>
                          <a:pt x="12170" y="5906"/>
                        </a:lnTo>
                        <a:lnTo>
                          <a:pt x="12147" y="5971"/>
                        </a:lnTo>
                        <a:lnTo>
                          <a:pt x="12124" y="6034"/>
                        </a:lnTo>
                        <a:lnTo>
                          <a:pt x="12097" y="6099"/>
                        </a:lnTo>
                        <a:lnTo>
                          <a:pt x="12071" y="6162"/>
                        </a:lnTo>
                        <a:lnTo>
                          <a:pt x="12043" y="6224"/>
                        </a:lnTo>
                        <a:lnTo>
                          <a:pt x="12014" y="6287"/>
                        </a:lnTo>
                        <a:lnTo>
                          <a:pt x="11983" y="6348"/>
                        </a:lnTo>
                        <a:lnTo>
                          <a:pt x="11952" y="6411"/>
                        </a:lnTo>
                        <a:lnTo>
                          <a:pt x="11919" y="6472"/>
                        </a:lnTo>
                        <a:lnTo>
                          <a:pt x="11885" y="6533"/>
                        </a:lnTo>
                        <a:lnTo>
                          <a:pt x="11850" y="6593"/>
                        </a:lnTo>
                        <a:lnTo>
                          <a:pt x="11814" y="6653"/>
                        </a:lnTo>
                        <a:lnTo>
                          <a:pt x="11776" y="6713"/>
                        </a:lnTo>
                        <a:lnTo>
                          <a:pt x="11737" y="6772"/>
                        </a:lnTo>
                        <a:lnTo>
                          <a:pt x="11696" y="6831"/>
                        </a:lnTo>
                        <a:lnTo>
                          <a:pt x="11655" y="6888"/>
                        </a:lnTo>
                        <a:lnTo>
                          <a:pt x="11614" y="6945"/>
                        </a:lnTo>
                        <a:lnTo>
                          <a:pt x="11572" y="7000"/>
                        </a:lnTo>
                        <a:lnTo>
                          <a:pt x="11529" y="7055"/>
                        </a:lnTo>
                        <a:lnTo>
                          <a:pt x="11484" y="7108"/>
                        </a:lnTo>
                        <a:lnTo>
                          <a:pt x="11440" y="7161"/>
                        </a:lnTo>
                        <a:lnTo>
                          <a:pt x="11395" y="7213"/>
                        </a:lnTo>
                        <a:lnTo>
                          <a:pt x="11348" y="7264"/>
                        </a:lnTo>
                        <a:lnTo>
                          <a:pt x="11301" y="7314"/>
                        </a:lnTo>
                        <a:lnTo>
                          <a:pt x="11254" y="7363"/>
                        </a:lnTo>
                        <a:lnTo>
                          <a:pt x="11204" y="7411"/>
                        </a:lnTo>
                        <a:lnTo>
                          <a:pt x="11155" y="7458"/>
                        </a:lnTo>
                        <a:lnTo>
                          <a:pt x="11105" y="7505"/>
                        </a:lnTo>
                        <a:lnTo>
                          <a:pt x="11054" y="7550"/>
                        </a:lnTo>
                        <a:lnTo>
                          <a:pt x="11003" y="7594"/>
                        </a:lnTo>
                        <a:lnTo>
                          <a:pt x="10950" y="7637"/>
                        </a:lnTo>
                        <a:lnTo>
                          <a:pt x="10896" y="7681"/>
                        </a:lnTo>
                        <a:lnTo>
                          <a:pt x="10842" y="7722"/>
                        </a:lnTo>
                        <a:lnTo>
                          <a:pt x="10787" y="7763"/>
                        </a:lnTo>
                        <a:lnTo>
                          <a:pt x="10731" y="7803"/>
                        </a:lnTo>
                        <a:lnTo>
                          <a:pt x="10676" y="7841"/>
                        </a:lnTo>
                        <a:lnTo>
                          <a:pt x="10618" y="7879"/>
                        </a:lnTo>
                        <a:lnTo>
                          <a:pt x="10560" y="7916"/>
                        </a:lnTo>
                        <a:lnTo>
                          <a:pt x="10502" y="7952"/>
                        </a:lnTo>
                        <a:lnTo>
                          <a:pt x="10441" y="7987"/>
                        </a:lnTo>
                        <a:lnTo>
                          <a:pt x="10381" y="8021"/>
                        </a:lnTo>
                        <a:lnTo>
                          <a:pt x="10320" y="8055"/>
                        </a:lnTo>
                        <a:lnTo>
                          <a:pt x="10259" y="8086"/>
                        </a:lnTo>
                        <a:lnTo>
                          <a:pt x="10196" y="8118"/>
                        </a:lnTo>
                        <a:lnTo>
                          <a:pt x="10132" y="8149"/>
                        </a:lnTo>
                        <a:lnTo>
                          <a:pt x="10069" y="8178"/>
                        </a:lnTo>
                        <a:lnTo>
                          <a:pt x="10290" y="8137"/>
                        </a:lnTo>
                        <a:lnTo>
                          <a:pt x="10506" y="8092"/>
                        </a:lnTo>
                        <a:lnTo>
                          <a:pt x="10719" y="8042"/>
                        </a:lnTo>
                        <a:lnTo>
                          <a:pt x="10929" y="7988"/>
                        </a:lnTo>
                        <a:lnTo>
                          <a:pt x="11134" y="7930"/>
                        </a:lnTo>
                        <a:lnTo>
                          <a:pt x="11336" y="7868"/>
                        </a:lnTo>
                        <a:lnTo>
                          <a:pt x="11534" y="7801"/>
                        </a:lnTo>
                        <a:lnTo>
                          <a:pt x="11728" y="7729"/>
                        </a:lnTo>
                        <a:lnTo>
                          <a:pt x="11919" y="7653"/>
                        </a:lnTo>
                        <a:lnTo>
                          <a:pt x="12106" y="7573"/>
                        </a:lnTo>
                        <a:lnTo>
                          <a:pt x="12289" y="7488"/>
                        </a:lnTo>
                        <a:lnTo>
                          <a:pt x="12469" y="7398"/>
                        </a:lnTo>
                        <a:lnTo>
                          <a:pt x="12645" y="7304"/>
                        </a:lnTo>
                        <a:lnTo>
                          <a:pt x="12817" y="7206"/>
                        </a:lnTo>
                        <a:lnTo>
                          <a:pt x="12984" y="7104"/>
                        </a:lnTo>
                        <a:lnTo>
                          <a:pt x="13149" y="6997"/>
                        </a:lnTo>
                        <a:lnTo>
                          <a:pt x="13310" y="6886"/>
                        </a:lnTo>
                        <a:lnTo>
                          <a:pt x="13467" y="6770"/>
                        </a:lnTo>
                        <a:lnTo>
                          <a:pt x="13620" y="6649"/>
                        </a:lnTo>
                        <a:lnTo>
                          <a:pt x="13770" y="6524"/>
                        </a:lnTo>
                        <a:lnTo>
                          <a:pt x="13916" y="6395"/>
                        </a:lnTo>
                        <a:lnTo>
                          <a:pt x="14057" y="6261"/>
                        </a:lnTo>
                        <a:lnTo>
                          <a:pt x="14195" y="6123"/>
                        </a:lnTo>
                        <a:lnTo>
                          <a:pt x="14330" y="5981"/>
                        </a:lnTo>
                        <a:lnTo>
                          <a:pt x="14461" y="5833"/>
                        </a:lnTo>
                        <a:lnTo>
                          <a:pt x="14587" y="5682"/>
                        </a:lnTo>
                        <a:lnTo>
                          <a:pt x="14711" y="5526"/>
                        </a:lnTo>
                        <a:lnTo>
                          <a:pt x="14830" y="5366"/>
                        </a:lnTo>
                        <a:lnTo>
                          <a:pt x="14946" y="5201"/>
                        </a:lnTo>
                        <a:lnTo>
                          <a:pt x="15058" y="5031"/>
                        </a:lnTo>
                        <a:lnTo>
                          <a:pt x="15166" y="4858"/>
                        </a:lnTo>
                        <a:lnTo>
                          <a:pt x="15271" y="4679"/>
                        </a:lnTo>
                        <a:close/>
                        <a:moveTo>
                          <a:pt x="11555" y="4679"/>
                        </a:moveTo>
                        <a:lnTo>
                          <a:pt x="11554" y="4601"/>
                        </a:lnTo>
                        <a:lnTo>
                          <a:pt x="11552" y="4524"/>
                        </a:lnTo>
                        <a:lnTo>
                          <a:pt x="11548" y="4447"/>
                        </a:lnTo>
                        <a:lnTo>
                          <a:pt x="11541" y="4370"/>
                        </a:lnTo>
                        <a:lnTo>
                          <a:pt x="11533" y="4295"/>
                        </a:lnTo>
                        <a:lnTo>
                          <a:pt x="11524" y="4220"/>
                        </a:lnTo>
                        <a:lnTo>
                          <a:pt x="11512" y="4147"/>
                        </a:lnTo>
                        <a:lnTo>
                          <a:pt x="11498" y="4073"/>
                        </a:lnTo>
                        <a:lnTo>
                          <a:pt x="11482" y="4000"/>
                        </a:lnTo>
                        <a:lnTo>
                          <a:pt x="11466" y="3928"/>
                        </a:lnTo>
                        <a:lnTo>
                          <a:pt x="11448" y="3858"/>
                        </a:lnTo>
                        <a:lnTo>
                          <a:pt x="11426" y="3787"/>
                        </a:lnTo>
                        <a:lnTo>
                          <a:pt x="11404" y="3718"/>
                        </a:lnTo>
                        <a:lnTo>
                          <a:pt x="11380" y="3648"/>
                        </a:lnTo>
                        <a:lnTo>
                          <a:pt x="11354" y="3579"/>
                        </a:lnTo>
                        <a:lnTo>
                          <a:pt x="11326" y="3512"/>
                        </a:lnTo>
                        <a:lnTo>
                          <a:pt x="11297" y="3445"/>
                        </a:lnTo>
                        <a:lnTo>
                          <a:pt x="11265" y="3379"/>
                        </a:lnTo>
                        <a:lnTo>
                          <a:pt x="11232" y="3313"/>
                        </a:lnTo>
                        <a:lnTo>
                          <a:pt x="11198" y="3249"/>
                        </a:lnTo>
                        <a:lnTo>
                          <a:pt x="11161" y="3184"/>
                        </a:lnTo>
                        <a:lnTo>
                          <a:pt x="11123" y="3121"/>
                        </a:lnTo>
                        <a:lnTo>
                          <a:pt x="11082" y="3058"/>
                        </a:lnTo>
                        <a:lnTo>
                          <a:pt x="11040" y="2997"/>
                        </a:lnTo>
                        <a:lnTo>
                          <a:pt x="10996" y="2935"/>
                        </a:lnTo>
                        <a:lnTo>
                          <a:pt x="10951" y="2874"/>
                        </a:lnTo>
                        <a:lnTo>
                          <a:pt x="10903" y="2814"/>
                        </a:lnTo>
                        <a:lnTo>
                          <a:pt x="10854" y="2755"/>
                        </a:lnTo>
                        <a:lnTo>
                          <a:pt x="10803" y="2697"/>
                        </a:lnTo>
                        <a:lnTo>
                          <a:pt x="10750" y="2639"/>
                        </a:lnTo>
                        <a:lnTo>
                          <a:pt x="10696" y="2582"/>
                        </a:lnTo>
                        <a:lnTo>
                          <a:pt x="10640" y="2525"/>
                        </a:lnTo>
                        <a:lnTo>
                          <a:pt x="10582" y="2471"/>
                        </a:lnTo>
                        <a:lnTo>
                          <a:pt x="10524" y="2417"/>
                        </a:lnTo>
                        <a:lnTo>
                          <a:pt x="10465" y="2365"/>
                        </a:lnTo>
                        <a:lnTo>
                          <a:pt x="10406" y="2316"/>
                        </a:lnTo>
                        <a:lnTo>
                          <a:pt x="10345" y="2268"/>
                        </a:lnTo>
                        <a:lnTo>
                          <a:pt x="10284" y="2222"/>
                        </a:lnTo>
                        <a:lnTo>
                          <a:pt x="10222" y="2177"/>
                        </a:lnTo>
                        <a:lnTo>
                          <a:pt x="10160" y="2134"/>
                        </a:lnTo>
                        <a:lnTo>
                          <a:pt x="10097" y="2093"/>
                        </a:lnTo>
                        <a:lnTo>
                          <a:pt x="10032" y="2053"/>
                        </a:lnTo>
                        <a:lnTo>
                          <a:pt x="9968" y="2016"/>
                        </a:lnTo>
                        <a:lnTo>
                          <a:pt x="9902" y="1981"/>
                        </a:lnTo>
                        <a:lnTo>
                          <a:pt x="9836" y="1946"/>
                        </a:lnTo>
                        <a:lnTo>
                          <a:pt x="9769" y="1913"/>
                        </a:lnTo>
                        <a:lnTo>
                          <a:pt x="9701" y="1882"/>
                        </a:lnTo>
                        <a:lnTo>
                          <a:pt x="9632" y="1854"/>
                        </a:lnTo>
                        <a:lnTo>
                          <a:pt x="9564" y="1827"/>
                        </a:lnTo>
                        <a:lnTo>
                          <a:pt x="9493" y="1801"/>
                        </a:lnTo>
                        <a:lnTo>
                          <a:pt x="9423" y="1778"/>
                        </a:lnTo>
                        <a:lnTo>
                          <a:pt x="9352" y="1756"/>
                        </a:lnTo>
                        <a:lnTo>
                          <a:pt x="9279" y="1736"/>
                        </a:lnTo>
                        <a:lnTo>
                          <a:pt x="9206" y="1718"/>
                        </a:lnTo>
                        <a:lnTo>
                          <a:pt x="9133" y="1701"/>
                        </a:lnTo>
                        <a:lnTo>
                          <a:pt x="9059" y="1686"/>
                        </a:lnTo>
                        <a:lnTo>
                          <a:pt x="8984" y="1673"/>
                        </a:lnTo>
                        <a:lnTo>
                          <a:pt x="8908" y="1661"/>
                        </a:lnTo>
                        <a:lnTo>
                          <a:pt x="8831" y="1652"/>
                        </a:lnTo>
                        <a:lnTo>
                          <a:pt x="8754" y="1644"/>
                        </a:lnTo>
                        <a:lnTo>
                          <a:pt x="8676" y="1638"/>
                        </a:lnTo>
                        <a:lnTo>
                          <a:pt x="8597" y="1634"/>
                        </a:lnTo>
                        <a:lnTo>
                          <a:pt x="8518" y="1631"/>
                        </a:lnTo>
                        <a:lnTo>
                          <a:pt x="8438" y="1631"/>
                        </a:lnTo>
                        <a:lnTo>
                          <a:pt x="8395" y="1631"/>
                        </a:lnTo>
                        <a:lnTo>
                          <a:pt x="8353" y="1632"/>
                        </a:lnTo>
                        <a:lnTo>
                          <a:pt x="8311" y="1633"/>
                        </a:lnTo>
                        <a:lnTo>
                          <a:pt x="8269" y="1635"/>
                        </a:lnTo>
                        <a:lnTo>
                          <a:pt x="8227" y="1637"/>
                        </a:lnTo>
                        <a:lnTo>
                          <a:pt x="8185" y="1640"/>
                        </a:lnTo>
                        <a:lnTo>
                          <a:pt x="8143" y="1643"/>
                        </a:lnTo>
                        <a:lnTo>
                          <a:pt x="8102" y="1647"/>
                        </a:lnTo>
                        <a:lnTo>
                          <a:pt x="8061" y="1653"/>
                        </a:lnTo>
                        <a:lnTo>
                          <a:pt x="8020" y="1657"/>
                        </a:lnTo>
                        <a:lnTo>
                          <a:pt x="7979" y="1663"/>
                        </a:lnTo>
                        <a:lnTo>
                          <a:pt x="7938" y="1670"/>
                        </a:lnTo>
                        <a:lnTo>
                          <a:pt x="7896" y="1676"/>
                        </a:lnTo>
                        <a:lnTo>
                          <a:pt x="7856" y="1683"/>
                        </a:lnTo>
                        <a:lnTo>
                          <a:pt x="7816" y="1692"/>
                        </a:lnTo>
                        <a:lnTo>
                          <a:pt x="7775" y="1700"/>
                        </a:lnTo>
                        <a:lnTo>
                          <a:pt x="7735" y="1709"/>
                        </a:lnTo>
                        <a:lnTo>
                          <a:pt x="7695" y="1718"/>
                        </a:lnTo>
                        <a:lnTo>
                          <a:pt x="7655" y="1729"/>
                        </a:lnTo>
                        <a:lnTo>
                          <a:pt x="7616" y="1738"/>
                        </a:lnTo>
                        <a:lnTo>
                          <a:pt x="7537" y="1761"/>
                        </a:lnTo>
                        <a:lnTo>
                          <a:pt x="7458" y="1786"/>
                        </a:lnTo>
                        <a:lnTo>
                          <a:pt x="7380" y="1813"/>
                        </a:lnTo>
                        <a:lnTo>
                          <a:pt x="7302" y="1841"/>
                        </a:lnTo>
                        <a:lnTo>
                          <a:pt x="7226" y="1872"/>
                        </a:lnTo>
                        <a:lnTo>
                          <a:pt x="7149" y="1906"/>
                        </a:lnTo>
                        <a:lnTo>
                          <a:pt x="6826" y="1171"/>
                        </a:lnTo>
                        <a:lnTo>
                          <a:pt x="6606" y="1211"/>
                        </a:lnTo>
                        <a:lnTo>
                          <a:pt x="6388" y="1255"/>
                        </a:lnTo>
                        <a:lnTo>
                          <a:pt x="6174" y="1305"/>
                        </a:lnTo>
                        <a:lnTo>
                          <a:pt x="5964" y="1359"/>
                        </a:lnTo>
                        <a:lnTo>
                          <a:pt x="5758" y="1417"/>
                        </a:lnTo>
                        <a:lnTo>
                          <a:pt x="5555" y="1480"/>
                        </a:lnTo>
                        <a:lnTo>
                          <a:pt x="5357" y="1546"/>
                        </a:lnTo>
                        <a:lnTo>
                          <a:pt x="5162" y="1618"/>
                        </a:lnTo>
                        <a:lnTo>
                          <a:pt x="4970" y="1694"/>
                        </a:lnTo>
                        <a:lnTo>
                          <a:pt x="4783" y="1775"/>
                        </a:lnTo>
                        <a:lnTo>
                          <a:pt x="4598" y="1859"/>
                        </a:lnTo>
                        <a:lnTo>
                          <a:pt x="4419" y="1949"/>
                        </a:lnTo>
                        <a:lnTo>
                          <a:pt x="4242" y="2043"/>
                        </a:lnTo>
                        <a:lnTo>
                          <a:pt x="4070" y="2141"/>
                        </a:lnTo>
                        <a:lnTo>
                          <a:pt x="3901" y="2244"/>
                        </a:lnTo>
                        <a:lnTo>
                          <a:pt x="3736" y="2352"/>
                        </a:lnTo>
                        <a:lnTo>
                          <a:pt x="3574" y="2463"/>
                        </a:lnTo>
                        <a:lnTo>
                          <a:pt x="3417" y="2579"/>
                        </a:lnTo>
                        <a:lnTo>
                          <a:pt x="3263" y="2700"/>
                        </a:lnTo>
                        <a:lnTo>
                          <a:pt x="3113" y="2826"/>
                        </a:lnTo>
                        <a:lnTo>
                          <a:pt x="2967" y="2955"/>
                        </a:lnTo>
                        <a:lnTo>
                          <a:pt x="2824" y="3089"/>
                        </a:lnTo>
                        <a:lnTo>
                          <a:pt x="2685" y="3228"/>
                        </a:lnTo>
                        <a:lnTo>
                          <a:pt x="2550" y="3372"/>
                        </a:lnTo>
                        <a:lnTo>
                          <a:pt x="2418" y="3519"/>
                        </a:lnTo>
                        <a:lnTo>
                          <a:pt x="2291" y="3671"/>
                        </a:lnTo>
                        <a:lnTo>
                          <a:pt x="2167" y="3828"/>
                        </a:lnTo>
                        <a:lnTo>
                          <a:pt x="2047" y="3989"/>
                        </a:lnTo>
                        <a:lnTo>
                          <a:pt x="1931" y="4155"/>
                        </a:lnTo>
                        <a:lnTo>
                          <a:pt x="1818" y="4326"/>
                        </a:lnTo>
                        <a:lnTo>
                          <a:pt x="1710" y="4500"/>
                        </a:lnTo>
                        <a:lnTo>
                          <a:pt x="1604" y="4679"/>
                        </a:lnTo>
                        <a:lnTo>
                          <a:pt x="1665" y="4784"/>
                        </a:lnTo>
                        <a:lnTo>
                          <a:pt x="1728" y="4888"/>
                        </a:lnTo>
                        <a:lnTo>
                          <a:pt x="1792" y="4990"/>
                        </a:lnTo>
                        <a:lnTo>
                          <a:pt x="1858" y="5090"/>
                        </a:lnTo>
                        <a:lnTo>
                          <a:pt x="1925" y="5189"/>
                        </a:lnTo>
                        <a:lnTo>
                          <a:pt x="1993" y="5287"/>
                        </a:lnTo>
                        <a:lnTo>
                          <a:pt x="2064" y="5383"/>
                        </a:lnTo>
                        <a:lnTo>
                          <a:pt x="2136" y="5477"/>
                        </a:lnTo>
                        <a:lnTo>
                          <a:pt x="2173" y="5524"/>
                        </a:lnTo>
                        <a:lnTo>
                          <a:pt x="2210" y="5571"/>
                        </a:lnTo>
                        <a:lnTo>
                          <a:pt x="2246" y="5616"/>
                        </a:lnTo>
                        <a:lnTo>
                          <a:pt x="2283" y="5662"/>
                        </a:lnTo>
                        <a:lnTo>
                          <a:pt x="2322" y="5708"/>
                        </a:lnTo>
                        <a:lnTo>
                          <a:pt x="2360" y="5752"/>
                        </a:lnTo>
                        <a:lnTo>
                          <a:pt x="2399" y="5797"/>
                        </a:lnTo>
                        <a:lnTo>
                          <a:pt x="2438" y="5841"/>
                        </a:lnTo>
                        <a:lnTo>
                          <a:pt x="2477" y="5885"/>
                        </a:lnTo>
                        <a:lnTo>
                          <a:pt x="2518" y="5929"/>
                        </a:lnTo>
                        <a:lnTo>
                          <a:pt x="2558" y="5972"/>
                        </a:lnTo>
                        <a:lnTo>
                          <a:pt x="2599" y="6014"/>
                        </a:lnTo>
                        <a:lnTo>
                          <a:pt x="2640" y="6056"/>
                        </a:lnTo>
                        <a:lnTo>
                          <a:pt x="2681" y="6099"/>
                        </a:lnTo>
                        <a:lnTo>
                          <a:pt x="2723" y="6141"/>
                        </a:lnTo>
                        <a:lnTo>
                          <a:pt x="2765" y="6182"/>
                        </a:lnTo>
                        <a:lnTo>
                          <a:pt x="2869" y="6280"/>
                        </a:lnTo>
                        <a:lnTo>
                          <a:pt x="2973" y="6375"/>
                        </a:lnTo>
                        <a:lnTo>
                          <a:pt x="3080" y="6468"/>
                        </a:lnTo>
                        <a:lnTo>
                          <a:pt x="3187" y="6559"/>
                        </a:lnTo>
                        <a:lnTo>
                          <a:pt x="3297" y="6648"/>
                        </a:lnTo>
                        <a:lnTo>
                          <a:pt x="3407" y="6733"/>
                        </a:lnTo>
                        <a:lnTo>
                          <a:pt x="3519" y="6817"/>
                        </a:lnTo>
                        <a:lnTo>
                          <a:pt x="3632" y="6899"/>
                        </a:lnTo>
                        <a:lnTo>
                          <a:pt x="3747" y="6979"/>
                        </a:lnTo>
                        <a:lnTo>
                          <a:pt x="3864" y="7056"/>
                        </a:lnTo>
                        <a:lnTo>
                          <a:pt x="3981" y="7130"/>
                        </a:lnTo>
                        <a:lnTo>
                          <a:pt x="4102" y="7203"/>
                        </a:lnTo>
                        <a:lnTo>
                          <a:pt x="4222" y="7273"/>
                        </a:lnTo>
                        <a:lnTo>
                          <a:pt x="4344" y="7341"/>
                        </a:lnTo>
                        <a:lnTo>
                          <a:pt x="4468" y="7407"/>
                        </a:lnTo>
                        <a:lnTo>
                          <a:pt x="4593" y="7471"/>
                        </a:lnTo>
                        <a:lnTo>
                          <a:pt x="4720" y="7532"/>
                        </a:lnTo>
                        <a:lnTo>
                          <a:pt x="4848" y="7591"/>
                        </a:lnTo>
                        <a:lnTo>
                          <a:pt x="4978" y="7647"/>
                        </a:lnTo>
                        <a:lnTo>
                          <a:pt x="5109" y="7702"/>
                        </a:lnTo>
                        <a:lnTo>
                          <a:pt x="5242" y="7753"/>
                        </a:lnTo>
                        <a:lnTo>
                          <a:pt x="5376" y="7804"/>
                        </a:lnTo>
                        <a:lnTo>
                          <a:pt x="5511" y="7851"/>
                        </a:lnTo>
                        <a:lnTo>
                          <a:pt x="5648" y="7897"/>
                        </a:lnTo>
                        <a:lnTo>
                          <a:pt x="5786" y="7940"/>
                        </a:lnTo>
                        <a:lnTo>
                          <a:pt x="5926" y="7980"/>
                        </a:lnTo>
                        <a:lnTo>
                          <a:pt x="6068" y="8019"/>
                        </a:lnTo>
                        <a:lnTo>
                          <a:pt x="6210" y="8055"/>
                        </a:lnTo>
                        <a:lnTo>
                          <a:pt x="6354" y="8090"/>
                        </a:lnTo>
                        <a:lnTo>
                          <a:pt x="6500" y="8121"/>
                        </a:lnTo>
                        <a:lnTo>
                          <a:pt x="6648" y="8151"/>
                        </a:lnTo>
                        <a:lnTo>
                          <a:pt x="6796" y="8178"/>
                        </a:lnTo>
                        <a:lnTo>
                          <a:pt x="6732" y="8149"/>
                        </a:lnTo>
                        <a:lnTo>
                          <a:pt x="6669" y="8118"/>
                        </a:lnTo>
                        <a:lnTo>
                          <a:pt x="6607" y="8086"/>
                        </a:lnTo>
                        <a:lnTo>
                          <a:pt x="6544" y="8055"/>
                        </a:lnTo>
                        <a:lnTo>
                          <a:pt x="6483" y="8021"/>
                        </a:lnTo>
                        <a:lnTo>
                          <a:pt x="6423" y="7987"/>
                        </a:lnTo>
                        <a:lnTo>
                          <a:pt x="6364" y="7952"/>
                        </a:lnTo>
                        <a:lnTo>
                          <a:pt x="6305" y="7916"/>
                        </a:lnTo>
                        <a:lnTo>
                          <a:pt x="6248" y="7879"/>
                        </a:lnTo>
                        <a:lnTo>
                          <a:pt x="6191" y="7841"/>
                        </a:lnTo>
                        <a:lnTo>
                          <a:pt x="6134" y="7803"/>
                        </a:lnTo>
                        <a:lnTo>
                          <a:pt x="6079" y="7763"/>
                        </a:lnTo>
                        <a:lnTo>
                          <a:pt x="6024" y="7722"/>
                        </a:lnTo>
                        <a:lnTo>
                          <a:pt x="5971" y="7681"/>
                        </a:lnTo>
                        <a:lnTo>
                          <a:pt x="5917" y="7637"/>
                        </a:lnTo>
                        <a:lnTo>
                          <a:pt x="5865" y="7594"/>
                        </a:lnTo>
                        <a:lnTo>
                          <a:pt x="5813" y="7550"/>
                        </a:lnTo>
                        <a:lnTo>
                          <a:pt x="5763" y="7505"/>
                        </a:lnTo>
                        <a:lnTo>
                          <a:pt x="5712" y="7458"/>
                        </a:lnTo>
                        <a:lnTo>
                          <a:pt x="5664" y="7411"/>
                        </a:lnTo>
                        <a:lnTo>
                          <a:pt x="5615" y="7363"/>
                        </a:lnTo>
                        <a:lnTo>
                          <a:pt x="5568" y="7314"/>
                        </a:lnTo>
                        <a:lnTo>
                          <a:pt x="5521" y="7264"/>
                        </a:lnTo>
                        <a:lnTo>
                          <a:pt x="5475" y="7213"/>
                        </a:lnTo>
                        <a:lnTo>
                          <a:pt x="5430" y="7161"/>
                        </a:lnTo>
                        <a:lnTo>
                          <a:pt x="5385" y="7108"/>
                        </a:lnTo>
                        <a:lnTo>
                          <a:pt x="5341" y="7055"/>
                        </a:lnTo>
                        <a:lnTo>
                          <a:pt x="5299" y="7000"/>
                        </a:lnTo>
                        <a:lnTo>
                          <a:pt x="5257" y="6945"/>
                        </a:lnTo>
                        <a:lnTo>
                          <a:pt x="5215" y="6888"/>
                        </a:lnTo>
                        <a:lnTo>
                          <a:pt x="5174" y="6831"/>
                        </a:lnTo>
                        <a:lnTo>
                          <a:pt x="5135" y="6772"/>
                        </a:lnTo>
                        <a:lnTo>
                          <a:pt x="5096" y="6713"/>
                        </a:lnTo>
                        <a:lnTo>
                          <a:pt x="5058" y="6653"/>
                        </a:lnTo>
                        <a:lnTo>
                          <a:pt x="5022" y="6593"/>
                        </a:lnTo>
                        <a:lnTo>
                          <a:pt x="4988" y="6533"/>
                        </a:lnTo>
                        <a:lnTo>
                          <a:pt x="4954" y="6472"/>
                        </a:lnTo>
                        <a:lnTo>
                          <a:pt x="4921" y="6411"/>
                        </a:lnTo>
                        <a:lnTo>
                          <a:pt x="4890" y="6348"/>
                        </a:lnTo>
                        <a:lnTo>
                          <a:pt x="4859" y="6287"/>
                        </a:lnTo>
                        <a:lnTo>
                          <a:pt x="4830" y="6224"/>
                        </a:lnTo>
                        <a:lnTo>
                          <a:pt x="4803" y="6162"/>
                        </a:lnTo>
                        <a:lnTo>
                          <a:pt x="4777" y="6099"/>
                        </a:lnTo>
                        <a:lnTo>
                          <a:pt x="4751" y="6034"/>
                        </a:lnTo>
                        <a:lnTo>
                          <a:pt x="4727" y="5971"/>
                        </a:lnTo>
                        <a:lnTo>
                          <a:pt x="4704" y="5906"/>
                        </a:lnTo>
                        <a:lnTo>
                          <a:pt x="4683" y="5841"/>
                        </a:lnTo>
                        <a:lnTo>
                          <a:pt x="4662" y="5776"/>
                        </a:lnTo>
                        <a:lnTo>
                          <a:pt x="4643" y="5711"/>
                        </a:lnTo>
                        <a:lnTo>
                          <a:pt x="4625" y="5644"/>
                        </a:lnTo>
                        <a:lnTo>
                          <a:pt x="4609" y="5578"/>
                        </a:lnTo>
                        <a:lnTo>
                          <a:pt x="4593" y="5512"/>
                        </a:lnTo>
                        <a:lnTo>
                          <a:pt x="4578" y="5444"/>
                        </a:lnTo>
                        <a:lnTo>
                          <a:pt x="4566" y="5377"/>
                        </a:lnTo>
                        <a:lnTo>
                          <a:pt x="4554" y="5308"/>
                        </a:lnTo>
                        <a:lnTo>
                          <a:pt x="4544" y="5241"/>
                        </a:lnTo>
                        <a:lnTo>
                          <a:pt x="4534" y="5171"/>
                        </a:lnTo>
                        <a:lnTo>
                          <a:pt x="4527" y="5103"/>
                        </a:lnTo>
                        <a:lnTo>
                          <a:pt x="4519" y="5033"/>
                        </a:lnTo>
                        <a:lnTo>
                          <a:pt x="4514" y="4962"/>
                        </a:lnTo>
                        <a:lnTo>
                          <a:pt x="4510" y="4893"/>
                        </a:lnTo>
                        <a:lnTo>
                          <a:pt x="4507" y="4822"/>
                        </a:lnTo>
                        <a:lnTo>
                          <a:pt x="4505" y="4750"/>
                        </a:lnTo>
                        <a:lnTo>
                          <a:pt x="4505" y="4679"/>
                        </a:lnTo>
                        <a:lnTo>
                          <a:pt x="4505" y="4592"/>
                        </a:lnTo>
                        <a:lnTo>
                          <a:pt x="4508" y="4505"/>
                        </a:lnTo>
                        <a:lnTo>
                          <a:pt x="4513" y="4418"/>
                        </a:lnTo>
                        <a:lnTo>
                          <a:pt x="4519" y="4332"/>
                        </a:lnTo>
                        <a:lnTo>
                          <a:pt x="4529" y="4246"/>
                        </a:lnTo>
                        <a:lnTo>
                          <a:pt x="4539" y="4160"/>
                        </a:lnTo>
                        <a:lnTo>
                          <a:pt x="4552" y="4075"/>
                        </a:lnTo>
                        <a:lnTo>
                          <a:pt x="4566" y="3989"/>
                        </a:lnTo>
                        <a:lnTo>
                          <a:pt x="4583" y="3905"/>
                        </a:lnTo>
                        <a:lnTo>
                          <a:pt x="4601" y="3821"/>
                        </a:lnTo>
                        <a:lnTo>
                          <a:pt x="4621" y="3737"/>
                        </a:lnTo>
                        <a:lnTo>
                          <a:pt x="4643" y="3653"/>
                        </a:lnTo>
                        <a:lnTo>
                          <a:pt x="4667" y="3569"/>
                        </a:lnTo>
                        <a:lnTo>
                          <a:pt x="4692" y="3486"/>
                        </a:lnTo>
                        <a:lnTo>
                          <a:pt x="4720" y="3403"/>
                        </a:lnTo>
                        <a:lnTo>
                          <a:pt x="4749" y="3320"/>
                        </a:lnTo>
                        <a:lnTo>
                          <a:pt x="5538" y="3566"/>
                        </a:lnTo>
                        <a:lnTo>
                          <a:pt x="5512" y="3633"/>
                        </a:lnTo>
                        <a:lnTo>
                          <a:pt x="5486" y="3702"/>
                        </a:lnTo>
                        <a:lnTo>
                          <a:pt x="5464" y="3770"/>
                        </a:lnTo>
                        <a:lnTo>
                          <a:pt x="5443" y="3839"/>
                        </a:lnTo>
                        <a:lnTo>
                          <a:pt x="5423" y="3907"/>
                        </a:lnTo>
                        <a:lnTo>
                          <a:pt x="5405" y="3977"/>
                        </a:lnTo>
                        <a:lnTo>
                          <a:pt x="5389" y="4045"/>
                        </a:lnTo>
                        <a:lnTo>
                          <a:pt x="5375" y="4115"/>
                        </a:lnTo>
                        <a:lnTo>
                          <a:pt x="5362" y="4184"/>
                        </a:lnTo>
                        <a:lnTo>
                          <a:pt x="5350" y="4254"/>
                        </a:lnTo>
                        <a:lnTo>
                          <a:pt x="5341" y="4325"/>
                        </a:lnTo>
                        <a:lnTo>
                          <a:pt x="5334" y="4395"/>
                        </a:lnTo>
                        <a:lnTo>
                          <a:pt x="5327" y="4466"/>
                        </a:lnTo>
                        <a:lnTo>
                          <a:pt x="5323" y="4537"/>
                        </a:lnTo>
                        <a:lnTo>
                          <a:pt x="5321" y="4608"/>
                        </a:lnTo>
                        <a:lnTo>
                          <a:pt x="5320" y="4679"/>
                        </a:lnTo>
                        <a:lnTo>
                          <a:pt x="5321" y="4758"/>
                        </a:lnTo>
                        <a:lnTo>
                          <a:pt x="5323" y="4836"/>
                        </a:lnTo>
                        <a:lnTo>
                          <a:pt x="5327" y="4913"/>
                        </a:lnTo>
                        <a:lnTo>
                          <a:pt x="5334" y="4990"/>
                        </a:lnTo>
                        <a:lnTo>
                          <a:pt x="5342" y="5065"/>
                        </a:lnTo>
                        <a:lnTo>
                          <a:pt x="5351" y="5140"/>
                        </a:lnTo>
                        <a:lnTo>
                          <a:pt x="5363" y="5214"/>
                        </a:lnTo>
                        <a:lnTo>
                          <a:pt x="5377" y="5288"/>
                        </a:lnTo>
                        <a:lnTo>
                          <a:pt x="5392" y="5361"/>
                        </a:lnTo>
                        <a:lnTo>
                          <a:pt x="5409" y="5432"/>
                        </a:lnTo>
                        <a:lnTo>
                          <a:pt x="5427" y="5504"/>
                        </a:lnTo>
                        <a:lnTo>
                          <a:pt x="5449" y="5575"/>
                        </a:lnTo>
                        <a:lnTo>
                          <a:pt x="5471" y="5645"/>
                        </a:lnTo>
                        <a:lnTo>
                          <a:pt x="5495" y="5714"/>
                        </a:lnTo>
                        <a:lnTo>
                          <a:pt x="5521" y="5782"/>
                        </a:lnTo>
                        <a:lnTo>
                          <a:pt x="5549" y="5851"/>
                        </a:lnTo>
                        <a:lnTo>
                          <a:pt x="5578" y="5917"/>
                        </a:lnTo>
                        <a:lnTo>
                          <a:pt x="5610" y="5984"/>
                        </a:lnTo>
                        <a:lnTo>
                          <a:pt x="5643" y="6050"/>
                        </a:lnTo>
                        <a:lnTo>
                          <a:pt x="5677" y="6114"/>
                        </a:lnTo>
                        <a:lnTo>
                          <a:pt x="5714" y="6179"/>
                        </a:lnTo>
                        <a:lnTo>
                          <a:pt x="5752" y="6242"/>
                        </a:lnTo>
                        <a:lnTo>
                          <a:pt x="5792" y="6305"/>
                        </a:lnTo>
                        <a:lnTo>
                          <a:pt x="5835" y="6367"/>
                        </a:lnTo>
                        <a:lnTo>
                          <a:pt x="5879" y="6429"/>
                        </a:lnTo>
                        <a:lnTo>
                          <a:pt x="5924" y="6489"/>
                        </a:lnTo>
                        <a:lnTo>
                          <a:pt x="5972" y="6549"/>
                        </a:lnTo>
                        <a:lnTo>
                          <a:pt x="6021" y="6608"/>
                        </a:lnTo>
                        <a:lnTo>
                          <a:pt x="6072" y="6666"/>
                        </a:lnTo>
                        <a:lnTo>
                          <a:pt x="6125" y="6724"/>
                        </a:lnTo>
                        <a:lnTo>
                          <a:pt x="6179" y="6779"/>
                        </a:lnTo>
                        <a:lnTo>
                          <a:pt x="6235" y="6836"/>
                        </a:lnTo>
                        <a:lnTo>
                          <a:pt x="6293" y="6890"/>
                        </a:lnTo>
                        <a:lnTo>
                          <a:pt x="6351" y="6943"/>
                        </a:lnTo>
                        <a:lnTo>
                          <a:pt x="6410" y="6995"/>
                        </a:lnTo>
                        <a:lnTo>
                          <a:pt x="6469" y="7044"/>
                        </a:lnTo>
                        <a:lnTo>
                          <a:pt x="6530" y="7091"/>
                        </a:lnTo>
                        <a:lnTo>
                          <a:pt x="6591" y="7137"/>
                        </a:lnTo>
                        <a:lnTo>
                          <a:pt x="6653" y="7181"/>
                        </a:lnTo>
                        <a:lnTo>
                          <a:pt x="6715" y="7224"/>
                        </a:lnTo>
                        <a:lnTo>
                          <a:pt x="6778" y="7264"/>
                        </a:lnTo>
                        <a:lnTo>
                          <a:pt x="6843" y="7303"/>
                        </a:lnTo>
                        <a:lnTo>
                          <a:pt x="6907" y="7341"/>
                        </a:lnTo>
                        <a:lnTo>
                          <a:pt x="6973" y="7377"/>
                        </a:lnTo>
                        <a:lnTo>
                          <a:pt x="7039" y="7411"/>
                        </a:lnTo>
                        <a:lnTo>
                          <a:pt x="7106" y="7442"/>
                        </a:lnTo>
                        <a:lnTo>
                          <a:pt x="7174" y="7473"/>
                        </a:lnTo>
                        <a:lnTo>
                          <a:pt x="7243" y="7502"/>
                        </a:lnTo>
                        <a:lnTo>
                          <a:pt x="7311" y="7529"/>
                        </a:lnTo>
                        <a:lnTo>
                          <a:pt x="7382" y="7554"/>
                        </a:lnTo>
                        <a:lnTo>
                          <a:pt x="7452" y="7577"/>
                        </a:lnTo>
                        <a:lnTo>
                          <a:pt x="7523" y="7600"/>
                        </a:lnTo>
                        <a:lnTo>
                          <a:pt x="7596" y="7620"/>
                        </a:lnTo>
                        <a:lnTo>
                          <a:pt x="7669" y="7637"/>
                        </a:lnTo>
                        <a:lnTo>
                          <a:pt x="7742" y="7654"/>
                        </a:lnTo>
                        <a:lnTo>
                          <a:pt x="7816" y="7669"/>
                        </a:lnTo>
                        <a:lnTo>
                          <a:pt x="7891" y="7682"/>
                        </a:lnTo>
                        <a:lnTo>
                          <a:pt x="7967" y="7693"/>
                        </a:lnTo>
                        <a:lnTo>
                          <a:pt x="8044" y="7703"/>
                        </a:lnTo>
                        <a:lnTo>
                          <a:pt x="8121" y="7711"/>
                        </a:lnTo>
                        <a:lnTo>
                          <a:pt x="8199" y="7717"/>
                        </a:lnTo>
                        <a:lnTo>
                          <a:pt x="8278" y="7722"/>
                        </a:lnTo>
                        <a:lnTo>
                          <a:pt x="8357" y="7724"/>
                        </a:lnTo>
                        <a:lnTo>
                          <a:pt x="8438" y="7725"/>
                        </a:lnTo>
                        <a:lnTo>
                          <a:pt x="8518" y="7724"/>
                        </a:lnTo>
                        <a:lnTo>
                          <a:pt x="8597" y="7722"/>
                        </a:lnTo>
                        <a:lnTo>
                          <a:pt x="8676" y="7717"/>
                        </a:lnTo>
                        <a:lnTo>
                          <a:pt x="8754" y="7711"/>
                        </a:lnTo>
                        <a:lnTo>
                          <a:pt x="8831" y="7703"/>
                        </a:lnTo>
                        <a:lnTo>
                          <a:pt x="8908" y="7693"/>
                        </a:lnTo>
                        <a:lnTo>
                          <a:pt x="8984" y="7682"/>
                        </a:lnTo>
                        <a:lnTo>
                          <a:pt x="9059" y="7669"/>
                        </a:lnTo>
                        <a:lnTo>
                          <a:pt x="9133" y="7654"/>
                        </a:lnTo>
                        <a:lnTo>
                          <a:pt x="9206" y="7637"/>
                        </a:lnTo>
                        <a:lnTo>
                          <a:pt x="9279" y="7620"/>
                        </a:lnTo>
                        <a:lnTo>
                          <a:pt x="9352" y="7600"/>
                        </a:lnTo>
                        <a:lnTo>
                          <a:pt x="9423" y="7577"/>
                        </a:lnTo>
                        <a:lnTo>
                          <a:pt x="9493" y="7554"/>
                        </a:lnTo>
                        <a:lnTo>
                          <a:pt x="9564" y="7529"/>
                        </a:lnTo>
                        <a:lnTo>
                          <a:pt x="9632" y="7502"/>
                        </a:lnTo>
                        <a:lnTo>
                          <a:pt x="9701" y="7473"/>
                        </a:lnTo>
                        <a:lnTo>
                          <a:pt x="9769" y="7442"/>
                        </a:lnTo>
                        <a:lnTo>
                          <a:pt x="9836" y="7411"/>
                        </a:lnTo>
                        <a:lnTo>
                          <a:pt x="9902" y="7377"/>
                        </a:lnTo>
                        <a:lnTo>
                          <a:pt x="9968" y="7341"/>
                        </a:lnTo>
                        <a:lnTo>
                          <a:pt x="10032" y="7303"/>
                        </a:lnTo>
                        <a:lnTo>
                          <a:pt x="10097" y="7264"/>
                        </a:lnTo>
                        <a:lnTo>
                          <a:pt x="10160" y="7224"/>
                        </a:lnTo>
                        <a:lnTo>
                          <a:pt x="10222" y="7181"/>
                        </a:lnTo>
                        <a:lnTo>
                          <a:pt x="10284" y="7137"/>
                        </a:lnTo>
                        <a:lnTo>
                          <a:pt x="10345" y="7091"/>
                        </a:lnTo>
                        <a:lnTo>
                          <a:pt x="10406" y="7044"/>
                        </a:lnTo>
                        <a:lnTo>
                          <a:pt x="10465" y="6995"/>
                        </a:lnTo>
                        <a:lnTo>
                          <a:pt x="10524" y="6943"/>
                        </a:lnTo>
                        <a:lnTo>
                          <a:pt x="10582" y="6890"/>
                        </a:lnTo>
                        <a:lnTo>
                          <a:pt x="10640" y="6836"/>
                        </a:lnTo>
                        <a:lnTo>
                          <a:pt x="10696" y="6779"/>
                        </a:lnTo>
                        <a:lnTo>
                          <a:pt x="10750" y="6724"/>
                        </a:lnTo>
                        <a:lnTo>
                          <a:pt x="10803" y="6666"/>
                        </a:lnTo>
                        <a:lnTo>
                          <a:pt x="10854" y="6608"/>
                        </a:lnTo>
                        <a:lnTo>
                          <a:pt x="10903" y="6549"/>
                        </a:lnTo>
                        <a:lnTo>
                          <a:pt x="10951" y="6489"/>
                        </a:lnTo>
                        <a:lnTo>
                          <a:pt x="10996" y="6429"/>
                        </a:lnTo>
                        <a:lnTo>
                          <a:pt x="11040" y="6367"/>
                        </a:lnTo>
                        <a:lnTo>
                          <a:pt x="11082" y="6305"/>
                        </a:lnTo>
                        <a:lnTo>
                          <a:pt x="11123" y="6242"/>
                        </a:lnTo>
                        <a:lnTo>
                          <a:pt x="11161" y="6179"/>
                        </a:lnTo>
                        <a:lnTo>
                          <a:pt x="11198" y="6114"/>
                        </a:lnTo>
                        <a:lnTo>
                          <a:pt x="11232" y="6050"/>
                        </a:lnTo>
                        <a:lnTo>
                          <a:pt x="11265" y="5984"/>
                        </a:lnTo>
                        <a:lnTo>
                          <a:pt x="11297" y="5917"/>
                        </a:lnTo>
                        <a:lnTo>
                          <a:pt x="11326" y="5851"/>
                        </a:lnTo>
                        <a:lnTo>
                          <a:pt x="11354" y="5782"/>
                        </a:lnTo>
                        <a:lnTo>
                          <a:pt x="11380" y="5714"/>
                        </a:lnTo>
                        <a:lnTo>
                          <a:pt x="11404" y="5645"/>
                        </a:lnTo>
                        <a:lnTo>
                          <a:pt x="11426" y="5575"/>
                        </a:lnTo>
                        <a:lnTo>
                          <a:pt x="11448" y="5504"/>
                        </a:lnTo>
                        <a:lnTo>
                          <a:pt x="11466" y="5432"/>
                        </a:lnTo>
                        <a:lnTo>
                          <a:pt x="11482" y="5361"/>
                        </a:lnTo>
                        <a:lnTo>
                          <a:pt x="11498" y="5288"/>
                        </a:lnTo>
                        <a:lnTo>
                          <a:pt x="11512" y="5214"/>
                        </a:lnTo>
                        <a:lnTo>
                          <a:pt x="11524" y="5140"/>
                        </a:lnTo>
                        <a:lnTo>
                          <a:pt x="11533" y="5065"/>
                        </a:lnTo>
                        <a:lnTo>
                          <a:pt x="11541" y="4990"/>
                        </a:lnTo>
                        <a:lnTo>
                          <a:pt x="11548" y="4913"/>
                        </a:lnTo>
                        <a:lnTo>
                          <a:pt x="11552" y="4836"/>
                        </a:lnTo>
                        <a:lnTo>
                          <a:pt x="11554" y="4758"/>
                        </a:lnTo>
                        <a:lnTo>
                          <a:pt x="11555" y="4679"/>
                        </a:lnTo>
                        <a:close/>
                        <a:moveTo>
                          <a:pt x="10797" y="4679"/>
                        </a:moveTo>
                        <a:lnTo>
                          <a:pt x="10796" y="4739"/>
                        </a:lnTo>
                        <a:lnTo>
                          <a:pt x="10795" y="4797"/>
                        </a:lnTo>
                        <a:lnTo>
                          <a:pt x="10791" y="4855"/>
                        </a:lnTo>
                        <a:lnTo>
                          <a:pt x="10786" y="4913"/>
                        </a:lnTo>
                        <a:lnTo>
                          <a:pt x="10780" y="4970"/>
                        </a:lnTo>
                        <a:lnTo>
                          <a:pt x="10773" y="5027"/>
                        </a:lnTo>
                        <a:lnTo>
                          <a:pt x="10764" y="5083"/>
                        </a:lnTo>
                        <a:lnTo>
                          <a:pt x="10754" y="5137"/>
                        </a:lnTo>
                        <a:lnTo>
                          <a:pt x="10742" y="5193"/>
                        </a:lnTo>
                        <a:lnTo>
                          <a:pt x="10729" y="5247"/>
                        </a:lnTo>
                        <a:lnTo>
                          <a:pt x="10715" y="5301"/>
                        </a:lnTo>
                        <a:lnTo>
                          <a:pt x="10700" y="5354"/>
                        </a:lnTo>
                        <a:lnTo>
                          <a:pt x="10683" y="5407"/>
                        </a:lnTo>
                        <a:lnTo>
                          <a:pt x="10664" y="5459"/>
                        </a:lnTo>
                        <a:lnTo>
                          <a:pt x="10645" y="5512"/>
                        </a:lnTo>
                        <a:lnTo>
                          <a:pt x="10624" y="5562"/>
                        </a:lnTo>
                        <a:lnTo>
                          <a:pt x="10602" y="5613"/>
                        </a:lnTo>
                        <a:lnTo>
                          <a:pt x="10577" y="5663"/>
                        </a:lnTo>
                        <a:lnTo>
                          <a:pt x="10553" y="5713"/>
                        </a:lnTo>
                        <a:lnTo>
                          <a:pt x="10527" y="5761"/>
                        </a:lnTo>
                        <a:lnTo>
                          <a:pt x="10498" y="5811"/>
                        </a:lnTo>
                        <a:lnTo>
                          <a:pt x="10470" y="5858"/>
                        </a:lnTo>
                        <a:lnTo>
                          <a:pt x="10439" y="5906"/>
                        </a:lnTo>
                        <a:lnTo>
                          <a:pt x="10408" y="5953"/>
                        </a:lnTo>
                        <a:lnTo>
                          <a:pt x="10375" y="6000"/>
                        </a:lnTo>
                        <a:lnTo>
                          <a:pt x="10340" y="6045"/>
                        </a:lnTo>
                        <a:lnTo>
                          <a:pt x="10304" y="6090"/>
                        </a:lnTo>
                        <a:lnTo>
                          <a:pt x="10267" y="6135"/>
                        </a:lnTo>
                        <a:lnTo>
                          <a:pt x="10228" y="6180"/>
                        </a:lnTo>
                        <a:lnTo>
                          <a:pt x="10189" y="6223"/>
                        </a:lnTo>
                        <a:lnTo>
                          <a:pt x="10148" y="6267"/>
                        </a:lnTo>
                        <a:lnTo>
                          <a:pt x="10106" y="6309"/>
                        </a:lnTo>
                        <a:lnTo>
                          <a:pt x="10062" y="6352"/>
                        </a:lnTo>
                        <a:lnTo>
                          <a:pt x="10017" y="6392"/>
                        </a:lnTo>
                        <a:lnTo>
                          <a:pt x="9973" y="6431"/>
                        </a:lnTo>
                        <a:lnTo>
                          <a:pt x="9928" y="6469"/>
                        </a:lnTo>
                        <a:lnTo>
                          <a:pt x="9881" y="6505"/>
                        </a:lnTo>
                        <a:lnTo>
                          <a:pt x="9835" y="6540"/>
                        </a:lnTo>
                        <a:lnTo>
                          <a:pt x="9789" y="6574"/>
                        </a:lnTo>
                        <a:lnTo>
                          <a:pt x="9741" y="6607"/>
                        </a:lnTo>
                        <a:lnTo>
                          <a:pt x="9693" y="6637"/>
                        </a:lnTo>
                        <a:lnTo>
                          <a:pt x="9644" y="6667"/>
                        </a:lnTo>
                        <a:lnTo>
                          <a:pt x="9594" y="6695"/>
                        </a:lnTo>
                        <a:lnTo>
                          <a:pt x="9545" y="6723"/>
                        </a:lnTo>
                        <a:lnTo>
                          <a:pt x="9494" y="6749"/>
                        </a:lnTo>
                        <a:lnTo>
                          <a:pt x="9444" y="6773"/>
                        </a:lnTo>
                        <a:lnTo>
                          <a:pt x="9393" y="6796"/>
                        </a:lnTo>
                        <a:lnTo>
                          <a:pt x="9340" y="6817"/>
                        </a:lnTo>
                        <a:lnTo>
                          <a:pt x="9289" y="6839"/>
                        </a:lnTo>
                        <a:lnTo>
                          <a:pt x="9235" y="6857"/>
                        </a:lnTo>
                        <a:lnTo>
                          <a:pt x="9182" y="6875"/>
                        </a:lnTo>
                        <a:lnTo>
                          <a:pt x="9127" y="6892"/>
                        </a:lnTo>
                        <a:lnTo>
                          <a:pt x="9073" y="6907"/>
                        </a:lnTo>
                        <a:lnTo>
                          <a:pt x="9018" y="6921"/>
                        </a:lnTo>
                        <a:lnTo>
                          <a:pt x="8963" y="6933"/>
                        </a:lnTo>
                        <a:lnTo>
                          <a:pt x="8906" y="6945"/>
                        </a:lnTo>
                        <a:lnTo>
                          <a:pt x="8850" y="6954"/>
                        </a:lnTo>
                        <a:lnTo>
                          <a:pt x="8792" y="6963"/>
                        </a:lnTo>
                        <a:lnTo>
                          <a:pt x="8735" y="6970"/>
                        </a:lnTo>
                        <a:lnTo>
                          <a:pt x="8676" y="6977"/>
                        </a:lnTo>
                        <a:lnTo>
                          <a:pt x="8617" y="6981"/>
                        </a:lnTo>
                        <a:lnTo>
                          <a:pt x="8558" y="6984"/>
                        </a:lnTo>
                        <a:lnTo>
                          <a:pt x="8498" y="6986"/>
                        </a:lnTo>
                        <a:lnTo>
                          <a:pt x="8438" y="6987"/>
                        </a:lnTo>
                        <a:lnTo>
                          <a:pt x="8376" y="6986"/>
                        </a:lnTo>
                        <a:lnTo>
                          <a:pt x="8316" y="6984"/>
                        </a:lnTo>
                        <a:lnTo>
                          <a:pt x="8256" y="6981"/>
                        </a:lnTo>
                        <a:lnTo>
                          <a:pt x="8197" y="6977"/>
                        </a:lnTo>
                        <a:lnTo>
                          <a:pt x="8138" y="6970"/>
                        </a:lnTo>
                        <a:lnTo>
                          <a:pt x="8080" y="6963"/>
                        </a:lnTo>
                        <a:lnTo>
                          <a:pt x="8022" y="6954"/>
                        </a:lnTo>
                        <a:lnTo>
                          <a:pt x="7965" y="6945"/>
                        </a:lnTo>
                        <a:lnTo>
                          <a:pt x="7908" y="6933"/>
                        </a:lnTo>
                        <a:lnTo>
                          <a:pt x="7852" y="6921"/>
                        </a:lnTo>
                        <a:lnTo>
                          <a:pt x="7797" y="6907"/>
                        </a:lnTo>
                        <a:lnTo>
                          <a:pt x="7742" y="6892"/>
                        </a:lnTo>
                        <a:lnTo>
                          <a:pt x="7688" y="6875"/>
                        </a:lnTo>
                        <a:lnTo>
                          <a:pt x="7635" y="6857"/>
                        </a:lnTo>
                        <a:lnTo>
                          <a:pt x="7581" y="6839"/>
                        </a:lnTo>
                        <a:lnTo>
                          <a:pt x="7528" y="6817"/>
                        </a:lnTo>
                        <a:lnTo>
                          <a:pt x="7477" y="6796"/>
                        </a:lnTo>
                        <a:lnTo>
                          <a:pt x="7425" y="6773"/>
                        </a:lnTo>
                        <a:lnTo>
                          <a:pt x="7374" y="6749"/>
                        </a:lnTo>
                        <a:lnTo>
                          <a:pt x="7325" y="6723"/>
                        </a:lnTo>
                        <a:lnTo>
                          <a:pt x="7274" y="6695"/>
                        </a:lnTo>
                        <a:lnTo>
                          <a:pt x="7226" y="6667"/>
                        </a:lnTo>
                        <a:lnTo>
                          <a:pt x="7177" y="6637"/>
                        </a:lnTo>
                        <a:lnTo>
                          <a:pt x="7130" y="6607"/>
                        </a:lnTo>
                        <a:lnTo>
                          <a:pt x="7082" y="6574"/>
                        </a:lnTo>
                        <a:lnTo>
                          <a:pt x="7035" y="6540"/>
                        </a:lnTo>
                        <a:lnTo>
                          <a:pt x="6988" y="6505"/>
                        </a:lnTo>
                        <a:lnTo>
                          <a:pt x="6943" y="6469"/>
                        </a:lnTo>
                        <a:lnTo>
                          <a:pt x="6898" y="6431"/>
                        </a:lnTo>
                        <a:lnTo>
                          <a:pt x="6853" y="6392"/>
                        </a:lnTo>
                        <a:lnTo>
                          <a:pt x="6809" y="6352"/>
                        </a:lnTo>
                        <a:lnTo>
                          <a:pt x="6766" y="6309"/>
                        </a:lnTo>
                        <a:lnTo>
                          <a:pt x="6724" y="6267"/>
                        </a:lnTo>
                        <a:lnTo>
                          <a:pt x="6683" y="6223"/>
                        </a:lnTo>
                        <a:lnTo>
                          <a:pt x="6642" y="6180"/>
                        </a:lnTo>
                        <a:lnTo>
                          <a:pt x="6604" y="6135"/>
                        </a:lnTo>
                        <a:lnTo>
                          <a:pt x="6568" y="6090"/>
                        </a:lnTo>
                        <a:lnTo>
                          <a:pt x="6532" y="6045"/>
                        </a:lnTo>
                        <a:lnTo>
                          <a:pt x="6498" y="6000"/>
                        </a:lnTo>
                        <a:lnTo>
                          <a:pt x="6464" y="5953"/>
                        </a:lnTo>
                        <a:lnTo>
                          <a:pt x="6433" y="5906"/>
                        </a:lnTo>
                        <a:lnTo>
                          <a:pt x="6403" y="5858"/>
                        </a:lnTo>
                        <a:lnTo>
                          <a:pt x="6373" y="5811"/>
                        </a:lnTo>
                        <a:lnTo>
                          <a:pt x="6346" y="5761"/>
                        </a:lnTo>
                        <a:lnTo>
                          <a:pt x="6320" y="5713"/>
                        </a:lnTo>
                        <a:lnTo>
                          <a:pt x="6295" y="5663"/>
                        </a:lnTo>
                        <a:lnTo>
                          <a:pt x="6272" y="5613"/>
                        </a:lnTo>
                        <a:lnTo>
                          <a:pt x="6250" y="5562"/>
                        </a:lnTo>
                        <a:lnTo>
                          <a:pt x="6229" y="5512"/>
                        </a:lnTo>
                        <a:lnTo>
                          <a:pt x="6209" y="5459"/>
                        </a:lnTo>
                        <a:lnTo>
                          <a:pt x="6191" y="5407"/>
                        </a:lnTo>
                        <a:lnTo>
                          <a:pt x="6174" y="5354"/>
                        </a:lnTo>
                        <a:lnTo>
                          <a:pt x="6159" y="5301"/>
                        </a:lnTo>
                        <a:lnTo>
                          <a:pt x="6145" y="5247"/>
                        </a:lnTo>
                        <a:lnTo>
                          <a:pt x="6132" y="5193"/>
                        </a:lnTo>
                        <a:lnTo>
                          <a:pt x="6120" y="5137"/>
                        </a:lnTo>
                        <a:lnTo>
                          <a:pt x="6111" y="5083"/>
                        </a:lnTo>
                        <a:lnTo>
                          <a:pt x="6102" y="5027"/>
                        </a:lnTo>
                        <a:lnTo>
                          <a:pt x="6095" y="4970"/>
                        </a:lnTo>
                        <a:lnTo>
                          <a:pt x="6089" y="4913"/>
                        </a:lnTo>
                        <a:lnTo>
                          <a:pt x="6084" y="4855"/>
                        </a:lnTo>
                        <a:lnTo>
                          <a:pt x="6080" y="4797"/>
                        </a:lnTo>
                        <a:lnTo>
                          <a:pt x="6078" y="4739"/>
                        </a:lnTo>
                        <a:lnTo>
                          <a:pt x="6078" y="4679"/>
                        </a:lnTo>
                        <a:lnTo>
                          <a:pt x="6078" y="4626"/>
                        </a:lnTo>
                        <a:lnTo>
                          <a:pt x="6080" y="4573"/>
                        </a:lnTo>
                        <a:lnTo>
                          <a:pt x="6083" y="4522"/>
                        </a:lnTo>
                        <a:lnTo>
                          <a:pt x="6088" y="4469"/>
                        </a:lnTo>
                        <a:lnTo>
                          <a:pt x="6093" y="4417"/>
                        </a:lnTo>
                        <a:lnTo>
                          <a:pt x="6099" y="4366"/>
                        </a:lnTo>
                        <a:lnTo>
                          <a:pt x="6107" y="4314"/>
                        </a:lnTo>
                        <a:lnTo>
                          <a:pt x="6115" y="4262"/>
                        </a:lnTo>
                        <a:lnTo>
                          <a:pt x="6126" y="4212"/>
                        </a:lnTo>
                        <a:lnTo>
                          <a:pt x="6136" y="4160"/>
                        </a:lnTo>
                        <a:lnTo>
                          <a:pt x="6149" y="4110"/>
                        </a:lnTo>
                        <a:lnTo>
                          <a:pt x="6161" y="4059"/>
                        </a:lnTo>
                        <a:lnTo>
                          <a:pt x="6176" y="4010"/>
                        </a:lnTo>
                        <a:lnTo>
                          <a:pt x="6191" y="3960"/>
                        </a:lnTo>
                        <a:lnTo>
                          <a:pt x="6208" y="3910"/>
                        </a:lnTo>
                        <a:lnTo>
                          <a:pt x="6226" y="3861"/>
                        </a:lnTo>
                        <a:lnTo>
                          <a:pt x="8636" y="4954"/>
                        </a:lnTo>
                        <a:lnTo>
                          <a:pt x="7504" y="2566"/>
                        </a:lnTo>
                        <a:lnTo>
                          <a:pt x="7560" y="2542"/>
                        </a:lnTo>
                        <a:lnTo>
                          <a:pt x="7616" y="2520"/>
                        </a:lnTo>
                        <a:lnTo>
                          <a:pt x="7672" y="2499"/>
                        </a:lnTo>
                        <a:lnTo>
                          <a:pt x="7729" y="2480"/>
                        </a:lnTo>
                        <a:lnTo>
                          <a:pt x="7786" y="2462"/>
                        </a:lnTo>
                        <a:lnTo>
                          <a:pt x="7843" y="2446"/>
                        </a:lnTo>
                        <a:lnTo>
                          <a:pt x="7901" y="2432"/>
                        </a:lnTo>
                        <a:lnTo>
                          <a:pt x="7959" y="2418"/>
                        </a:lnTo>
                        <a:lnTo>
                          <a:pt x="8017" y="2406"/>
                        </a:lnTo>
                        <a:lnTo>
                          <a:pt x="8076" y="2396"/>
                        </a:lnTo>
                        <a:lnTo>
                          <a:pt x="8135" y="2387"/>
                        </a:lnTo>
                        <a:lnTo>
                          <a:pt x="8195" y="2381"/>
                        </a:lnTo>
                        <a:lnTo>
                          <a:pt x="8255" y="2375"/>
                        </a:lnTo>
                        <a:lnTo>
                          <a:pt x="8315" y="2372"/>
                        </a:lnTo>
                        <a:lnTo>
                          <a:pt x="8376" y="2369"/>
                        </a:lnTo>
                        <a:lnTo>
                          <a:pt x="8438" y="2368"/>
                        </a:lnTo>
                        <a:lnTo>
                          <a:pt x="8498" y="2368"/>
                        </a:lnTo>
                        <a:lnTo>
                          <a:pt x="8558" y="2371"/>
                        </a:lnTo>
                        <a:lnTo>
                          <a:pt x="8617" y="2374"/>
                        </a:lnTo>
                        <a:lnTo>
                          <a:pt x="8676" y="2379"/>
                        </a:lnTo>
                        <a:lnTo>
                          <a:pt x="8735" y="2384"/>
                        </a:lnTo>
                        <a:lnTo>
                          <a:pt x="8792" y="2392"/>
                        </a:lnTo>
                        <a:lnTo>
                          <a:pt x="8850" y="2400"/>
                        </a:lnTo>
                        <a:lnTo>
                          <a:pt x="8906" y="2411"/>
                        </a:lnTo>
                        <a:lnTo>
                          <a:pt x="8963" y="2421"/>
                        </a:lnTo>
                        <a:lnTo>
                          <a:pt x="9018" y="2434"/>
                        </a:lnTo>
                        <a:lnTo>
                          <a:pt x="9073" y="2449"/>
                        </a:lnTo>
                        <a:lnTo>
                          <a:pt x="9127" y="2463"/>
                        </a:lnTo>
                        <a:lnTo>
                          <a:pt x="9182" y="2480"/>
                        </a:lnTo>
                        <a:lnTo>
                          <a:pt x="9235" y="2497"/>
                        </a:lnTo>
                        <a:lnTo>
                          <a:pt x="9289" y="2517"/>
                        </a:lnTo>
                        <a:lnTo>
                          <a:pt x="9340" y="2537"/>
                        </a:lnTo>
                        <a:lnTo>
                          <a:pt x="9393" y="2559"/>
                        </a:lnTo>
                        <a:lnTo>
                          <a:pt x="9444" y="2582"/>
                        </a:lnTo>
                        <a:lnTo>
                          <a:pt x="9494" y="2607"/>
                        </a:lnTo>
                        <a:lnTo>
                          <a:pt x="9545" y="2632"/>
                        </a:lnTo>
                        <a:lnTo>
                          <a:pt x="9594" y="2659"/>
                        </a:lnTo>
                        <a:lnTo>
                          <a:pt x="9644" y="2688"/>
                        </a:lnTo>
                        <a:lnTo>
                          <a:pt x="9693" y="2717"/>
                        </a:lnTo>
                        <a:lnTo>
                          <a:pt x="9741" y="2749"/>
                        </a:lnTo>
                        <a:lnTo>
                          <a:pt x="9789" y="2782"/>
                        </a:lnTo>
                        <a:lnTo>
                          <a:pt x="9835" y="2815"/>
                        </a:lnTo>
                        <a:lnTo>
                          <a:pt x="9881" y="2850"/>
                        </a:lnTo>
                        <a:lnTo>
                          <a:pt x="9928" y="2887"/>
                        </a:lnTo>
                        <a:lnTo>
                          <a:pt x="9973" y="2924"/>
                        </a:lnTo>
                        <a:lnTo>
                          <a:pt x="10017" y="2964"/>
                        </a:lnTo>
                        <a:lnTo>
                          <a:pt x="10062" y="3004"/>
                        </a:lnTo>
                        <a:lnTo>
                          <a:pt x="10106" y="3046"/>
                        </a:lnTo>
                        <a:lnTo>
                          <a:pt x="10148" y="3088"/>
                        </a:lnTo>
                        <a:lnTo>
                          <a:pt x="10189" y="3132"/>
                        </a:lnTo>
                        <a:lnTo>
                          <a:pt x="10228" y="3176"/>
                        </a:lnTo>
                        <a:lnTo>
                          <a:pt x="10267" y="3220"/>
                        </a:lnTo>
                        <a:lnTo>
                          <a:pt x="10304" y="3264"/>
                        </a:lnTo>
                        <a:lnTo>
                          <a:pt x="10340" y="3310"/>
                        </a:lnTo>
                        <a:lnTo>
                          <a:pt x="10375" y="3356"/>
                        </a:lnTo>
                        <a:lnTo>
                          <a:pt x="10408" y="3402"/>
                        </a:lnTo>
                        <a:lnTo>
                          <a:pt x="10439" y="3450"/>
                        </a:lnTo>
                        <a:lnTo>
                          <a:pt x="10470" y="3497"/>
                        </a:lnTo>
                        <a:lnTo>
                          <a:pt x="10498" y="3545"/>
                        </a:lnTo>
                        <a:lnTo>
                          <a:pt x="10527" y="3593"/>
                        </a:lnTo>
                        <a:lnTo>
                          <a:pt x="10553" y="3643"/>
                        </a:lnTo>
                        <a:lnTo>
                          <a:pt x="10577" y="3692"/>
                        </a:lnTo>
                        <a:lnTo>
                          <a:pt x="10602" y="3743"/>
                        </a:lnTo>
                        <a:lnTo>
                          <a:pt x="10624" y="3793"/>
                        </a:lnTo>
                        <a:lnTo>
                          <a:pt x="10645" y="3845"/>
                        </a:lnTo>
                        <a:lnTo>
                          <a:pt x="10664" y="3897"/>
                        </a:lnTo>
                        <a:lnTo>
                          <a:pt x="10683" y="3948"/>
                        </a:lnTo>
                        <a:lnTo>
                          <a:pt x="10700" y="4002"/>
                        </a:lnTo>
                        <a:lnTo>
                          <a:pt x="10715" y="4055"/>
                        </a:lnTo>
                        <a:lnTo>
                          <a:pt x="10729" y="4110"/>
                        </a:lnTo>
                        <a:lnTo>
                          <a:pt x="10742" y="4163"/>
                        </a:lnTo>
                        <a:lnTo>
                          <a:pt x="10754" y="4219"/>
                        </a:lnTo>
                        <a:lnTo>
                          <a:pt x="10764" y="4274"/>
                        </a:lnTo>
                        <a:lnTo>
                          <a:pt x="10773" y="4331"/>
                        </a:lnTo>
                        <a:lnTo>
                          <a:pt x="10780" y="4388"/>
                        </a:lnTo>
                        <a:lnTo>
                          <a:pt x="10786" y="4445"/>
                        </a:lnTo>
                        <a:lnTo>
                          <a:pt x="10791" y="4503"/>
                        </a:lnTo>
                        <a:lnTo>
                          <a:pt x="10795" y="4561"/>
                        </a:lnTo>
                        <a:lnTo>
                          <a:pt x="10796" y="4620"/>
                        </a:lnTo>
                        <a:lnTo>
                          <a:pt x="10797" y="4679"/>
                        </a:lnTo>
                        <a:close/>
                      </a:path>
                    </a:pathLst>
                  </a:custGeom>
                  <a:grpFill/>
                  <a:ln w="9525">
                    <a:noFill/>
                    <a:round/>
                    <a:headEnd/>
                    <a:tailEnd/>
                  </a:ln>
                </p:spPr>
                <p:txBody>
                  <a:bodyPr/>
                  <a:lstStyle/>
                  <a:p>
                    <a:endParaRPr lang="en-GB"/>
                  </a:p>
                </p:txBody>
              </p:sp>
              <p:sp>
                <p:nvSpPr>
                  <p:cNvPr id="48" name="AutoShape 276"/>
                  <p:cNvSpPr>
                    <a:spLocks noChangeArrowheads="1"/>
                  </p:cNvSpPr>
                  <p:nvPr/>
                </p:nvSpPr>
                <p:spPr bwMode="auto">
                  <a:xfrm>
                    <a:off x="3431" y="4312"/>
                    <a:ext cx="527" cy="5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6 w 21600"/>
                      <a:gd name="T25" fmla="*/ 3156 h 21600"/>
                      <a:gd name="T26" fmla="*/ 18444 w 21600"/>
                      <a:gd name="T27" fmla="*/ 1844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582" y="10800"/>
                        </a:moveTo>
                        <a:cubicBezTo>
                          <a:pt x="2582" y="15339"/>
                          <a:pt x="6261" y="19018"/>
                          <a:pt x="10800" y="19018"/>
                        </a:cubicBezTo>
                        <a:cubicBezTo>
                          <a:pt x="15339" y="19018"/>
                          <a:pt x="19018" y="15339"/>
                          <a:pt x="19018" y="10800"/>
                        </a:cubicBezTo>
                        <a:cubicBezTo>
                          <a:pt x="19018" y="6261"/>
                          <a:pt x="15339" y="2582"/>
                          <a:pt x="10800" y="2582"/>
                        </a:cubicBezTo>
                        <a:cubicBezTo>
                          <a:pt x="6261" y="2582"/>
                          <a:pt x="2582" y="6261"/>
                          <a:pt x="2582" y="10800"/>
                        </a:cubicBezTo>
                        <a:close/>
                      </a:path>
                    </a:pathLst>
                  </a:custGeom>
                  <a:grpFill/>
                  <a:ln w="9525">
                    <a:noFill/>
                    <a:round/>
                    <a:headEnd/>
                    <a:tailEnd/>
                  </a:ln>
                </p:spPr>
                <p:txBody>
                  <a:bodyPr wrap="none" anchor="ctr"/>
                  <a:lstStyle/>
                  <a:p>
                    <a:endParaRPr lang="en-GB"/>
                  </a:p>
                </p:txBody>
              </p:sp>
            </p:grpSp>
            <p:sp>
              <p:nvSpPr>
                <p:cNvPr id="53" name="Oval 52"/>
                <p:cNvSpPr/>
                <p:nvPr/>
              </p:nvSpPr>
              <p:spPr>
                <a:xfrm>
                  <a:off x="8805519" y="1602802"/>
                  <a:ext cx="1371600" cy="1371600"/>
                </a:xfrm>
                <a:prstGeom prst="ellipse">
                  <a:avLst/>
                </a:prstGeom>
                <a:solidFill>
                  <a:srgbClr val="0E80C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41" name="Group 40"/>
                <p:cNvGrpSpPr/>
                <p:nvPr/>
              </p:nvGrpSpPr>
              <p:grpSpPr>
                <a:xfrm>
                  <a:off x="8966808" y="1988572"/>
                  <a:ext cx="1049023" cy="600061"/>
                  <a:chOff x="3601004" y="2819832"/>
                  <a:chExt cx="1878905" cy="1074769"/>
                </a:xfrm>
                <a:solidFill>
                  <a:schemeClr val="bg1"/>
                </a:solidFill>
              </p:grpSpPr>
              <p:sp>
                <p:nvSpPr>
                  <p:cNvPr id="42" name="Freeform: Shape 224"/>
                  <p:cNvSpPr/>
                  <p:nvPr/>
                </p:nvSpPr>
                <p:spPr bwMode="auto">
                  <a:xfrm>
                    <a:off x="3601004" y="2819832"/>
                    <a:ext cx="1305221" cy="746934"/>
                  </a:xfrm>
                  <a:custGeom>
                    <a:avLst/>
                    <a:gdLst>
                      <a:gd name="connsiteX0" fmla="*/ 762365 w 1607804"/>
                      <a:gd name="connsiteY0" fmla="*/ 0 h 920092"/>
                      <a:gd name="connsiteX1" fmla="*/ 1183636 w 1607804"/>
                      <a:gd name="connsiteY1" fmla="*/ 279237 h 920092"/>
                      <a:gd name="connsiteX2" fmla="*/ 1188374 w 1607804"/>
                      <a:gd name="connsiteY2" fmla="*/ 294499 h 920092"/>
                      <a:gd name="connsiteX3" fmla="*/ 1223265 w 1607804"/>
                      <a:gd name="connsiteY3" fmla="*/ 283668 h 920092"/>
                      <a:gd name="connsiteX4" fmla="*/ 1287764 w 1607804"/>
                      <a:gd name="connsiteY4" fmla="*/ 277166 h 920092"/>
                      <a:gd name="connsiteX5" fmla="*/ 1607804 w 1607804"/>
                      <a:gd name="connsiteY5" fmla="*/ 597206 h 920092"/>
                      <a:gd name="connsiteX6" fmla="*/ 1514067 w 1607804"/>
                      <a:gd name="connsiteY6" fmla="*/ 823509 h 920092"/>
                      <a:gd name="connsiteX7" fmla="*/ 1496718 w 1607804"/>
                      <a:gd name="connsiteY7" fmla="*/ 837823 h 920092"/>
                      <a:gd name="connsiteX8" fmla="*/ 1491549 w 1607804"/>
                      <a:gd name="connsiteY8" fmla="*/ 845489 h 920092"/>
                      <a:gd name="connsiteX9" fmla="*/ 1311440 w 1607804"/>
                      <a:gd name="connsiteY9" fmla="*/ 920092 h 920092"/>
                      <a:gd name="connsiteX10" fmla="*/ 254712 w 1607804"/>
                      <a:gd name="connsiteY10" fmla="*/ 920091 h 920092"/>
                      <a:gd name="connsiteX11" fmla="*/ 0 w 1607804"/>
                      <a:gd name="connsiteY11" fmla="*/ 665379 h 920092"/>
                      <a:gd name="connsiteX12" fmla="*/ 1 w 1607804"/>
                      <a:gd name="connsiteY12" fmla="*/ 665380 h 920092"/>
                      <a:gd name="connsiteX13" fmla="*/ 2411 w 1607804"/>
                      <a:gd name="connsiteY13" fmla="*/ 653442 h 920092"/>
                      <a:gd name="connsiteX14" fmla="*/ 1 w 1607804"/>
                      <a:gd name="connsiteY14" fmla="*/ 641503 h 920092"/>
                      <a:gd name="connsiteX15" fmla="*/ 274321 w 1607804"/>
                      <a:gd name="connsiteY15" fmla="*/ 367183 h 920092"/>
                      <a:gd name="connsiteX16" fmla="*/ 313838 w 1607804"/>
                      <a:gd name="connsiteY16" fmla="*/ 371167 h 920092"/>
                      <a:gd name="connsiteX17" fmla="*/ 314454 w 1607804"/>
                      <a:gd name="connsiteY17" fmla="*/ 365058 h 920092"/>
                      <a:gd name="connsiteX18" fmla="*/ 762365 w 1607804"/>
                      <a:gd name="connsiteY18" fmla="*/ 0 h 920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7804" h="920092">
                        <a:moveTo>
                          <a:pt x="762365" y="0"/>
                        </a:moveTo>
                        <a:cubicBezTo>
                          <a:pt x="951744" y="0"/>
                          <a:pt x="1114230" y="115141"/>
                          <a:pt x="1183636" y="279237"/>
                        </a:cubicBezTo>
                        <a:lnTo>
                          <a:pt x="1188374" y="294499"/>
                        </a:lnTo>
                        <a:lnTo>
                          <a:pt x="1223265" y="283668"/>
                        </a:lnTo>
                        <a:cubicBezTo>
                          <a:pt x="1244099" y="279405"/>
                          <a:pt x="1265670" y="277166"/>
                          <a:pt x="1287764" y="277166"/>
                        </a:cubicBezTo>
                        <a:cubicBezTo>
                          <a:pt x="1464517" y="277166"/>
                          <a:pt x="1607804" y="420453"/>
                          <a:pt x="1607804" y="597206"/>
                        </a:cubicBezTo>
                        <a:cubicBezTo>
                          <a:pt x="1607804" y="685583"/>
                          <a:pt x="1571983" y="765593"/>
                          <a:pt x="1514067" y="823509"/>
                        </a:cubicBezTo>
                        <a:lnTo>
                          <a:pt x="1496718" y="837823"/>
                        </a:lnTo>
                        <a:lnTo>
                          <a:pt x="1491549" y="845489"/>
                        </a:lnTo>
                        <a:cubicBezTo>
                          <a:pt x="1445455" y="891583"/>
                          <a:pt x="1381777" y="920092"/>
                          <a:pt x="1311440" y="920092"/>
                        </a:cubicBezTo>
                        <a:cubicBezTo>
                          <a:pt x="959197" y="920092"/>
                          <a:pt x="606955" y="920091"/>
                          <a:pt x="254712" y="920091"/>
                        </a:cubicBezTo>
                        <a:cubicBezTo>
                          <a:pt x="114038" y="920091"/>
                          <a:pt x="0" y="806053"/>
                          <a:pt x="0" y="665379"/>
                        </a:cubicBezTo>
                        <a:lnTo>
                          <a:pt x="1" y="665380"/>
                        </a:lnTo>
                        <a:lnTo>
                          <a:pt x="2411" y="653442"/>
                        </a:lnTo>
                        <a:lnTo>
                          <a:pt x="1" y="641503"/>
                        </a:lnTo>
                        <a:cubicBezTo>
                          <a:pt x="1" y="490000"/>
                          <a:pt x="122818" y="367183"/>
                          <a:pt x="274321" y="367183"/>
                        </a:cubicBezTo>
                        <a:lnTo>
                          <a:pt x="313838" y="371167"/>
                        </a:lnTo>
                        <a:lnTo>
                          <a:pt x="314454" y="365058"/>
                        </a:lnTo>
                        <a:cubicBezTo>
                          <a:pt x="357086" y="156720"/>
                          <a:pt x="541423" y="0"/>
                          <a:pt x="762365" y="0"/>
                        </a:cubicBezTo>
                        <a:close/>
                      </a:path>
                    </a:pathLst>
                  </a:custGeom>
                  <a:grpFill/>
                  <a:ln w="12700" cap="flat" cmpd="sng" algn="ctr">
                    <a:solidFill>
                      <a:srgbClr val="0E80C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sp>
                <p:nvSpPr>
                  <p:cNvPr id="43" name="Freeform: Shape 225"/>
                  <p:cNvSpPr/>
                  <p:nvPr/>
                </p:nvSpPr>
                <p:spPr bwMode="auto">
                  <a:xfrm>
                    <a:off x="3872105" y="2974509"/>
                    <a:ext cx="1607804" cy="920092"/>
                  </a:xfrm>
                  <a:custGeom>
                    <a:avLst/>
                    <a:gdLst>
                      <a:gd name="connsiteX0" fmla="*/ 762365 w 1607804"/>
                      <a:gd name="connsiteY0" fmla="*/ 0 h 920092"/>
                      <a:gd name="connsiteX1" fmla="*/ 1183636 w 1607804"/>
                      <a:gd name="connsiteY1" fmla="*/ 279237 h 920092"/>
                      <a:gd name="connsiteX2" fmla="*/ 1188374 w 1607804"/>
                      <a:gd name="connsiteY2" fmla="*/ 294499 h 920092"/>
                      <a:gd name="connsiteX3" fmla="*/ 1223265 w 1607804"/>
                      <a:gd name="connsiteY3" fmla="*/ 283668 h 920092"/>
                      <a:gd name="connsiteX4" fmla="*/ 1287764 w 1607804"/>
                      <a:gd name="connsiteY4" fmla="*/ 277166 h 920092"/>
                      <a:gd name="connsiteX5" fmla="*/ 1607804 w 1607804"/>
                      <a:gd name="connsiteY5" fmla="*/ 597206 h 920092"/>
                      <a:gd name="connsiteX6" fmla="*/ 1514067 w 1607804"/>
                      <a:gd name="connsiteY6" fmla="*/ 823509 h 920092"/>
                      <a:gd name="connsiteX7" fmla="*/ 1496718 w 1607804"/>
                      <a:gd name="connsiteY7" fmla="*/ 837823 h 920092"/>
                      <a:gd name="connsiteX8" fmla="*/ 1491549 w 1607804"/>
                      <a:gd name="connsiteY8" fmla="*/ 845489 h 920092"/>
                      <a:gd name="connsiteX9" fmla="*/ 1311440 w 1607804"/>
                      <a:gd name="connsiteY9" fmla="*/ 920092 h 920092"/>
                      <a:gd name="connsiteX10" fmla="*/ 254712 w 1607804"/>
                      <a:gd name="connsiteY10" fmla="*/ 920091 h 920092"/>
                      <a:gd name="connsiteX11" fmla="*/ 0 w 1607804"/>
                      <a:gd name="connsiteY11" fmla="*/ 665379 h 920092"/>
                      <a:gd name="connsiteX12" fmla="*/ 1 w 1607804"/>
                      <a:gd name="connsiteY12" fmla="*/ 665380 h 920092"/>
                      <a:gd name="connsiteX13" fmla="*/ 2411 w 1607804"/>
                      <a:gd name="connsiteY13" fmla="*/ 653442 h 920092"/>
                      <a:gd name="connsiteX14" fmla="*/ 1 w 1607804"/>
                      <a:gd name="connsiteY14" fmla="*/ 641503 h 920092"/>
                      <a:gd name="connsiteX15" fmla="*/ 274321 w 1607804"/>
                      <a:gd name="connsiteY15" fmla="*/ 367183 h 920092"/>
                      <a:gd name="connsiteX16" fmla="*/ 313838 w 1607804"/>
                      <a:gd name="connsiteY16" fmla="*/ 371167 h 920092"/>
                      <a:gd name="connsiteX17" fmla="*/ 314454 w 1607804"/>
                      <a:gd name="connsiteY17" fmla="*/ 365058 h 920092"/>
                      <a:gd name="connsiteX18" fmla="*/ 762365 w 1607804"/>
                      <a:gd name="connsiteY18" fmla="*/ 0 h 920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7804" h="920092">
                        <a:moveTo>
                          <a:pt x="762365" y="0"/>
                        </a:moveTo>
                        <a:cubicBezTo>
                          <a:pt x="951744" y="0"/>
                          <a:pt x="1114230" y="115141"/>
                          <a:pt x="1183636" y="279237"/>
                        </a:cubicBezTo>
                        <a:lnTo>
                          <a:pt x="1188374" y="294499"/>
                        </a:lnTo>
                        <a:lnTo>
                          <a:pt x="1223265" y="283668"/>
                        </a:lnTo>
                        <a:cubicBezTo>
                          <a:pt x="1244099" y="279405"/>
                          <a:pt x="1265670" y="277166"/>
                          <a:pt x="1287764" y="277166"/>
                        </a:cubicBezTo>
                        <a:cubicBezTo>
                          <a:pt x="1464517" y="277166"/>
                          <a:pt x="1607804" y="420453"/>
                          <a:pt x="1607804" y="597206"/>
                        </a:cubicBezTo>
                        <a:cubicBezTo>
                          <a:pt x="1607804" y="685583"/>
                          <a:pt x="1571983" y="765593"/>
                          <a:pt x="1514067" y="823509"/>
                        </a:cubicBezTo>
                        <a:lnTo>
                          <a:pt x="1496718" y="837823"/>
                        </a:lnTo>
                        <a:lnTo>
                          <a:pt x="1491549" y="845489"/>
                        </a:lnTo>
                        <a:cubicBezTo>
                          <a:pt x="1445455" y="891583"/>
                          <a:pt x="1381777" y="920092"/>
                          <a:pt x="1311440" y="920092"/>
                        </a:cubicBezTo>
                        <a:cubicBezTo>
                          <a:pt x="959197" y="920092"/>
                          <a:pt x="606955" y="920091"/>
                          <a:pt x="254712" y="920091"/>
                        </a:cubicBezTo>
                        <a:cubicBezTo>
                          <a:pt x="114038" y="920091"/>
                          <a:pt x="0" y="806053"/>
                          <a:pt x="0" y="665379"/>
                        </a:cubicBezTo>
                        <a:lnTo>
                          <a:pt x="1" y="665380"/>
                        </a:lnTo>
                        <a:lnTo>
                          <a:pt x="2411" y="653442"/>
                        </a:lnTo>
                        <a:lnTo>
                          <a:pt x="1" y="641503"/>
                        </a:lnTo>
                        <a:cubicBezTo>
                          <a:pt x="1" y="490000"/>
                          <a:pt x="122818" y="367183"/>
                          <a:pt x="274321" y="367183"/>
                        </a:cubicBezTo>
                        <a:lnTo>
                          <a:pt x="313838" y="371167"/>
                        </a:lnTo>
                        <a:lnTo>
                          <a:pt x="314454" y="365058"/>
                        </a:lnTo>
                        <a:cubicBezTo>
                          <a:pt x="357086" y="156720"/>
                          <a:pt x="541423" y="0"/>
                          <a:pt x="762365" y="0"/>
                        </a:cubicBezTo>
                        <a:close/>
                      </a:path>
                    </a:pathLst>
                  </a:custGeom>
                  <a:grpFill/>
                  <a:ln w="38100" cap="flat" cmpd="sng" algn="ctr">
                    <a:solidFill>
                      <a:srgbClr val="0E80C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grpSp>
            <p:grpSp>
              <p:nvGrpSpPr>
                <p:cNvPr id="6" name="Group 5"/>
                <p:cNvGrpSpPr/>
                <p:nvPr/>
              </p:nvGrpSpPr>
              <p:grpSpPr>
                <a:xfrm>
                  <a:off x="10712067" y="3441775"/>
                  <a:ext cx="1371600" cy="1371600"/>
                  <a:chOff x="5848263" y="1472261"/>
                  <a:chExt cx="1371600" cy="1371600"/>
                </a:xfrm>
              </p:grpSpPr>
              <p:sp>
                <p:nvSpPr>
                  <p:cNvPr id="49" name="Oval 48"/>
                  <p:cNvSpPr/>
                  <p:nvPr/>
                </p:nvSpPr>
                <p:spPr>
                  <a:xfrm>
                    <a:off x="5848263" y="1472261"/>
                    <a:ext cx="1371600" cy="1371600"/>
                  </a:xfrm>
                  <a:prstGeom prst="ellipse">
                    <a:avLst/>
                  </a:prstGeom>
                  <a:solidFill>
                    <a:srgbClr val="0E80C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71499" y="1695497"/>
                    <a:ext cx="925128" cy="925128"/>
                  </a:xfrm>
                  <a:prstGeom prst="rect">
                    <a:avLst/>
                  </a:prstGeom>
                </p:spPr>
              </p:pic>
            </p:grpSp>
            <p:grpSp>
              <p:nvGrpSpPr>
                <p:cNvPr id="10" name="Group 9"/>
                <p:cNvGrpSpPr/>
                <p:nvPr/>
              </p:nvGrpSpPr>
              <p:grpSpPr>
                <a:xfrm>
                  <a:off x="6898972" y="3441775"/>
                  <a:ext cx="1371600" cy="1371600"/>
                  <a:chOff x="5676341" y="4122117"/>
                  <a:chExt cx="1371600" cy="1371600"/>
                </a:xfrm>
              </p:grpSpPr>
              <p:sp>
                <p:nvSpPr>
                  <p:cNvPr id="52" name="Oval 51"/>
                  <p:cNvSpPr/>
                  <p:nvPr/>
                </p:nvSpPr>
                <p:spPr>
                  <a:xfrm>
                    <a:off x="5676341" y="4122117"/>
                    <a:ext cx="1371600" cy="1371600"/>
                  </a:xfrm>
                  <a:prstGeom prst="ellipse">
                    <a:avLst/>
                  </a:prstGeom>
                  <a:solidFill>
                    <a:srgbClr val="0E80C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17" name="Group 16"/>
                  <p:cNvGrpSpPr/>
                  <p:nvPr/>
                </p:nvGrpSpPr>
                <p:grpSpPr>
                  <a:xfrm>
                    <a:off x="6066926" y="4288551"/>
                    <a:ext cx="590430" cy="1038733"/>
                    <a:chOff x="4777527" y="1749944"/>
                    <a:chExt cx="1262538" cy="2221162"/>
                  </a:xfrm>
                </p:grpSpPr>
                <p:sp>
                  <p:nvSpPr>
                    <p:cNvPr id="35" name="Rectangle: Rounded Corners 172"/>
                    <p:cNvSpPr/>
                    <p:nvPr/>
                  </p:nvSpPr>
                  <p:spPr bwMode="auto">
                    <a:xfrm rot="5400000">
                      <a:off x="4298215" y="2229256"/>
                      <a:ext cx="2221162" cy="1262538"/>
                    </a:xfrm>
                    <a:prstGeom prst="roundRect">
                      <a:avLst>
                        <a:gd name="adj" fmla="val 11186"/>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sp>
                  <p:nvSpPr>
                    <p:cNvPr id="36" name="Rectangle: Rounded Corners 173"/>
                    <p:cNvSpPr/>
                    <p:nvPr/>
                  </p:nvSpPr>
                  <p:spPr bwMode="auto">
                    <a:xfrm rot="16200000">
                      <a:off x="4585448" y="2296238"/>
                      <a:ext cx="1646698" cy="1062015"/>
                    </a:xfrm>
                    <a:prstGeom prst="roundRect">
                      <a:avLst>
                        <a:gd name="adj" fmla="val 3136"/>
                      </a:avLst>
                    </a:prstGeom>
                    <a:solidFill>
                      <a:srgbClr val="0E80C9"/>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sp>
                  <p:nvSpPr>
                    <p:cNvPr id="37" name="Rectangle: Rounded Corners 174"/>
                    <p:cNvSpPr/>
                    <p:nvPr/>
                  </p:nvSpPr>
                  <p:spPr bwMode="auto">
                    <a:xfrm rot="16200000">
                      <a:off x="5396795" y="1709510"/>
                      <a:ext cx="57270" cy="274320"/>
                    </a:xfrm>
                    <a:prstGeom prst="roundRect">
                      <a:avLst>
                        <a:gd name="adj" fmla="val 50000"/>
                      </a:avLst>
                    </a:prstGeom>
                    <a:solidFill>
                      <a:srgbClr val="0E80C9"/>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sp>
                  <p:nvSpPr>
                    <p:cNvPr id="39" name="Oval 38"/>
                    <p:cNvSpPr/>
                    <p:nvPr/>
                  </p:nvSpPr>
                  <p:spPr bwMode="auto">
                    <a:xfrm>
                      <a:off x="5197274" y="1814667"/>
                      <a:ext cx="64008" cy="64008"/>
                    </a:xfrm>
                    <a:prstGeom prst="ellipse">
                      <a:avLst/>
                    </a:prstGeom>
                    <a:solidFill>
                      <a:srgbClr val="0E80C9"/>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sp>
                  <p:nvSpPr>
                    <p:cNvPr id="40" name="Oval 39"/>
                    <p:cNvSpPr/>
                    <p:nvPr/>
                  </p:nvSpPr>
                  <p:spPr bwMode="auto">
                    <a:xfrm>
                      <a:off x="5324223" y="3713911"/>
                      <a:ext cx="182880" cy="182880"/>
                    </a:xfrm>
                    <a:prstGeom prst="ellipse">
                      <a:avLst/>
                    </a:prstGeom>
                    <a:solidFill>
                      <a:srgbClr val="0E80C9"/>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333333"/>
                        </a:solidFill>
                        <a:effectLst/>
                        <a:uLnTx/>
                        <a:uFillTx/>
                        <a:latin typeface="Arial" charset="0"/>
                        <a:cs typeface="Arial" charset="0"/>
                      </a:endParaRPr>
                    </a:p>
                  </p:txBody>
                </p:sp>
              </p:grpSp>
            </p:grpSp>
          </p:grpSp>
          <p:sp>
            <p:nvSpPr>
              <p:cNvPr id="57" name="Rectangle 56"/>
              <p:cNvSpPr/>
              <p:nvPr/>
            </p:nvSpPr>
            <p:spPr>
              <a:xfrm>
                <a:off x="4927068" y="3311165"/>
                <a:ext cx="1648037" cy="775472"/>
              </a:xfrm>
              <a:prstGeom prst="rect">
                <a:avLst/>
              </a:prstGeom>
            </p:spPr>
            <p:txBody>
              <a:bodyPr wrap="square" anchor="ctr">
                <a:noAutofit/>
              </a:bodyPr>
              <a:lstStyle/>
              <a:p>
                <a:pPr algn="ctr"/>
                <a:r>
                  <a:rPr lang="en-US" sz="1200" dirty="0" smtClean="0"/>
                  <a:t>Real-Time Applications</a:t>
                </a:r>
                <a:endParaRPr lang="en-US" sz="1200" dirty="0"/>
              </a:p>
            </p:txBody>
          </p:sp>
          <p:sp>
            <p:nvSpPr>
              <p:cNvPr id="58" name="Rectangle 57"/>
              <p:cNvSpPr/>
              <p:nvPr/>
            </p:nvSpPr>
            <p:spPr>
              <a:xfrm>
                <a:off x="10729144" y="3324240"/>
                <a:ext cx="1253799" cy="775472"/>
              </a:xfrm>
              <a:prstGeom prst="rect">
                <a:avLst/>
              </a:prstGeom>
            </p:spPr>
            <p:txBody>
              <a:bodyPr wrap="square" anchor="ctr">
                <a:noAutofit/>
              </a:bodyPr>
              <a:lstStyle/>
              <a:p>
                <a:pPr algn="ctr"/>
                <a:r>
                  <a:rPr lang="en-US" sz="1200" dirty="0" smtClean="0"/>
                  <a:t>Machine Sensors</a:t>
                </a:r>
                <a:endParaRPr lang="en-US" sz="1200" dirty="0"/>
              </a:p>
            </p:txBody>
          </p:sp>
        </p:grpSp>
      </p:grpSp>
      <p:cxnSp>
        <p:nvCxnSpPr>
          <p:cNvPr id="26" name="Straight Connector 25"/>
          <p:cNvCxnSpPr/>
          <p:nvPr/>
        </p:nvCxnSpPr>
        <p:spPr>
          <a:xfrm>
            <a:off x="7739704" y="3675712"/>
            <a:ext cx="0" cy="2363488"/>
          </a:xfrm>
          <a:prstGeom prst="line">
            <a:avLst/>
          </a:prstGeom>
          <a:ln w="28575">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9" name="テキスト プレースホルダー 11"/>
          <p:cNvSpPr txBox="1">
            <a:spLocks/>
          </p:cNvSpPr>
          <p:nvPr/>
        </p:nvSpPr>
        <p:spPr>
          <a:xfrm>
            <a:off x="252357" y="1541063"/>
            <a:ext cx="3437901" cy="1572505"/>
          </a:xfrm>
          <a:prstGeom prst="rect">
            <a:avLst/>
          </a:prstGeom>
          <a:solidFill>
            <a:srgbClr val="445469"/>
          </a:solidFill>
        </p:spPr>
        <p:txBody>
          <a:bodyPr lIns="182880" tIns="182880" rIns="182880" bIns="91440" anchor="t"/>
          <a:lstStyle>
            <a:lvl1pPr marL="231775" indent="-231775" algn="l" defTabSz="914400" rtl="0" eaLnBrk="1" latinLnBrk="0" hangingPunct="1">
              <a:lnSpc>
                <a:spcPct val="120000"/>
              </a:lnSpc>
              <a:spcBef>
                <a:spcPts val="1200"/>
              </a:spcBef>
              <a:buFontTx/>
              <a:buBlip>
                <a:blip r:embed="rId5"/>
              </a:buBlip>
              <a:defRPr lang="en-US" sz="2400" b="1" kern="1200">
                <a:solidFill>
                  <a:schemeClr val="bg1"/>
                </a:solidFill>
                <a:latin typeface="+mn-lt"/>
                <a:ea typeface="+mn-ea"/>
                <a:cs typeface="+mn-cs"/>
              </a:defRPr>
            </a:lvl1pPr>
            <a:lvl2pPr marL="627063" indent="-169863" algn="l" defTabSz="914400" rtl="0" eaLnBrk="1" latinLnBrk="0" hangingPunct="1">
              <a:lnSpc>
                <a:spcPct val="90000"/>
              </a:lnSpc>
              <a:spcBef>
                <a:spcPts val="400"/>
              </a:spcBef>
              <a:spcAft>
                <a:spcPts val="200"/>
              </a:spcAft>
              <a:buClr>
                <a:schemeClr val="accent2">
                  <a:lumMod val="75000"/>
                </a:schemeClr>
              </a:buClr>
              <a:buFont typeface="Wingdings" panose="05000000000000000000" pitchFamily="2" charset="2"/>
              <a:buChar char="§"/>
              <a:tabLst/>
              <a:defRPr lang="en-US" sz="2000" kern="1200" dirty="0" smtClean="0">
                <a:solidFill>
                  <a:schemeClr val="accent2">
                    <a:lumMod val="75000"/>
                  </a:schemeClr>
                </a:solidFill>
                <a:latin typeface="+mn-lt"/>
                <a:ea typeface="+mn-ea"/>
                <a:cs typeface="+mn-cs"/>
              </a:defRPr>
            </a:lvl2pPr>
            <a:lvl3pPr marL="1031875" indent="-117475" algn="l" defTabSz="914400" rtl="0" eaLnBrk="1" latinLnBrk="0" hangingPunct="1">
              <a:lnSpc>
                <a:spcPct val="90000"/>
              </a:lnSpc>
              <a:spcBef>
                <a:spcPts val="400"/>
              </a:spcBef>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smtClean="0">
                <a:ln>
                  <a:noFill/>
                </a:ln>
                <a:solidFill>
                  <a:srgbClr val="FFFFFF"/>
                </a:solidFill>
                <a:effectLst/>
                <a:uLnTx/>
                <a:uFillTx/>
                <a:latin typeface="Arial" panose="020B0604020202020204"/>
                <a:ea typeface="+mn-ea"/>
                <a:cs typeface="+mn-cs"/>
              </a:rPr>
              <a:t>Leveraging advanced technologies</a:t>
            </a:r>
          </a:p>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500" b="1" i="0" u="none" strike="noStrike" kern="1200" cap="none" spc="0" normalizeH="0" baseline="0" noProof="0" dirty="0" smtClean="0">
                <a:ln>
                  <a:noFill/>
                </a:ln>
                <a:solidFill>
                  <a:srgbClr val="FFFFFF"/>
                </a:solidFill>
                <a:effectLst/>
                <a:uLnTx/>
                <a:uFillTx/>
                <a:latin typeface="Arial" panose="020B0604020202020204"/>
                <a:ea typeface="+mn-ea"/>
                <a:cs typeface="+mn-cs"/>
              </a:rPr>
              <a:t> </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Edge computing</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Internet of Things (</a:t>
            </a:r>
            <a:r>
              <a:rPr kumimoji="0" lang="en-US" sz="1200" b="0" i="0" u="none" strike="noStrike" kern="1200" cap="none" spc="0" normalizeH="0" baseline="0" noProof="0" dirty="0" err="1" smtClean="0">
                <a:ln>
                  <a:noFill/>
                </a:ln>
                <a:solidFill>
                  <a:srgbClr val="FFFFFF"/>
                </a:solidFill>
                <a:effectLst/>
                <a:uLnTx/>
                <a:uFillTx/>
                <a:latin typeface="Arial" panose="020B0604020202020204"/>
                <a:ea typeface="+mn-ea"/>
                <a:cs typeface="+mn-cs"/>
              </a:rPr>
              <a:t>IoT</a:t>
            </a: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a:t>
            </a:r>
            <a:endPar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endParaRPr>
          </a:p>
        </p:txBody>
      </p:sp>
      <p:sp>
        <p:nvSpPr>
          <p:cNvPr id="70" name="テキスト プレースホルダー 11"/>
          <p:cNvSpPr txBox="1">
            <a:spLocks/>
          </p:cNvSpPr>
          <p:nvPr/>
        </p:nvSpPr>
        <p:spPr>
          <a:xfrm>
            <a:off x="4126767" y="1563918"/>
            <a:ext cx="3098674" cy="1574109"/>
          </a:xfrm>
          <a:prstGeom prst="rect">
            <a:avLst/>
          </a:prstGeom>
          <a:solidFill>
            <a:srgbClr val="445469"/>
          </a:solidFill>
        </p:spPr>
        <p:txBody>
          <a:bodyPr lIns="182880" tIns="182880" rIns="182880" bIns="91440" anchor="t"/>
          <a:lstStyle>
            <a:lvl1pPr marL="231775" indent="-231775" algn="l" defTabSz="914400" rtl="0" eaLnBrk="1" latinLnBrk="0" hangingPunct="1">
              <a:lnSpc>
                <a:spcPct val="120000"/>
              </a:lnSpc>
              <a:spcBef>
                <a:spcPts val="1200"/>
              </a:spcBef>
              <a:buFontTx/>
              <a:buBlip>
                <a:blip r:embed="rId5"/>
              </a:buBlip>
              <a:defRPr lang="en-US" sz="2400" b="1" kern="1200">
                <a:solidFill>
                  <a:schemeClr val="bg1"/>
                </a:solidFill>
                <a:latin typeface="+mn-lt"/>
                <a:ea typeface="+mn-ea"/>
                <a:cs typeface="+mn-cs"/>
              </a:defRPr>
            </a:lvl1pPr>
            <a:lvl2pPr marL="627063" indent="-169863" algn="l" defTabSz="914400" rtl="0" eaLnBrk="1" latinLnBrk="0" hangingPunct="1">
              <a:lnSpc>
                <a:spcPct val="90000"/>
              </a:lnSpc>
              <a:spcBef>
                <a:spcPts val="400"/>
              </a:spcBef>
              <a:spcAft>
                <a:spcPts val="200"/>
              </a:spcAft>
              <a:buClr>
                <a:schemeClr val="accent2">
                  <a:lumMod val="75000"/>
                </a:schemeClr>
              </a:buClr>
              <a:buFont typeface="Wingdings" panose="05000000000000000000" pitchFamily="2" charset="2"/>
              <a:buChar char="§"/>
              <a:tabLst/>
              <a:defRPr lang="en-US" sz="2000" kern="1200" dirty="0" smtClean="0">
                <a:solidFill>
                  <a:schemeClr val="accent2">
                    <a:lumMod val="75000"/>
                  </a:schemeClr>
                </a:solidFill>
                <a:latin typeface="+mn-lt"/>
                <a:ea typeface="+mn-ea"/>
                <a:cs typeface="+mn-cs"/>
              </a:defRPr>
            </a:lvl2pPr>
            <a:lvl3pPr marL="1031875" indent="-117475" algn="l" defTabSz="914400" rtl="0" eaLnBrk="1" latinLnBrk="0" hangingPunct="1">
              <a:lnSpc>
                <a:spcPct val="90000"/>
              </a:lnSpc>
              <a:spcBef>
                <a:spcPts val="400"/>
              </a:spcBef>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smtClean="0">
                <a:ln>
                  <a:noFill/>
                </a:ln>
                <a:solidFill>
                  <a:srgbClr val="FFFFFF"/>
                </a:solidFill>
                <a:effectLst/>
                <a:uLnTx/>
                <a:uFillTx/>
                <a:latin typeface="Arial" panose="020B0604020202020204"/>
                <a:ea typeface="+mn-ea"/>
                <a:cs typeface="+mn-cs"/>
              </a:rPr>
              <a:t>Reducing HSE footprint</a:t>
            </a:r>
          </a:p>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500" b="1" i="0" u="none" strike="noStrike" kern="1200" cap="none" spc="0" normalizeH="0" baseline="0" noProof="0" dirty="0" smtClean="0">
                <a:ln>
                  <a:noFill/>
                </a:ln>
                <a:solidFill>
                  <a:srgbClr val="FFFFFF"/>
                </a:solidFill>
                <a:effectLst/>
                <a:uLnTx/>
                <a:uFillTx/>
                <a:latin typeface="Arial" panose="020B0604020202020204"/>
                <a:ea typeface="+mn-ea"/>
                <a:cs typeface="+mn-cs"/>
              </a:rPr>
              <a:t> </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Less field visits</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Reduced vehicular traffic</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Reduced operator exposure to live well operations</a:t>
            </a:r>
          </a:p>
        </p:txBody>
      </p:sp>
      <p:sp>
        <p:nvSpPr>
          <p:cNvPr id="71" name="テキスト プレースホルダー 11"/>
          <p:cNvSpPr txBox="1">
            <a:spLocks/>
          </p:cNvSpPr>
          <p:nvPr/>
        </p:nvSpPr>
        <p:spPr>
          <a:xfrm>
            <a:off x="7650593" y="1565589"/>
            <a:ext cx="3269841" cy="1574109"/>
          </a:xfrm>
          <a:prstGeom prst="rect">
            <a:avLst/>
          </a:prstGeom>
          <a:solidFill>
            <a:srgbClr val="445469"/>
          </a:solidFill>
        </p:spPr>
        <p:txBody>
          <a:bodyPr lIns="182880" tIns="182880" rIns="182880" bIns="91440" anchor="t"/>
          <a:lstStyle>
            <a:lvl1pPr marL="231775" indent="-231775" algn="l" defTabSz="914400" rtl="0" eaLnBrk="1" latinLnBrk="0" hangingPunct="1">
              <a:lnSpc>
                <a:spcPct val="120000"/>
              </a:lnSpc>
              <a:spcBef>
                <a:spcPts val="1200"/>
              </a:spcBef>
              <a:buFontTx/>
              <a:buBlip>
                <a:blip r:embed="rId5"/>
              </a:buBlip>
              <a:defRPr lang="en-US" sz="2400" b="1" kern="1200">
                <a:solidFill>
                  <a:schemeClr val="bg1"/>
                </a:solidFill>
                <a:latin typeface="+mn-lt"/>
                <a:ea typeface="+mn-ea"/>
                <a:cs typeface="+mn-cs"/>
              </a:defRPr>
            </a:lvl1pPr>
            <a:lvl2pPr marL="627063" indent="-169863" algn="l" defTabSz="914400" rtl="0" eaLnBrk="1" latinLnBrk="0" hangingPunct="1">
              <a:lnSpc>
                <a:spcPct val="90000"/>
              </a:lnSpc>
              <a:spcBef>
                <a:spcPts val="400"/>
              </a:spcBef>
              <a:spcAft>
                <a:spcPts val="200"/>
              </a:spcAft>
              <a:buClr>
                <a:schemeClr val="accent2">
                  <a:lumMod val="75000"/>
                </a:schemeClr>
              </a:buClr>
              <a:buFont typeface="Wingdings" panose="05000000000000000000" pitchFamily="2" charset="2"/>
              <a:buChar char="§"/>
              <a:tabLst/>
              <a:defRPr lang="en-US" sz="2000" kern="1200" dirty="0" smtClean="0">
                <a:solidFill>
                  <a:schemeClr val="accent2">
                    <a:lumMod val="75000"/>
                  </a:schemeClr>
                </a:solidFill>
                <a:latin typeface="+mn-lt"/>
                <a:ea typeface="+mn-ea"/>
                <a:cs typeface="+mn-cs"/>
              </a:defRPr>
            </a:lvl2pPr>
            <a:lvl3pPr marL="1031875" indent="-117475" algn="l" defTabSz="914400" rtl="0" eaLnBrk="1" latinLnBrk="0" hangingPunct="1">
              <a:lnSpc>
                <a:spcPct val="90000"/>
              </a:lnSpc>
              <a:spcBef>
                <a:spcPts val="400"/>
              </a:spcBef>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smtClean="0">
                <a:ln>
                  <a:noFill/>
                </a:ln>
                <a:solidFill>
                  <a:srgbClr val="FFFFFF"/>
                </a:solidFill>
                <a:effectLst/>
                <a:uLnTx/>
                <a:uFillTx/>
                <a:latin typeface="Arial" panose="020B0604020202020204"/>
                <a:ea typeface="+mn-ea"/>
                <a:cs typeface="+mn-cs"/>
              </a:rPr>
              <a:t>Increasing production rate</a:t>
            </a:r>
          </a:p>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500" b="1" i="0" u="none" strike="noStrike" kern="1200" cap="none" spc="0" normalizeH="0" baseline="0" noProof="0" dirty="0" smtClean="0">
                <a:ln>
                  <a:noFill/>
                </a:ln>
                <a:solidFill>
                  <a:srgbClr val="FFFFFF"/>
                </a:solidFill>
                <a:effectLst/>
                <a:uLnTx/>
                <a:uFillTx/>
                <a:latin typeface="Arial" panose="020B0604020202020204"/>
                <a:ea typeface="+mn-ea"/>
                <a:cs typeface="+mn-cs"/>
              </a:rPr>
              <a:t> </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Sustained production uplift via optimal well control schedule</a:t>
            </a: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smtClean="0">
                <a:ln>
                  <a:noFill/>
                </a:ln>
                <a:solidFill>
                  <a:srgbClr val="FFFFFF"/>
                </a:solidFill>
                <a:effectLst/>
                <a:uLnTx/>
                <a:uFillTx/>
                <a:latin typeface="Arial" panose="020B0604020202020204"/>
                <a:ea typeface="+mn-ea"/>
                <a:cs typeface="+mn-cs"/>
              </a:rPr>
              <a:t>Elevated optimal frequency of intervention not attainable by operators</a:t>
            </a:r>
          </a:p>
        </p:txBody>
      </p:sp>
      <p:sp>
        <p:nvSpPr>
          <p:cNvPr id="5" name="Title 4"/>
          <p:cNvSpPr>
            <a:spLocks noGrp="1"/>
          </p:cNvSpPr>
          <p:nvPr>
            <p:ph type="title"/>
          </p:nvPr>
        </p:nvSpPr>
        <p:spPr/>
        <p:txBody>
          <a:bodyPr/>
          <a:lstStyle/>
          <a:p>
            <a:r>
              <a:rPr lang="en-US" dirty="0" smtClean="0"/>
              <a:t>Intelligent Control</a:t>
            </a:r>
            <a:endParaRPr lang="en-US" dirty="0"/>
          </a:p>
        </p:txBody>
      </p:sp>
    </p:spTree>
    <p:extLst>
      <p:ext uri="{BB962C8B-B14F-4D97-AF65-F5344CB8AC3E}">
        <p14:creationId xmlns:p14="http://schemas.microsoft.com/office/powerpoint/2010/main" val="18485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 up</a:t>
            </a:r>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16</a:t>
            </a:fld>
            <a:endParaRPr lang="en-US"/>
          </a:p>
        </p:txBody>
      </p:sp>
    </p:spTree>
    <p:extLst>
      <p:ext uri="{BB962C8B-B14F-4D97-AF65-F5344CB8AC3E}">
        <p14:creationId xmlns:p14="http://schemas.microsoft.com/office/powerpoint/2010/main" val="285344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9B6236-3E64-412C-B927-DAF16AA62D6E}" type="datetime1">
              <a:rPr lang="en-US" smtClean="0"/>
              <a:t>8/28/2018</a:t>
            </a:fld>
            <a:endParaRPr lang="en-US" dirty="0"/>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17</a:t>
            </a:fld>
            <a:endParaRPr lang="en-US"/>
          </a:p>
        </p:txBody>
      </p:sp>
      <p:grpSp>
        <p:nvGrpSpPr>
          <p:cNvPr id="3" name="Group 2"/>
          <p:cNvGrpSpPr/>
          <p:nvPr/>
        </p:nvGrpSpPr>
        <p:grpSpPr>
          <a:xfrm>
            <a:off x="5994916" y="2268752"/>
            <a:ext cx="5693876" cy="3329791"/>
            <a:chOff x="191970" y="1748059"/>
            <a:chExt cx="4944138" cy="4695680"/>
          </a:xfrm>
        </p:grpSpPr>
        <p:pic>
          <p:nvPicPr>
            <p:cNvPr id="7" name="Picture 6"/>
            <p:cNvPicPr>
              <a:picLocks noChangeAspect="1"/>
            </p:cNvPicPr>
            <p:nvPr/>
          </p:nvPicPr>
          <p:blipFill>
            <a:blip r:embed="rId3"/>
            <a:stretch>
              <a:fillRect/>
            </a:stretch>
          </p:blipFill>
          <p:spPr>
            <a:xfrm>
              <a:off x="666593" y="1748059"/>
              <a:ext cx="4439224" cy="4097746"/>
            </a:xfrm>
            <a:prstGeom prst="rect">
              <a:avLst/>
            </a:prstGeom>
          </p:spPr>
        </p:pic>
        <p:cxnSp>
          <p:nvCxnSpPr>
            <p:cNvPr id="10" name="Straight Arrow Connector 9"/>
            <p:cNvCxnSpPr/>
            <p:nvPr/>
          </p:nvCxnSpPr>
          <p:spPr>
            <a:xfrm flipH="1" flipV="1">
              <a:off x="608597" y="1788450"/>
              <a:ext cx="8313" cy="39984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769311" y="5904689"/>
              <a:ext cx="4366797" cy="3458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693204" y="5892799"/>
              <a:ext cx="658419" cy="550940"/>
            </a:xfrm>
            <a:prstGeom prst="rect">
              <a:avLst/>
            </a:prstGeom>
            <a:noFill/>
          </p:spPr>
          <p:txBody>
            <a:bodyPr wrap="square" rtlCol="0">
              <a:spAutoFit/>
            </a:bodyPr>
            <a:lstStyle/>
            <a:p>
              <a:r>
                <a:rPr lang="en-US" sz="1600" dirty="0" smtClean="0"/>
                <a:t>Time</a:t>
              </a:r>
              <a:endParaRPr lang="en-US" sz="1600" dirty="0"/>
            </a:p>
          </p:txBody>
        </p:sp>
        <p:sp>
          <p:nvSpPr>
            <p:cNvPr id="22" name="TextBox 21"/>
            <p:cNvSpPr txBox="1"/>
            <p:nvPr/>
          </p:nvSpPr>
          <p:spPr>
            <a:xfrm rot="16200000">
              <a:off x="-993944" y="3621746"/>
              <a:ext cx="2703653" cy="331826"/>
            </a:xfrm>
            <a:prstGeom prst="rect">
              <a:avLst/>
            </a:prstGeom>
            <a:noFill/>
          </p:spPr>
          <p:txBody>
            <a:bodyPr wrap="square" rtlCol="0">
              <a:spAutoFit/>
            </a:bodyPr>
            <a:lstStyle/>
            <a:p>
              <a:r>
                <a:rPr lang="en-US" sz="1600" dirty="0" smtClean="0"/>
                <a:t>Production Loss</a:t>
              </a:r>
              <a:endParaRPr lang="en-US" sz="1600" dirty="0"/>
            </a:p>
          </p:txBody>
        </p:sp>
        <p:sp>
          <p:nvSpPr>
            <p:cNvPr id="33" name="TextBox 32"/>
            <p:cNvSpPr txBox="1"/>
            <p:nvPr/>
          </p:nvSpPr>
          <p:spPr>
            <a:xfrm>
              <a:off x="3284469" y="4931887"/>
              <a:ext cx="1279864" cy="550940"/>
            </a:xfrm>
            <a:prstGeom prst="rect">
              <a:avLst/>
            </a:prstGeom>
            <a:noFill/>
          </p:spPr>
          <p:txBody>
            <a:bodyPr wrap="square" rtlCol="0">
              <a:spAutoFit/>
            </a:bodyPr>
            <a:lstStyle/>
            <a:p>
              <a:r>
                <a:rPr lang="en-US" sz="1600" dirty="0" smtClean="0"/>
                <a:t>Exceptions</a:t>
              </a:r>
              <a:endParaRPr lang="en-US" sz="1600" dirty="0"/>
            </a:p>
          </p:txBody>
        </p:sp>
        <p:sp>
          <p:nvSpPr>
            <p:cNvPr id="34" name="TextBox 33"/>
            <p:cNvSpPr txBox="1"/>
            <p:nvPr/>
          </p:nvSpPr>
          <p:spPr>
            <a:xfrm>
              <a:off x="1537781" y="3381137"/>
              <a:ext cx="1927563" cy="550940"/>
            </a:xfrm>
            <a:prstGeom prst="rect">
              <a:avLst/>
            </a:prstGeom>
            <a:noFill/>
          </p:spPr>
          <p:txBody>
            <a:bodyPr wrap="square" rtlCol="0">
              <a:spAutoFit/>
            </a:bodyPr>
            <a:lstStyle/>
            <a:p>
              <a:r>
                <a:rPr lang="en-US" sz="1600" dirty="0" smtClean="0"/>
                <a:t>No Exceptions</a:t>
              </a:r>
              <a:endParaRPr lang="en-US" sz="1600" dirty="0"/>
            </a:p>
          </p:txBody>
        </p:sp>
      </p:grpSp>
      <p:sp>
        <p:nvSpPr>
          <p:cNvPr id="30" name="テキスト プレースホルダー 11"/>
          <p:cNvSpPr txBox="1">
            <a:spLocks/>
          </p:cNvSpPr>
          <p:nvPr/>
        </p:nvSpPr>
        <p:spPr>
          <a:xfrm>
            <a:off x="838200" y="1870658"/>
            <a:ext cx="4222717" cy="1549048"/>
          </a:xfrm>
          <a:prstGeom prst="rect">
            <a:avLst/>
          </a:prstGeom>
          <a:solidFill>
            <a:srgbClr val="445469"/>
          </a:solidFill>
        </p:spPr>
        <p:txBody>
          <a:bodyPr lIns="182880" tIns="182880" rIns="182880" bIns="91440" anchor="t"/>
          <a:lstStyle>
            <a:lvl1pPr marL="231775" indent="-231775" algn="l" defTabSz="914400" rtl="0" eaLnBrk="1" latinLnBrk="0" hangingPunct="1">
              <a:lnSpc>
                <a:spcPct val="120000"/>
              </a:lnSpc>
              <a:spcBef>
                <a:spcPts val="1200"/>
              </a:spcBef>
              <a:buFontTx/>
              <a:buBlip>
                <a:blip r:embed="rId4"/>
              </a:buBlip>
              <a:defRPr lang="en-US" sz="2400" b="1" kern="1200">
                <a:solidFill>
                  <a:schemeClr val="bg1"/>
                </a:solidFill>
                <a:latin typeface="+mn-lt"/>
                <a:ea typeface="+mn-ea"/>
                <a:cs typeface="+mn-cs"/>
              </a:defRPr>
            </a:lvl1pPr>
            <a:lvl2pPr marL="627063" indent="-169863" algn="l" defTabSz="914400" rtl="0" eaLnBrk="1" latinLnBrk="0" hangingPunct="1">
              <a:lnSpc>
                <a:spcPct val="90000"/>
              </a:lnSpc>
              <a:spcBef>
                <a:spcPts val="400"/>
              </a:spcBef>
              <a:spcAft>
                <a:spcPts val="200"/>
              </a:spcAft>
              <a:buClr>
                <a:schemeClr val="accent2">
                  <a:lumMod val="75000"/>
                </a:schemeClr>
              </a:buClr>
              <a:buFont typeface="Wingdings" panose="05000000000000000000" pitchFamily="2" charset="2"/>
              <a:buChar char="§"/>
              <a:tabLst/>
              <a:defRPr lang="en-US" sz="2000" kern="1200" dirty="0" smtClean="0">
                <a:solidFill>
                  <a:schemeClr val="accent2">
                    <a:lumMod val="75000"/>
                  </a:schemeClr>
                </a:solidFill>
                <a:latin typeface="+mn-lt"/>
                <a:ea typeface="+mn-ea"/>
                <a:cs typeface="+mn-cs"/>
              </a:defRPr>
            </a:lvl2pPr>
            <a:lvl3pPr marL="1031875" indent="-117475" algn="l" defTabSz="914400" rtl="0" eaLnBrk="1" latinLnBrk="0" hangingPunct="1">
              <a:lnSpc>
                <a:spcPct val="90000"/>
              </a:lnSpc>
              <a:spcBef>
                <a:spcPts val="400"/>
              </a:spcBef>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smtClean="0">
                <a:ln>
                  <a:noFill/>
                </a:ln>
                <a:solidFill>
                  <a:srgbClr val="FFFFFF"/>
                </a:solidFill>
                <a:effectLst/>
                <a:uLnTx/>
                <a:uFillTx/>
                <a:latin typeface="Arial" panose="020B0604020202020204"/>
                <a:ea typeface="+mn-ea"/>
              </a:rPr>
              <a:t>Monitoring over 1500 wells</a:t>
            </a: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smtClean="0">
              <a:ln>
                <a:noFill/>
              </a:ln>
              <a:solidFill>
                <a:srgbClr val="FFFFFF"/>
              </a:solidFill>
              <a:effectLst/>
              <a:uLnTx/>
              <a:uFillTx/>
              <a:latin typeface="Arial" panose="020B0604020202020204"/>
              <a:ea typeface="+mn-ea"/>
            </a:endParaRP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smtClean="0">
                <a:ln>
                  <a:noFill/>
                </a:ln>
                <a:solidFill>
                  <a:srgbClr val="FFFFFF"/>
                </a:solidFill>
                <a:effectLst/>
                <a:uLnTx/>
                <a:uFillTx/>
                <a:latin typeface="Arial" panose="020B0604020202020204"/>
                <a:ea typeface="+mn-ea"/>
              </a:rPr>
              <a:t>~70 million new data points stored daily</a:t>
            </a:r>
            <a:endParaRPr kumimoji="0" lang="en-US" altLang="en-US" sz="1800" b="1" i="0" u="none" strike="noStrike" kern="1200" cap="none" spc="0" normalizeH="0" baseline="0" noProof="0" dirty="0">
              <a:ln>
                <a:noFill/>
              </a:ln>
              <a:solidFill>
                <a:srgbClr val="FF0000"/>
              </a:solidFill>
              <a:effectLst/>
              <a:uLnTx/>
              <a:uFillTx/>
              <a:latin typeface="Arial" panose="020B0604020202020204"/>
              <a:ea typeface="+mn-ea"/>
              <a:cs typeface="Calibri" panose="020F0502020204030204" pitchFamily="34" charset="0"/>
            </a:endParaRPr>
          </a:p>
          <a:p>
            <a:pPr marL="231775" marR="0" lvl="0" indent="-231775"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endParaRPr>
          </a:p>
        </p:txBody>
      </p:sp>
      <p:sp>
        <p:nvSpPr>
          <p:cNvPr id="31" name="テキスト プレースホルダー 11"/>
          <p:cNvSpPr txBox="1">
            <a:spLocks/>
          </p:cNvSpPr>
          <p:nvPr/>
        </p:nvSpPr>
        <p:spPr>
          <a:xfrm>
            <a:off x="523229" y="4368985"/>
            <a:ext cx="4852658" cy="1570552"/>
          </a:xfrm>
          <a:prstGeom prst="rect">
            <a:avLst/>
          </a:prstGeom>
          <a:solidFill>
            <a:srgbClr val="445469"/>
          </a:solidFill>
        </p:spPr>
        <p:txBody>
          <a:bodyPr lIns="182880" tIns="182880" rIns="182880" bIns="91440" anchor="t"/>
          <a:lstStyle>
            <a:lvl1pPr marL="231775" indent="-231775" algn="l" defTabSz="914400" rtl="0" eaLnBrk="1" latinLnBrk="0" hangingPunct="1">
              <a:lnSpc>
                <a:spcPct val="120000"/>
              </a:lnSpc>
              <a:spcBef>
                <a:spcPts val="1200"/>
              </a:spcBef>
              <a:buFontTx/>
              <a:buBlip>
                <a:blip r:embed="rId4"/>
              </a:buBlip>
              <a:defRPr lang="en-US" sz="2400" b="1" kern="1200">
                <a:solidFill>
                  <a:schemeClr val="bg1"/>
                </a:solidFill>
                <a:latin typeface="+mn-lt"/>
                <a:ea typeface="+mn-ea"/>
                <a:cs typeface="+mn-cs"/>
              </a:defRPr>
            </a:lvl1pPr>
            <a:lvl2pPr marL="627063" indent="-169863" algn="l" defTabSz="914400" rtl="0" eaLnBrk="1" latinLnBrk="0" hangingPunct="1">
              <a:lnSpc>
                <a:spcPct val="90000"/>
              </a:lnSpc>
              <a:spcBef>
                <a:spcPts val="400"/>
              </a:spcBef>
              <a:spcAft>
                <a:spcPts val="200"/>
              </a:spcAft>
              <a:buClr>
                <a:schemeClr val="accent2">
                  <a:lumMod val="75000"/>
                </a:schemeClr>
              </a:buClr>
              <a:buFont typeface="Wingdings" panose="05000000000000000000" pitchFamily="2" charset="2"/>
              <a:buChar char="§"/>
              <a:tabLst/>
              <a:defRPr lang="en-US" sz="2000" kern="1200" dirty="0" smtClean="0">
                <a:solidFill>
                  <a:schemeClr val="accent2">
                    <a:lumMod val="75000"/>
                  </a:schemeClr>
                </a:solidFill>
                <a:latin typeface="+mn-lt"/>
                <a:ea typeface="+mn-ea"/>
                <a:cs typeface="+mn-cs"/>
              </a:defRPr>
            </a:lvl2pPr>
            <a:lvl3pPr marL="1031875" indent="-117475" algn="l" defTabSz="914400" rtl="0" eaLnBrk="1" latinLnBrk="0" hangingPunct="1">
              <a:lnSpc>
                <a:spcPct val="90000"/>
              </a:lnSpc>
              <a:spcBef>
                <a:spcPts val="400"/>
              </a:spcBef>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90000"/>
              </a:lnSpc>
              <a:spcBef>
                <a:spcPts val="0"/>
              </a:spcBef>
              <a:spcAft>
                <a:spcPts val="600"/>
              </a:spcAft>
              <a:buNone/>
              <a:defRPr/>
            </a:pPr>
            <a:r>
              <a:rPr lang="en-US" sz="1800" u="sng" dirty="0">
                <a:solidFill>
                  <a:srgbClr val="FFFFFF"/>
                </a:solidFill>
                <a:latin typeface="Arial" panose="020B0604020202020204"/>
              </a:rPr>
              <a:t>Real-time Analytics</a:t>
            </a:r>
          </a:p>
          <a:p>
            <a:pPr marL="173831" indent="-173831">
              <a:lnSpc>
                <a:spcPct val="90000"/>
              </a:lnSpc>
              <a:spcBef>
                <a:spcPts val="0"/>
              </a:spcBef>
              <a:spcAft>
                <a:spcPts val="600"/>
              </a:spcAft>
              <a:buFont typeface="Arial" panose="020B0604020202020204" pitchFamily="34" charset="0"/>
              <a:buChar char="•"/>
              <a:defRPr/>
            </a:pPr>
            <a:r>
              <a:rPr lang="en-US" sz="1800" b="0" dirty="0">
                <a:solidFill>
                  <a:srgbClr val="FFFFFF"/>
                </a:solidFill>
                <a:latin typeface="Arial" panose="020B0604020202020204"/>
              </a:rPr>
              <a:t>Guides field staff to highest value opportunities by exception</a:t>
            </a:r>
          </a:p>
          <a:p>
            <a:pPr marL="173831" indent="-173831">
              <a:lnSpc>
                <a:spcPct val="90000"/>
              </a:lnSpc>
              <a:spcBef>
                <a:spcPts val="0"/>
              </a:spcBef>
              <a:spcAft>
                <a:spcPts val="600"/>
              </a:spcAft>
              <a:buFont typeface="Arial" panose="020B0604020202020204" pitchFamily="34" charset="0"/>
              <a:buChar char="•"/>
              <a:defRPr/>
            </a:pPr>
            <a:r>
              <a:rPr lang="en-US" sz="1800" b="0" dirty="0">
                <a:solidFill>
                  <a:srgbClr val="FFFFFF"/>
                </a:solidFill>
                <a:latin typeface="Arial" panose="020B0604020202020204"/>
              </a:rPr>
              <a:t>Enhances production optimization practices</a:t>
            </a:r>
          </a:p>
        </p:txBody>
      </p:sp>
      <p:sp>
        <p:nvSpPr>
          <p:cNvPr id="18" name="Title 1"/>
          <p:cNvSpPr>
            <a:spLocks noGrp="1"/>
          </p:cNvSpPr>
          <p:nvPr>
            <p:ph type="title"/>
          </p:nvPr>
        </p:nvSpPr>
        <p:spPr>
          <a:xfrm>
            <a:off x="449090" y="0"/>
            <a:ext cx="10515600" cy="1325563"/>
          </a:xfrm>
        </p:spPr>
        <p:txBody>
          <a:bodyPr/>
          <a:lstStyle/>
          <a:p>
            <a:r>
              <a:rPr lang="en-US" dirty="0" smtClean="0"/>
              <a:t>Anadarko DJ Basin DOF Overview</a:t>
            </a:r>
            <a:endParaRPr lang="en-US" dirty="0"/>
          </a:p>
        </p:txBody>
      </p:sp>
    </p:spTree>
    <p:extLst>
      <p:ext uri="{BB962C8B-B14F-4D97-AF65-F5344CB8AC3E}">
        <p14:creationId xmlns:p14="http://schemas.microsoft.com/office/powerpoint/2010/main" val="24905564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Real-Time Production Tracking</a:t>
            </a:r>
            <a:endParaRPr lang="en-US" dirty="0"/>
          </a:p>
        </p:txBody>
      </p:sp>
      <p:sp>
        <p:nvSpPr>
          <p:cNvPr id="6" name="Content Placeholder 5"/>
          <p:cNvSpPr>
            <a:spLocks noGrp="1"/>
          </p:cNvSpPr>
          <p:nvPr>
            <p:ph sz="half" idx="1"/>
          </p:nvPr>
        </p:nvSpPr>
        <p:spPr>
          <a:xfrm>
            <a:off x="267572" y="1720934"/>
            <a:ext cx="5181600" cy="4351338"/>
          </a:xfrm>
        </p:spPr>
        <p:txBody>
          <a:bodyPr/>
          <a:lstStyle/>
          <a:p>
            <a:r>
              <a:rPr lang="en-US" dirty="0" smtClean="0"/>
              <a:t>Automated workflow analyzes intraday produced volumes and flags wells that are not on trend to meet the production target and provides information on the root cause of the production shortfall</a:t>
            </a:r>
          </a:p>
          <a:p>
            <a:pPr lvl="1"/>
            <a:r>
              <a:rPr lang="en-US" dirty="0" smtClean="0"/>
              <a:t>This well’s plunger lift was not optimized and eventually loaded up</a:t>
            </a:r>
            <a:endParaRPr lang="en-US" dirty="0"/>
          </a:p>
        </p:txBody>
      </p:sp>
      <p:pic>
        <p:nvPicPr>
          <p:cNvPr id="8" name="Content Placeholder 7"/>
          <p:cNvPicPr>
            <a:picLocks noGrp="1" noChangeAspect="1"/>
          </p:cNvPicPr>
          <p:nvPr>
            <p:ph sz="half" idx="2"/>
          </p:nvPr>
        </p:nvPicPr>
        <p:blipFill>
          <a:blip r:embed="rId2"/>
          <a:stretch>
            <a:fillRect/>
          </a:stretch>
        </p:blipFill>
        <p:spPr>
          <a:xfrm>
            <a:off x="5449172" y="1616244"/>
            <a:ext cx="6652345" cy="4560719"/>
          </a:xfrm>
          <a:prstGeom prst="rect">
            <a:avLst/>
          </a:prstGeom>
        </p:spPr>
      </p:pic>
      <p:sp>
        <p:nvSpPr>
          <p:cNvPr id="4" name="Slide Number Placeholder 3"/>
          <p:cNvSpPr>
            <a:spLocks noGrp="1"/>
          </p:cNvSpPr>
          <p:nvPr>
            <p:ph type="sldNum" sz="quarter" idx="12"/>
          </p:nvPr>
        </p:nvSpPr>
        <p:spPr/>
        <p:txBody>
          <a:bodyPr/>
          <a:lstStyle/>
          <a:p>
            <a:fld id="{CBC2E174-4C28-4A87-9812-668938BEC39B}" type="slidenum">
              <a:rPr lang="en-US" smtClean="0"/>
              <a:t>18</a:t>
            </a:fld>
            <a:endParaRPr lang="en-US"/>
          </a:p>
        </p:txBody>
      </p:sp>
    </p:spTree>
    <p:extLst>
      <p:ext uri="{BB962C8B-B14F-4D97-AF65-F5344CB8AC3E}">
        <p14:creationId xmlns:p14="http://schemas.microsoft.com/office/powerpoint/2010/main" val="1374592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Time Production </a:t>
            </a:r>
            <a:r>
              <a:rPr lang="en-US" dirty="0" smtClean="0"/>
              <a:t>Tracking</a:t>
            </a:r>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dirty="0"/>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19</a:t>
            </a:fld>
            <a:endParaRPr lang="en-US"/>
          </a:p>
        </p:txBody>
      </p:sp>
      <p:grpSp>
        <p:nvGrpSpPr>
          <p:cNvPr id="12" name="Group 11"/>
          <p:cNvGrpSpPr/>
          <p:nvPr/>
        </p:nvGrpSpPr>
        <p:grpSpPr>
          <a:xfrm>
            <a:off x="77992" y="1591900"/>
            <a:ext cx="3931920" cy="4566935"/>
            <a:chOff x="77992" y="1591900"/>
            <a:chExt cx="3931920" cy="4566935"/>
          </a:xfrm>
        </p:grpSpPr>
        <p:grpSp>
          <p:nvGrpSpPr>
            <p:cNvPr id="20" name="Group 19"/>
            <p:cNvGrpSpPr/>
            <p:nvPr/>
          </p:nvGrpSpPr>
          <p:grpSpPr>
            <a:xfrm>
              <a:off x="77992" y="1591900"/>
              <a:ext cx="3931920" cy="2926080"/>
              <a:chOff x="77992" y="1591900"/>
              <a:chExt cx="3931920" cy="2933115"/>
            </a:xfrm>
          </p:grpSpPr>
          <p:pic>
            <p:nvPicPr>
              <p:cNvPr id="18" name="Picture 17"/>
              <p:cNvPicPr>
                <a:picLocks noChangeAspect="1"/>
              </p:cNvPicPr>
              <p:nvPr/>
            </p:nvPicPr>
            <p:blipFill>
              <a:blip r:embed="rId3"/>
              <a:stretch>
                <a:fillRect/>
              </a:stretch>
            </p:blipFill>
            <p:spPr>
              <a:xfrm>
                <a:off x="77992" y="1601910"/>
                <a:ext cx="3931920" cy="2923105"/>
              </a:xfrm>
              <a:prstGeom prst="rect">
                <a:avLst/>
              </a:prstGeom>
              <a:ln>
                <a:noFill/>
              </a:ln>
              <a:effectLst>
                <a:outerShdw blurRad="292100" dist="139700" dir="2700000" algn="tl" rotWithShape="0">
                  <a:srgbClr val="333333">
                    <a:alpha val="65000"/>
                  </a:srgbClr>
                </a:outerShdw>
              </a:effectLst>
            </p:spPr>
          </p:pic>
          <p:grpSp>
            <p:nvGrpSpPr>
              <p:cNvPr id="8" name="Group 7"/>
              <p:cNvGrpSpPr/>
              <p:nvPr/>
            </p:nvGrpSpPr>
            <p:grpSpPr>
              <a:xfrm>
                <a:off x="607703" y="1591900"/>
                <a:ext cx="3202532" cy="604890"/>
                <a:chOff x="2980024" y="2359372"/>
                <a:chExt cx="5833236" cy="704841"/>
              </a:xfrm>
            </p:grpSpPr>
            <p:sp>
              <p:nvSpPr>
                <p:cNvPr id="9" name="Rectangle 8"/>
                <p:cNvSpPr/>
                <p:nvPr/>
              </p:nvSpPr>
              <p:spPr>
                <a:xfrm>
                  <a:off x="2980024" y="2359372"/>
                  <a:ext cx="5833236" cy="704841"/>
                </a:xfrm>
                <a:prstGeom prst="rect">
                  <a:avLst/>
                </a:prstGeom>
                <a:solidFill>
                  <a:srgbClr val="00B050">
                    <a:alpha val="25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472083" y="2557097"/>
                  <a:ext cx="4849117" cy="475691"/>
                </a:xfrm>
                <a:prstGeom prst="rect">
                  <a:avLst/>
                </a:prstGeom>
                <a:noFill/>
              </p:spPr>
              <p:txBody>
                <a:bodyPr wrap="square" rtlCol="0">
                  <a:spAutoFit/>
                </a:bodyPr>
                <a:lstStyle/>
                <a:p>
                  <a:endParaRPr lang="en-US" sz="1600" dirty="0">
                    <a:effectLst>
                      <a:outerShdw blurRad="38100" dist="38100" dir="2700000" algn="tl">
                        <a:srgbClr val="000000">
                          <a:alpha val="43137"/>
                        </a:srgbClr>
                      </a:outerShdw>
                    </a:effectLst>
                  </a:endParaRPr>
                </a:p>
              </p:txBody>
            </p:sp>
          </p:grpSp>
        </p:grpSp>
        <p:sp>
          <p:nvSpPr>
            <p:cNvPr id="3" name="TextBox 2"/>
            <p:cNvSpPr txBox="1"/>
            <p:nvPr/>
          </p:nvSpPr>
          <p:spPr>
            <a:xfrm>
              <a:off x="381375" y="5512504"/>
              <a:ext cx="3325151" cy="646331"/>
            </a:xfrm>
            <a:prstGeom prst="rect">
              <a:avLst/>
            </a:prstGeom>
            <a:noFill/>
          </p:spPr>
          <p:txBody>
            <a:bodyPr wrap="square" rtlCol="0">
              <a:spAutoFit/>
            </a:bodyPr>
            <a:lstStyle/>
            <a:p>
              <a:pPr algn="ctr"/>
              <a:r>
                <a:rPr lang="en-US" dirty="0" smtClean="0">
                  <a:solidFill>
                    <a:srgbClr val="00B050"/>
                  </a:solidFill>
                  <a:effectLst>
                    <a:outerShdw blurRad="38100" dist="38100" dir="2700000" algn="tl">
                      <a:srgbClr val="000000">
                        <a:alpha val="43137"/>
                      </a:srgbClr>
                    </a:outerShdw>
                  </a:effectLst>
                </a:rPr>
                <a:t>Exceeding Target</a:t>
              </a:r>
            </a:p>
            <a:p>
              <a:pPr algn="ctr"/>
              <a:r>
                <a:rPr lang="en-US" dirty="0" smtClean="0"/>
                <a:t>No attention needed</a:t>
              </a:r>
              <a:endParaRPr lang="en-US" dirty="0"/>
            </a:p>
          </p:txBody>
        </p:sp>
        <p:sp>
          <p:nvSpPr>
            <p:cNvPr id="11" name="Down Arrow 10"/>
            <p:cNvSpPr/>
            <p:nvPr/>
          </p:nvSpPr>
          <p:spPr>
            <a:xfrm>
              <a:off x="1749662" y="4824482"/>
              <a:ext cx="588579" cy="575864"/>
            </a:xfrm>
            <a:prstGeom prst="downArrow">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grpSp>
        <p:nvGrpSpPr>
          <p:cNvPr id="16" name="Group 15"/>
          <p:cNvGrpSpPr/>
          <p:nvPr/>
        </p:nvGrpSpPr>
        <p:grpSpPr>
          <a:xfrm>
            <a:off x="4080383" y="1591900"/>
            <a:ext cx="3931920" cy="4566935"/>
            <a:chOff x="4080383" y="1591900"/>
            <a:chExt cx="3931920" cy="4566935"/>
          </a:xfrm>
        </p:grpSpPr>
        <p:grpSp>
          <p:nvGrpSpPr>
            <p:cNvPr id="15" name="Group 14"/>
            <p:cNvGrpSpPr/>
            <p:nvPr/>
          </p:nvGrpSpPr>
          <p:grpSpPr>
            <a:xfrm>
              <a:off x="4080383" y="1591900"/>
              <a:ext cx="3931920" cy="2926080"/>
              <a:chOff x="415063" y="1553420"/>
              <a:chExt cx="3977874" cy="2926080"/>
            </a:xfrm>
          </p:grpSpPr>
          <p:pic>
            <p:nvPicPr>
              <p:cNvPr id="13" name="Picture 12"/>
              <p:cNvPicPr>
                <a:picLocks noChangeAspect="1"/>
              </p:cNvPicPr>
              <p:nvPr/>
            </p:nvPicPr>
            <p:blipFill>
              <a:blip r:embed="rId4"/>
              <a:stretch>
                <a:fillRect/>
              </a:stretch>
            </p:blipFill>
            <p:spPr>
              <a:xfrm>
                <a:off x="415063" y="1553420"/>
                <a:ext cx="3977874" cy="2926080"/>
              </a:xfrm>
              <a:prstGeom prst="rect">
                <a:avLst/>
              </a:prstGeom>
              <a:ln>
                <a:noFill/>
              </a:ln>
              <a:effectLst>
                <a:outerShdw blurRad="292100" dist="139700" dir="2700000" algn="tl" rotWithShape="0">
                  <a:srgbClr val="333333">
                    <a:alpha val="65000"/>
                  </a:srgbClr>
                </a:outerShdw>
              </a:effectLst>
            </p:spPr>
          </p:pic>
          <p:sp>
            <p:nvSpPr>
              <p:cNvPr id="14" name="Rectangle 13"/>
              <p:cNvSpPr/>
              <p:nvPr/>
            </p:nvSpPr>
            <p:spPr>
              <a:xfrm>
                <a:off x="838200" y="2263697"/>
                <a:ext cx="3200400" cy="265176"/>
              </a:xfrm>
              <a:prstGeom prst="rect">
                <a:avLst/>
              </a:prstGeom>
              <a:solidFill>
                <a:srgbClr val="FFFF00">
                  <a:alpha val="25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p:cNvSpPr txBox="1"/>
            <p:nvPr/>
          </p:nvSpPr>
          <p:spPr>
            <a:xfrm>
              <a:off x="4417770" y="5512504"/>
              <a:ext cx="3325151" cy="646331"/>
            </a:xfrm>
            <a:prstGeom prst="rect">
              <a:avLst/>
            </a:prstGeom>
            <a:noFill/>
          </p:spPr>
          <p:txBody>
            <a:bodyPr wrap="square" rtlCol="0">
              <a:spAutoFit/>
            </a:bodyPr>
            <a:lstStyle/>
            <a:p>
              <a:pPr algn="ctr"/>
              <a:r>
                <a:rPr lang="en-US" dirty="0" smtClean="0">
                  <a:solidFill>
                    <a:srgbClr val="FFFF00"/>
                  </a:solidFill>
                  <a:effectLst>
                    <a:outerShdw blurRad="38100" dist="38100" dir="2700000" algn="tl">
                      <a:srgbClr val="000000">
                        <a:alpha val="43137"/>
                      </a:srgbClr>
                    </a:outerShdw>
                  </a:effectLst>
                </a:rPr>
                <a:t>Meets Target</a:t>
              </a:r>
            </a:p>
            <a:p>
              <a:pPr algn="ctr"/>
              <a:r>
                <a:rPr lang="en-US" dirty="0" smtClean="0"/>
                <a:t>No attention needed</a:t>
              </a:r>
              <a:endParaRPr lang="en-US" dirty="0"/>
            </a:p>
          </p:txBody>
        </p:sp>
        <p:sp>
          <p:nvSpPr>
            <p:cNvPr id="21" name="Down Arrow 20"/>
            <p:cNvSpPr/>
            <p:nvPr/>
          </p:nvSpPr>
          <p:spPr>
            <a:xfrm>
              <a:off x="5752053" y="4822289"/>
              <a:ext cx="588579" cy="575864"/>
            </a:xfrm>
            <a:prstGeom prst="downArrow">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grpSp>
        <p:nvGrpSpPr>
          <p:cNvPr id="17" name="Group 16"/>
          <p:cNvGrpSpPr/>
          <p:nvPr/>
        </p:nvGrpSpPr>
        <p:grpSpPr>
          <a:xfrm>
            <a:off x="8069799" y="1601886"/>
            <a:ext cx="3931920" cy="4556949"/>
            <a:chOff x="8069799" y="1601886"/>
            <a:chExt cx="3931920" cy="4556949"/>
          </a:xfrm>
        </p:grpSpPr>
        <p:grpSp>
          <p:nvGrpSpPr>
            <p:cNvPr id="7" name="Group 6"/>
            <p:cNvGrpSpPr/>
            <p:nvPr/>
          </p:nvGrpSpPr>
          <p:grpSpPr>
            <a:xfrm>
              <a:off x="8069799" y="1601886"/>
              <a:ext cx="3931920" cy="2926080"/>
              <a:chOff x="8127057" y="1601910"/>
              <a:chExt cx="3931920" cy="2865387"/>
            </a:xfrm>
          </p:grpSpPr>
          <p:pic>
            <p:nvPicPr>
              <p:cNvPr id="22" name="Picture 21"/>
              <p:cNvPicPr>
                <a:picLocks noChangeAspect="1"/>
              </p:cNvPicPr>
              <p:nvPr/>
            </p:nvPicPr>
            <p:blipFill>
              <a:blip r:embed="rId5"/>
              <a:stretch>
                <a:fillRect/>
              </a:stretch>
            </p:blipFill>
            <p:spPr>
              <a:xfrm>
                <a:off x="8127057" y="1601910"/>
                <a:ext cx="3931920" cy="2865387"/>
              </a:xfrm>
              <a:prstGeom prst="rect">
                <a:avLst/>
              </a:prstGeom>
              <a:ln>
                <a:noFill/>
              </a:ln>
              <a:effectLst>
                <a:outerShdw blurRad="292100" dist="139700" dir="2700000" algn="tl" rotWithShape="0">
                  <a:srgbClr val="333333">
                    <a:alpha val="65000"/>
                  </a:srgbClr>
                </a:outerShdw>
              </a:effectLst>
            </p:spPr>
          </p:pic>
          <p:sp>
            <p:nvSpPr>
              <p:cNvPr id="19" name="Rectangle 18"/>
              <p:cNvSpPr/>
              <p:nvPr/>
            </p:nvSpPr>
            <p:spPr>
              <a:xfrm>
                <a:off x="8523890" y="2586038"/>
                <a:ext cx="3226676" cy="1250425"/>
              </a:xfrm>
              <a:prstGeom prst="rect">
                <a:avLst/>
              </a:prstGeom>
              <a:solidFill>
                <a:srgbClr val="FF0000">
                  <a:alpha val="25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p:cNvSpPr txBox="1"/>
            <p:nvPr/>
          </p:nvSpPr>
          <p:spPr>
            <a:xfrm>
              <a:off x="8686288" y="5512504"/>
              <a:ext cx="2787361" cy="646331"/>
            </a:xfrm>
            <a:prstGeom prst="rect">
              <a:avLst/>
            </a:prstGeom>
            <a:noFill/>
          </p:spPr>
          <p:txBody>
            <a:bodyPr wrap="square" rtlCol="0">
              <a:spAutoFit/>
            </a:bodyPr>
            <a:lstStyle/>
            <a:p>
              <a:pPr algn="ctr"/>
              <a:r>
                <a:rPr lang="en-US" dirty="0" smtClean="0">
                  <a:solidFill>
                    <a:srgbClr val="FF2626"/>
                  </a:solidFill>
                  <a:effectLst>
                    <a:outerShdw blurRad="38100" dist="38100" dir="2700000" algn="tl">
                      <a:srgbClr val="000000">
                        <a:alpha val="43137"/>
                      </a:srgbClr>
                    </a:outerShdw>
                  </a:effectLst>
                </a:rPr>
                <a:t>Below Target</a:t>
              </a:r>
            </a:p>
            <a:p>
              <a:pPr algn="ctr"/>
              <a:r>
                <a:rPr lang="en-US" dirty="0" smtClean="0"/>
                <a:t>Attention needed</a:t>
              </a:r>
              <a:endParaRPr lang="en-US" dirty="0"/>
            </a:p>
          </p:txBody>
        </p:sp>
        <p:sp>
          <p:nvSpPr>
            <p:cNvPr id="23" name="Down Arrow 22"/>
            <p:cNvSpPr/>
            <p:nvPr/>
          </p:nvSpPr>
          <p:spPr>
            <a:xfrm>
              <a:off x="9785680" y="4850640"/>
              <a:ext cx="588579" cy="575864"/>
            </a:xfrm>
            <a:prstGeom prst="downArrow">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1986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6"/>
                                        </p:tgtEl>
                                      </p:cBhvr>
                                    </p:animEffect>
                                    <p:set>
                                      <p:cBhvr>
                                        <p:cTn id="15" dur="1" fill="hold">
                                          <p:stCondLst>
                                            <p:cond delay="499"/>
                                          </p:stCondLst>
                                        </p:cTn>
                                        <p:tgtEl>
                                          <p:spTgt spid="16"/>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Real Time Production Tracker Workflow Process </a:t>
            </a:r>
            <a:endParaRPr lang="en-US" sz="3600"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20</a:t>
            </a:fld>
            <a:endParaRPr lang="en-US"/>
          </a:p>
        </p:txBody>
      </p:sp>
      <p:grpSp>
        <p:nvGrpSpPr>
          <p:cNvPr id="47" name="Group 46"/>
          <p:cNvGrpSpPr/>
          <p:nvPr/>
        </p:nvGrpSpPr>
        <p:grpSpPr>
          <a:xfrm>
            <a:off x="2707060" y="2892274"/>
            <a:ext cx="2387856" cy="3646638"/>
            <a:chOff x="2707060" y="2892274"/>
            <a:chExt cx="2387856" cy="3646638"/>
          </a:xfrm>
        </p:grpSpPr>
        <p:sp>
          <p:nvSpPr>
            <p:cNvPr id="11" name="Bent Arrow 40"/>
            <p:cNvSpPr>
              <a:spLocks noChangeArrowheads="1"/>
            </p:cNvSpPr>
            <p:nvPr/>
          </p:nvSpPr>
          <p:spPr bwMode="auto">
            <a:xfrm rot="5400000">
              <a:off x="2564835" y="3035303"/>
              <a:ext cx="1765743" cy="1479685"/>
            </a:xfrm>
            <a:custGeom>
              <a:avLst/>
              <a:gdLst>
                <a:gd name="T0" fmla="*/ 778950 w 1038600"/>
                <a:gd name="T1" fmla="*/ 0 h 1108618"/>
                <a:gd name="T2" fmla="*/ 778950 w 1038600"/>
                <a:gd name="T3" fmla="*/ 519300 h 1108618"/>
                <a:gd name="T4" fmla="*/ 129825 w 1038600"/>
                <a:gd name="T5" fmla="*/ 1108618 h 1108618"/>
                <a:gd name="T6" fmla="*/ 1038600 w 1038600"/>
                <a:gd name="T7" fmla="*/ 259650 h 1108618"/>
                <a:gd name="T8" fmla="*/ 0 60000 65536"/>
                <a:gd name="T9" fmla="*/ 0 60000 65536"/>
                <a:gd name="T10" fmla="*/ 0 60000 65536"/>
                <a:gd name="T11" fmla="*/ 0 60000 65536"/>
                <a:gd name="T12" fmla="*/ 0 w 1038600"/>
                <a:gd name="T13" fmla="*/ 0 h 1108618"/>
                <a:gd name="T14" fmla="*/ 1038600 w 1038600"/>
                <a:gd name="T15" fmla="*/ 1108618 h 1108618"/>
              </a:gdLst>
              <a:ahLst/>
              <a:cxnLst>
                <a:cxn ang="T8">
                  <a:pos x="T0" y="T1"/>
                </a:cxn>
                <a:cxn ang="T9">
                  <a:pos x="T2" y="T3"/>
                </a:cxn>
                <a:cxn ang="T10">
                  <a:pos x="T4" y="T5"/>
                </a:cxn>
                <a:cxn ang="T11">
                  <a:pos x="T6" y="T7"/>
                </a:cxn>
              </a:cxnLst>
              <a:rect l="T12" t="T13" r="T14" b="T15"/>
              <a:pathLst>
                <a:path w="1038600" h="1108618">
                  <a:moveTo>
                    <a:pt x="0" y="1108618"/>
                  </a:moveTo>
                  <a:lnTo>
                    <a:pt x="0" y="584213"/>
                  </a:lnTo>
                  <a:cubicBezTo>
                    <a:pt x="0" y="333261"/>
                    <a:pt x="203436" y="129825"/>
                    <a:pt x="454387" y="129825"/>
                  </a:cubicBezTo>
                  <a:lnTo>
                    <a:pt x="778950" y="129825"/>
                  </a:lnTo>
                  <a:lnTo>
                    <a:pt x="778950" y="0"/>
                  </a:lnTo>
                  <a:lnTo>
                    <a:pt x="1038600" y="259650"/>
                  </a:lnTo>
                  <a:lnTo>
                    <a:pt x="778950" y="519300"/>
                  </a:lnTo>
                  <a:lnTo>
                    <a:pt x="778950" y="389475"/>
                  </a:lnTo>
                  <a:lnTo>
                    <a:pt x="454388" y="389475"/>
                  </a:lnTo>
                  <a:lnTo>
                    <a:pt x="454387" y="389475"/>
                  </a:lnTo>
                  <a:cubicBezTo>
                    <a:pt x="346837" y="389475"/>
                    <a:pt x="259650" y="476662"/>
                    <a:pt x="259650" y="584212"/>
                  </a:cubicBezTo>
                  <a:lnTo>
                    <a:pt x="259650" y="1108618"/>
                  </a:lnTo>
                  <a:lnTo>
                    <a:pt x="0" y="1108618"/>
                  </a:lnTo>
                  <a:close/>
                </a:path>
              </a:pathLst>
            </a:custGeom>
            <a:solidFill>
              <a:schemeClr val="accent1"/>
            </a:solidFill>
            <a:ln>
              <a:noFill/>
            </a:ln>
            <a:effectLst>
              <a:outerShdw blurRad="63500" dist="23000" dir="143998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457200" fontAlgn="base">
                <a:spcBef>
                  <a:spcPct val="0"/>
                </a:spcBef>
                <a:spcAft>
                  <a:spcPct val="0"/>
                </a:spcAft>
              </a:pPr>
              <a:endParaRPr lang="en-US">
                <a:solidFill>
                  <a:prstClr val="black"/>
                </a:solidFill>
                <a:ea typeface="ＭＳ Ｐゴシック" pitchFamily="34" charset="-128"/>
              </a:endParaRPr>
            </a:p>
          </p:txBody>
        </p:sp>
        <p:sp>
          <p:nvSpPr>
            <p:cNvPr id="13" name="Rounded Rectangle 8"/>
            <p:cNvSpPr>
              <a:spLocks noChangeArrowheads="1"/>
            </p:cNvSpPr>
            <p:nvPr/>
          </p:nvSpPr>
          <p:spPr bwMode="auto">
            <a:xfrm>
              <a:off x="2707060" y="4633654"/>
              <a:ext cx="2135723" cy="1683967"/>
            </a:xfrm>
            <a:prstGeom prst="roundRect">
              <a:avLst>
                <a:gd name="adj" fmla="val 0"/>
              </a:avLst>
            </a:prstGeom>
            <a:gradFill rotWithShape="1">
              <a:gsLst>
                <a:gs pos="0">
                  <a:schemeClr val="bg1"/>
                </a:gs>
                <a:gs pos="100000">
                  <a:srgbClr val="F2F2F2"/>
                </a:gs>
              </a:gsLst>
              <a:lin ang="5400000"/>
            </a:gradFill>
            <a:ln w="63500">
              <a:solidFill>
                <a:schemeClr val="accent1"/>
              </a:solidFill>
              <a:round/>
              <a:headEnd/>
              <a:tailEnd/>
            </a:ln>
            <a:effectLst>
              <a:outerShdw dist="23000" dir="5400000" rotWithShape="0">
                <a:srgbClr val="808080">
                  <a:alpha val="34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15" name="Rektangel 76"/>
            <p:cNvSpPr>
              <a:spLocks noChangeArrowheads="1"/>
            </p:cNvSpPr>
            <p:nvPr/>
          </p:nvSpPr>
          <p:spPr bwMode="auto">
            <a:xfrm>
              <a:off x="2910461" y="4900823"/>
              <a:ext cx="186042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en-US" noProof="1" smtClean="0">
                  <a:solidFill>
                    <a:srgbClr val="000000"/>
                  </a:solidFill>
                  <a:effectLst>
                    <a:outerShdw blurRad="38100" dist="38100" dir="2700000" algn="tl">
                      <a:srgbClr val="000000">
                        <a:alpha val="43137"/>
                      </a:srgbClr>
                    </a:outerShdw>
                  </a:effectLst>
                  <a:ea typeface="ＭＳ Ｐゴシック" pitchFamily="34" charset="-128"/>
                  <a:cs typeface="Arial" pitchFamily="34" charset="0"/>
                </a:rPr>
                <a:t>Pull last 45 days of Daily Production</a:t>
              </a:r>
              <a:r>
                <a:rPr lang="en-US" noProof="1" smtClean="0">
                  <a:solidFill>
                    <a:srgbClr val="000000"/>
                  </a:solidFill>
                  <a:ea typeface="ＭＳ Ｐゴシック" pitchFamily="34" charset="-128"/>
                  <a:cs typeface="Arial" pitchFamily="34" charset="0"/>
                </a:rPr>
                <a:t> </a:t>
              </a:r>
              <a:endParaRPr lang="da-DK" dirty="0">
                <a:solidFill>
                  <a:srgbClr val="000000"/>
                </a:solidFill>
                <a:ea typeface="ＭＳ Ｐゴシック" pitchFamily="34" charset="-128"/>
              </a:endParaRPr>
            </a:p>
            <a:p>
              <a:pPr fontAlgn="base">
                <a:spcBef>
                  <a:spcPct val="0"/>
                </a:spcBef>
                <a:spcAft>
                  <a:spcPct val="0"/>
                </a:spcAft>
              </a:pPr>
              <a:endParaRPr lang="da-DK" dirty="0">
                <a:solidFill>
                  <a:srgbClr val="000000"/>
                </a:solidFill>
                <a:ea typeface="ＭＳ Ｐゴシック" pitchFamily="34" charset="-128"/>
              </a:endParaRPr>
            </a:p>
          </p:txBody>
        </p:sp>
        <p:grpSp>
          <p:nvGrpSpPr>
            <p:cNvPr id="20" name="Group 31"/>
            <p:cNvGrpSpPr>
              <a:grpSpLocks/>
            </p:cNvGrpSpPr>
            <p:nvPr/>
          </p:nvGrpSpPr>
          <p:grpSpPr bwMode="auto">
            <a:xfrm>
              <a:off x="4537680" y="5763050"/>
              <a:ext cx="557236" cy="775862"/>
              <a:chOff x="2502873" y="1580627"/>
              <a:chExt cx="417496" cy="456358"/>
            </a:xfrm>
          </p:grpSpPr>
          <p:sp>
            <p:nvSpPr>
              <p:cNvPr id="37" name="Ellipse 53"/>
              <p:cNvSpPr>
                <a:spLocks noChangeArrowheads="1"/>
              </p:cNvSpPr>
              <p:nvPr/>
            </p:nvSpPr>
            <p:spPr bwMode="auto">
              <a:xfrm>
                <a:off x="2502873" y="1621102"/>
                <a:ext cx="417496" cy="415883"/>
              </a:xfrm>
              <a:prstGeom prst="ellipse">
                <a:avLst/>
              </a:prstGeom>
              <a:solidFill>
                <a:srgbClr val="FFC000">
                  <a:alpha val="62000"/>
                </a:srgbClr>
              </a:solidFill>
              <a:ln w="9525">
                <a:solidFill>
                  <a:srgbClr val="FFFFFF"/>
                </a:solidFill>
                <a:round/>
                <a:headEnd/>
                <a:tailEnd/>
              </a:ln>
              <a:effectLst>
                <a:outerShdw dist="38100" dir="2700000" algn="tl" rotWithShape="0">
                  <a:srgbClr val="808080">
                    <a:alpha val="39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38" name="Tekstboks 54"/>
              <p:cNvSpPr txBox="1">
                <a:spLocks noChangeArrowheads="1"/>
              </p:cNvSpPr>
              <p:nvPr/>
            </p:nvSpPr>
            <p:spPr bwMode="auto">
              <a:xfrm>
                <a:off x="2561330" y="1580627"/>
                <a:ext cx="282865" cy="31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ＭＳ Ｐゴシック" pitchFamily="34" charset="-128"/>
                  </a:defRPr>
                </a:lvl1pPr>
                <a:lvl2pPr marL="742950" indent="-285750">
                  <a:defRPr>
                    <a:solidFill>
                      <a:schemeClr val="tx1"/>
                    </a:solidFill>
                    <a:latin typeface="Calibri" pitchFamily="34" charset="0"/>
                    <a:ea typeface="ＭＳ Ｐゴシック" pitchFamily="34" charset="-128"/>
                  </a:defRPr>
                </a:lvl2pPr>
                <a:lvl3pPr marL="1143000" indent="-228600">
                  <a:defRPr>
                    <a:solidFill>
                      <a:schemeClr val="tx1"/>
                    </a:solidFill>
                    <a:latin typeface="Calibri" pitchFamily="34" charset="0"/>
                    <a:ea typeface="ＭＳ Ｐゴシック" pitchFamily="34" charset="-128"/>
                  </a:defRPr>
                </a:lvl3pPr>
                <a:lvl4pPr marL="1600200" indent="-228600">
                  <a:defRPr>
                    <a:solidFill>
                      <a:schemeClr val="tx1"/>
                    </a:solidFill>
                    <a:latin typeface="Calibri" pitchFamily="34" charset="0"/>
                    <a:ea typeface="ＭＳ Ｐゴシック" pitchFamily="34" charset="-128"/>
                  </a:defRPr>
                </a:lvl4pPr>
                <a:lvl5pPr marL="2057400" indent="-228600">
                  <a:defRPr>
                    <a:solidFill>
                      <a:schemeClr val="tx1"/>
                    </a:solidFill>
                    <a:latin typeface="Calibri"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Calibri"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Calibri"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Calibri"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Calibri" pitchFamily="34" charset="0"/>
                    <a:ea typeface="ＭＳ Ｐゴシック" pitchFamily="34" charset="-128"/>
                  </a:defRPr>
                </a:lvl9pPr>
              </a:lstStyle>
              <a:p>
                <a:pPr defTabSz="457200" fontAlgn="base">
                  <a:spcBef>
                    <a:spcPct val="0"/>
                  </a:spcBef>
                  <a:spcAft>
                    <a:spcPct val="0"/>
                  </a:spcAft>
                </a:pPr>
                <a:r>
                  <a:rPr lang="da-DK" sz="2400" dirty="0">
                    <a:solidFill>
                      <a:srgbClr val="000000"/>
                    </a:solidFill>
                    <a:effectLst>
                      <a:outerShdw blurRad="38100" dist="38100" dir="2700000" algn="tl">
                        <a:srgbClr val="000000">
                          <a:alpha val="43137"/>
                        </a:srgbClr>
                      </a:outerShdw>
                    </a:effectLst>
                  </a:rPr>
                  <a:t>2</a:t>
                </a:r>
              </a:p>
            </p:txBody>
          </p:sp>
        </p:grpSp>
      </p:grpSp>
      <p:grpSp>
        <p:nvGrpSpPr>
          <p:cNvPr id="52" name="Group 51"/>
          <p:cNvGrpSpPr/>
          <p:nvPr/>
        </p:nvGrpSpPr>
        <p:grpSpPr>
          <a:xfrm>
            <a:off x="8796949" y="1527491"/>
            <a:ext cx="2781640" cy="3506861"/>
            <a:chOff x="8796949" y="1527491"/>
            <a:chExt cx="2781640" cy="3506861"/>
          </a:xfrm>
        </p:grpSpPr>
        <p:sp>
          <p:nvSpPr>
            <p:cNvPr id="10" name="Ellipse 98"/>
            <p:cNvSpPr/>
            <p:nvPr/>
          </p:nvSpPr>
          <p:spPr bwMode="auto">
            <a:xfrm>
              <a:off x="8796949" y="3600275"/>
              <a:ext cx="2748153" cy="551205"/>
            </a:xfrm>
            <a:prstGeom prst="ellipse">
              <a:avLst/>
            </a:prstGeom>
            <a:gradFill flip="none" rotWithShape="1">
              <a:gsLst>
                <a:gs pos="100000">
                  <a:srgbClr val="FFFFFF">
                    <a:alpha val="0"/>
                  </a:srgbClr>
                </a:gs>
                <a:gs pos="0">
                  <a:schemeClr val="tx1">
                    <a:lumMod val="50000"/>
                    <a:lumOff val="50000"/>
                  </a:schemeClr>
                </a:gs>
              </a:gsLst>
              <a:path path="shape">
                <a:fillToRect l="50000" t="50000" r="50000" b="50000"/>
              </a:path>
              <a:tileRect/>
            </a:gradFill>
            <a:ln w="9525" cap="flat" cmpd="sng" algn="ctr">
              <a:noFill/>
              <a:prstDash val="solid"/>
            </a:ln>
            <a:effectLst/>
          </p:spPr>
          <p:txBody>
            <a:bodyPr anchor="ctr"/>
            <a:lstStyle/>
            <a:p>
              <a:pPr algn="ctr" defTabSz="457200" fontAlgn="base">
                <a:spcBef>
                  <a:spcPct val="0"/>
                </a:spcBef>
                <a:spcAft>
                  <a:spcPct val="0"/>
                </a:spcAft>
                <a:defRPr/>
              </a:pPr>
              <a:endParaRPr lang="en-US">
                <a:solidFill>
                  <a:srgbClr val="FFFFFF"/>
                </a:solidFill>
                <a:ea typeface="ＭＳ Ｐゴシック" pitchFamily="-109" charset="-128"/>
                <a:cs typeface="ＭＳ Ｐゴシック" charset="0"/>
              </a:endParaRPr>
            </a:p>
          </p:txBody>
        </p:sp>
        <p:sp>
          <p:nvSpPr>
            <p:cNvPr id="27" name="Bent Arrow 52"/>
            <p:cNvSpPr>
              <a:spLocks noChangeArrowheads="1"/>
            </p:cNvSpPr>
            <p:nvPr/>
          </p:nvSpPr>
          <p:spPr bwMode="auto">
            <a:xfrm rot="16200000" flipV="1">
              <a:off x="8959035" y="3411638"/>
              <a:ext cx="1765743" cy="1479685"/>
            </a:xfrm>
            <a:custGeom>
              <a:avLst/>
              <a:gdLst>
                <a:gd name="T0" fmla="*/ 778950 w 1038600"/>
                <a:gd name="T1" fmla="*/ 0 h 1108618"/>
                <a:gd name="T2" fmla="*/ 778950 w 1038600"/>
                <a:gd name="T3" fmla="*/ 519300 h 1108618"/>
                <a:gd name="T4" fmla="*/ 129825 w 1038600"/>
                <a:gd name="T5" fmla="*/ 1108618 h 1108618"/>
                <a:gd name="T6" fmla="*/ 1038600 w 1038600"/>
                <a:gd name="T7" fmla="*/ 259650 h 1108618"/>
                <a:gd name="T8" fmla="*/ 0 60000 65536"/>
                <a:gd name="T9" fmla="*/ 0 60000 65536"/>
                <a:gd name="T10" fmla="*/ 0 60000 65536"/>
                <a:gd name="T11" fmla="*/ 0 60000 65536"/>
                <a:gd name="T12" fmla="*/ 0 w 1038600"/>
                <a:gd name="T13" fmla="*/ 0 h 1108618"/>
                <a:gd name="T14" fmla="*/ 1038600 w 1038600"/>
                <a:gd name="T15" fmla="*/ 1108618 h 1108618"/>
              </a:gdLst>
              <a:ahLst/>
              <a:cxnLst>
                <a:cxn ang="T8">
                  <a:pos x="T0" y="T1"/>
                </a:cxn>
                <a:cxn ang="T9">
                  <a:pos x="T2" y="T3"/>
                </a:cxn>
                <a:cxn ang="T10">
                  <a:pos x="T4" y="T5"/>
                </a:cxn>
                <a:cxn ang="T11">
                  <a:pos x="T6" y="T7"/>
                </a:cxn>
              </a:cxnLst>
              <a:rect l="T12" t="T13" r="T14" b="T15"/>
              <a:pathLst>
                <a:path w="1038600" h="1108618">
                  <a:moveTo>
                    <a:pt x="0" y="1108618"/>
                  </a:moveTo>
                  <a:lnTo>
                    <a:pt x="0" y="584213"/>
                  </a:lnTo>
                  <a:cubicBezTo>
                    <a:pt x="0" y="333261"/>
                    <a:pt x="203436" y="129825"/>
                    <a:pt x="454387" y="129825"/>
                  </a:cubicBezTo>
                  <a:lnTo>
                    <a:pt x="778950" y="129825"/>
                  </a:lnTo>
                  <a:lnTo>
                    <a:pt x="778950" y="0"/>
                  </a:lnTo>
                  <a:lnTo>
                    <a:pt x="1038600" y="259650"/>
                  </a:lnTo>
                  <a:lnTo>
                    <a:pt x="778950" y="519300"/>
                  </a:lnTo>
                  <a:lnTo>
                    <a:pt x="778950" y="389475"/>
                  </a:lnTo>
                  <a:lnTo>
                    <a:pt x="454388" y="389475"/>
                  </a:lnTo>
                  <a:lnTo>
                    <a:pt x="454387" y="389475"/>
                  </a:lnTo>
                  <a:cubicBezTo>
                    <a:pt x="346837" y="389475"/>
                    <a:pt x="259650" y="476662"/>
                    <a:pt x="259650" y="584212"/>
                  </a:cubicBezTo>
                  <a:lnTo>
                    <a:pt x="259650" y="1108618"/>
                  </a:lnTo>
                  <a:lnTo>
                    <a:pt x="0" y="1108618"/>
                  </a:lnTo>
                  <a:close/>
                </a:path>
              </a:pathLst>
            </a:custGeom>
            <a:solidFill>
              <a:schemeClr val="accent1"/>
            </a:solidFill>
            <a:ln>
              <a:noFill/>
            </a:ln>
            <a:effectLst>
              <a:outerShdw blurRad="63500" dist="23000" dir="143998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457200" fontAlgn="base">
                <a:spcBef>
                  <a:spcPct val="0"/>
                </a:spcBef>
                <a:spcAft>
                  <a:spcPct val="0"/>
                </a:spcAft>
              </a:pPr>
              <a:endParaRPr lang="en-US">
                <a:solidFill>
                  <a:prstClr val="black"/>
                </a:solidFill>
                <a:ea typeface="ＭＳ Ｐゴシック" pitchFamily="34" charset="-128"/>
              </a:endParaRPr>
            </a:p>
          </p:txBody>
        </p:sp>
        <p:sp>
          <p:nvSpPr>
            <p:cNvPr id="28" name="Rounded Rectangle 53"/>
            <p:cNvSpPr>
              <a:spLocks noChangeArrowheads="1"/>
            </p:cNvSpPr>
            <p:nvPr/>
          </p:nvSpPr>
          <p:spPr bwMode="auto">
            <a:xfrm>
              <a:off x="9122703" y="1527491"/>
              <a:ext cx="2135723" cy="1683967"/>
            </a:xfrm>
            <a:prstGeom prst="roundRect">
              <a:avLst>
                <a:gd name="adj" fmla="val 0"/>
              </a:avLst>
            </a:prstGeom>
            <a:gradFill rotWithShape="1">
              <a:gsLst>
                <a:gs pos="0">
                  <a:schemeClr val="bg1"/>
                </a:gs>
                <a:gs pos="100000">
                  <a:srgbClr val="F2F2F2"/>
                </a:gs>
              </a:gsLst>
              <a:lin ang="5400000"/>
            </a:gradFill>
            <a:ln w="63500">
              <a:solidFill>
                <a:schemeClr val="accent1"/>
              </a:solidFill>
              <a:round/>
              <a:headEnd/>
              <a:tailEnd/>
            </a:ln>
            <a:effectLst>
              <a:outerShdw dist="23000" dir="5400000" rotWithShape="0">
                <a:srgbClr val="808080">
                  <a:alpha val="34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29" name="Rektangel 76"/>
            <p:cNvSpPr>
              <a:spLocks noChangeArrowheads="1"/>
            </p:cNvSpPr>
            <p:nvPr/>
          </p:nvSpPr>
          <p:spPr bwMode="auto">
            <a:xfrm>
              <a:off x="9353647" y="1794658"/>
              <a:ext cx="17573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en-US" noProof="1" smtClean="0">
                  <a:solidFill>
                    <a:srgbClr val="000000"/>
                  </a:solidFill>
                  <a:effectLst>
                    <a:outerShdw blurRad="38100" dist="38100" dir="2700000" algn="tl">
                      <a:srgbClr val="000000">
                        <a:alpha val="43137"/>
                      </a:srgbClr>
                    </a:outerShdw>
                  </a:effectLst>
                  <a:ea typeface="ＭＳ Ｐゴシック" pitchFamily="34" charset="-128"/>
                  <a:cs typeface="Arial" pitchFamily="34" charset="0"/>
                </a:rPr>
                <a:t>Output Data for visualization in graphics</a:t>
              </a:r>
              <a:endParaRPr lang="da-DK" dirty="0">
                <a:solidFill>
                  <a:srgbClr val="000000"/>
                </a:solidFill>
                <a:effectLst>
                  <a:outerShdw blurRad="38100" dist="38100" dir="2700000" algn="tl">
                    <a:srgbClr val="000000">
                      <a:alpha val="43137"/>
                    </a:srgbClr>
                  </a:outerShdw>
                </a:effectLst>
                <a:ea typeface="ＭＳ Ｐゴシック" pitchFamily="34" charset="-128"/>
              </a:endParaRPr>
            </a:p>
            <a:p>
              <a:pPr fontAlgn="base">
                <a:spcBef>
                  <a:spcPct val="0"/>
                </a:spcBef>
                <a:spcAft>
                  <a:spcPct val="0"/>
                </a:spcAft>
              </a:pPr>
              <a:endParaRPr lang="da-DK" dirty="0">
                <a:solidFill>
                  <a:srgbClr val="000000"/>
                </a:solidFill>
                <a:ea typeface="ＭＳ Ｐゴシック" pitchFamily="34" charset="-128"/>
              </a:endParaRPr>
            </a:p>
          </p:txBody>
        </p:sp>
        <p:grpSp>
          <p:nvGrpSpPr>
            <p:cNvPr id="30" name="Group 55"/>
            <p:cNvGrpSpPr>
              <a:grpSpLocks/>
            </p:cNvGrpSpPr>
            <p:nvPr/>
          </p:nvGrpSpPr>
          <p:grpSpPr bwMode="auto">
            <a:xfrm>
              <a:off x="11008411" y="2516314"/>
              <a:ext cx="570178" cy="784885"/>
              <a:chOff x="2503019" y="1590322"/>
              <a:chExt cx="427192" cy="461665"/>
            </a:xfrm>
          </p:grpSpPr>
          <p:sp>
            <p:nvSpPr>
              <p:cNvPr id="31" name="Ellipse 53"/>
              <p:cNvSpPr>
                <a:spLocks noChangeArrowheads="1"/>
              </p:cNvSpPr>
              <p:nvPr/>
            </p:nvSpPr>
            <p:spPr bwMode="auto">
              <a:xfrm>
                <a:off x="2503019" y="1619827"/>
                <a:ext cx="417496" cy="417470"/>
              </a:xfrm>
              <a:prstGeom prst="ellipse">
                <a:avLst/>
              </a:prstGeom>
              <a:solidFill>
                <a:srgbClr val="FFC000">
                  <a:alpha val="62000"/>
                </a:srgbClr>
              </a:solidFill>
              <a:ln w="9525">
                <a:solidFill>
                  <a:srgbClr val="FFFFFF"/>
                </a:solidFill>
                <a:round/>
                <a:headEnd/>
                <a:tailEnd/>
              </a:ln>
              <a:effectLst>
                <a:outerShdw dist="38100" dir="2700000" algn="tl" rotWithShape="0">
                  <a:srgbClr val="808080">
                    <a:alpha val="39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32" name="Tekstboks 54"/>
              <p:cNvSpPr txBox="1">
                <a:spLocks noChangeArrowheads="1"/>
              </p:cNvSpPr>
              <p:nvPr/>
            </p:nvSpPr>
            <p:spPr bwMode="auto">
              <a:xfrm>
                <a:off x="2589553" y="1590322"/>
                <a:ext cx="340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ＭＳ Ｐゴシック" pitchFamily="34" charset="-128"/>
                  </a:defRPr>
                </a:lvl1pPr>
                <a:lvl2pPr marL="742950" indent="-285750">
                  <a:defRPr>
                    <a:solidFill>
                      <a:schemeClr val="tx1"/>
                    </a:solidFill>
                    <a:latin typeface="Calibri" pitchFamily="34" charset="0"/>
                    <a:ea typeface="ＭＳ Ｐゴシック" pitchFamily="34" charset="-128"/>
                  </a:defRPr>
                </a:lvl2pPr>
                <a:lvl3pPr marL="1143000" indent="-228600">
                  <a:defRPr>
                    <a:solidFill>
                      <a:schemeClr val="tx1"/>
                    </a:solidFill>
                    <a:latin typeface="Calibri" pitchFamily="34" charset="0"/>
                    <a:ea typeface="ＭＳ Ｐゴシック" pitchFamily="34" charset="-128"/>
                  </a:defRPr>
                </a:lvl3pPr>
                <a:lvl4pPr marL="1600200" indent="-228600">
                  <a:defRPr>
                    <a:solidFill>
                      <a:schemeClr val="tx1"/>
                    </a:solidFill>
                    <a:latin typeface="Calibri" pitchFamily="34" charset="0"/>
                    <a:ea typeface="ＭＳ Ｐゴシック" pitchFamily="34" charset="-128"/>
                  </a:defRPr>
                </a:lvl4pPr>
                <a:lvl5pPr marL="2057400" indent="-228600">
                  <a:defRPr>
                    <a:solidFill>
                      <a:schemeClr val="tx1"/>
                    </a:solidFill>
                    <a:latin typeface="Calibri"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Calibri"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Calibri"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Calibri"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Calibri" pitchFamily="34" charset="0"/>
                    <a:ea typeface="ＭＳ Ｐゴシック" pitchFamily="34" charset="-128"/>
                  </a:defRPr>
                </a:lvl9pPr>
              </a:lstStyle>
              <a:p>
                <a:pPr defTabSz="457200" fontAlgn="base">
                  <a:spcBef>
                    <a:spcPct val="0"/>
                  </a:spcBef>
                  <a:spcAft>
                    <a:spcPct val="0"/>
                  </a:spcAft>
                </a:pPr>
                <a:r>
                  <a:rPr lang="da-DK" sz="2400">
                    <a:solidFill>
                      <a:srgbClr val="000000"/>
                    </a:solidFill>
                  </a:rPr>
                  <a:t>5</a:t>
                </a:r>
              </a:p>
            </p:txBody>
          </p:sp>
        </p:grpSp>
      </p:grpSp>
      <p:grpSp>
        <p:nvGrpSpPr>
          <p:cNvPr id="46" name="Group 45"/>
          <p:cNvGrpSpPr/>
          <p:nvPr/>
        </p:nvGrpSpPr>
        <p:grpSpPr>
          <a:xfrm>
            <a:off x="308610" y="1559875"/>
            <a:ext cx="2748153" cy="2591605"/>
            <a:chOff x="308610" y="1559875"/>
            <a:chExt cx="2748153" cy="2591605"/>
          </a:xfrm>
        </p:grpSpPr>
        <p:sp>
          <p:nvSpPr>
            <p:cNvPr id="12" name="Rounded Rectangle 6"/>
            <p:cNvSpPr>
              <a:spLocks noChangeArrowheads="1"/>
            </p:cNvSpPr>
            <p:nvPr/>
          </p:nvSpPr>
          <p:spPr bwMode="auto">
            <a:xfrm>
              <a:off x="571337" y="1559875"/>
              <a:ext cx="2135723" cy="1683967"/>
            </a:xfrm>
            <a:prstGeom prst="roundRect">
              <a:avLst>
                <a:gd name="adj" fmla="val 0"/>
              </a:avLst>
            </a:prstGeom>
            <a:gradFill rotWithShape="1">
              <a:gsLst>
                <a:gs pos="0">
                  <a:schemeClr val="bg1"/>
                </a:gs>
                <a:gs pos="100000">
                  <a:srgbClr val="F2F2F2"/>
                </a:gs>
              </a:gsLst>
              <a:lin ang="5400000"/>
            </a:gradFill>
            <a:ln w="63500">
              <a:solidFill>
                <a:schemeClr val="accent1"/>
              </a:solidFill>
              <a:round/>
              <a:headEnd/>
              <a:tailEnd/>
            </a:ln>
            <a:effectLst>
              <a:outerShdw dist="23000" dir="5400000" rotWithShape="0">
                <a:srgbClr val="808080">
                  <a:alpha val="34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18" name="Ellipse 98"/>
            <p:cNvSpPr/>
            <p:nvPr/>
          </p:nvSpPr>
          <p:spPr bwMode="auto">
            <a:xfrm>
              <a:off x="308610" y="3600275"/>
              <a:ext cx="2748153" cy="551205"/>
            </a:xfrm>
            <a:prstGeom prst="ellipse">
              <a:avLst/>
            </a:prstGeom>
            <a:gradFill flip="none" rotWithShape="1">
              <a:gsLst>
                <a:gs pos="100000">
                  <a:srgbClr val="FFFFFF">
                    <a:alpha val="0"/>
                  </a:srgbClr>
                </a:gs>
                <a:gs pos="0">
                  <a:schemeClr val="tx1">
                    <a:lumMod val="50000"/>
                    <a:lumOff val="50000"/>
                  </a:schemeClr>
                </a:gs>
              </a:gsLst>
              <a:path path="shape">
                <a:fillToRect l="50000" t="50000" r="50000" b="50000"/>
              </a:path>
              <a:tileRect/>
            </a:gradFill>
            <a:ln w="9525" cap="flat" cmpd="sng" algn="ctr">
              <a:noFill/>
              <a:prstDash val="solid"/>
            </a:ln>
            <a:effectLst/>
          </p:spPr>
          <p:txBody>
            <a:bodyPr anchor="ctr"/>
            <a:lstStyle/>
            <a:p>
              <a:pPr algn="ctr" defTabSz="457200" fontAlgn="base">
                <a:spcBef>
                  <a:spcPct val="0"/>
                </a:spcBef>
                <a:spcAft>
                  <a:spcPct val="0"/>
                </a:spcAft>
                <a:defRPr/>
              </a:pPr>
              <a:endParaRPr lang="en-US">
                <a:solidFill>
                  <a:srgbClr val="FFFFFF"/>
                </a:solidFill>
                <a:ea typeface="ＭＳ Ｐゴシック" pitchFamily="-109" charset="-128"/>
                <a:cs typeface="ＭＳ Ｐゴシック" charset="0"/>
              </a:endParaRPr>
            </a:p>
          </p:txBody>
        </p:sp>
        <p:grpSp>
          <p:nvGrpSpPr>
            <p:cNvPr id="19" name="Group 28"/>
            <p:cNvGrpSpPr>
              <a:grpSpLocks/>
            </p:cNvGrpSpPr>
            <p:nvPr/>
          </p:nvGrpSpPr>
          <p:grpSpPr bwMode="auto">
            <a:xfrm>
              <a:off x="2389244" y="2690158"/>
              <a:ext cx="555118" cy="777673"/>
              <a:chOff x="2504103" y="1580627"/>
              <a:chExt cx="415909" cy="457423"/>
            </a:xfrm>
          </p:grpSpPr>
          <p:sp>
            <p:nvSpPr>
              <p:cNvPr id="39" name="Ellipse 53"/>
              <p:cNvSpPr>
                <a:spLocks noChangeArrowheads="1"/>
              </p:cNvSpPr>
              <p:nvPr/>
            </p:nvSpPr>
            <p:spPr bwMode="auto">
              <a:xfrm>
                <a:off x="2504103" y="1620580"/>
                <a:ext cx="415909" cy="417470"/>
              </a:xfrm>
              <a:prstGeom prst="ellipse">
                <a:avLst/>
              </a:prstGeom>
              <a:solidFill>
                <a:schemeClr val="accent4">
                  <a:alpha val="62000"/>
                </a:schemeClr>
              </a:solidFill>
              <a:ln w="9525">
                <a:solidFill>
                  <a:srgbClr val="FFFFFF"/>
                </a:solidFill>
                <a:round/>
                <a:headEnd/>
                <a:tailEnd/>
              </a:ln>
              <a:effectLst>
                <a:outerShdw dist="38100" dir="2700000" algn="tl" rotWithShape="0">
                  <a:srgbClr val="808080">
                    <a:alpha val="39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40" name="Tekstboks 54"/>
              <p:cNvSpPr txBox="1">
                <a:spLocks noChangeArrowheads="1"/>
              </p:cNvSpPr>
              <p:nvPr/>
            </p:nvSpPr>
            <p:spPr bwMode="auto">
              <a:xfrm>
                <a:off x="2561330" y="1580627"/>
                <a:ext cx="282865" cy="31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ＭＳ Ｐゴシック" pitchFamily="34" charset="-128"/>
                  </a:defRPr>
                </a:lvl1pPr>
                <a:lvl2pPr marL="742950" indent="-285750">
                  <a:defRPr>
                    <a:solidFill>
                      <a:schemeClr val="tx1"/>
                    </a:solidFill>
                    <a:latin typeface="Calibri" pitchFamily="34" charset="0"/>
                    <a:ea typeface="ＭＳ Ｐゴシック" pitchFamily="34" charset="-128"/>
                  </a:defRPr>
                </a:lvl2pPr>
                <a:lvl3pPr marL="1143000" indent="-228600">
                  <a:defRPr>
                    <a:solidFill>
                      <a:schemeClr val="tx1"/>
                    </a:solidFill>
                    <a:latin typeface="Calibri" pitchFamily="34" charset="0"/>
                    <a:ea typeface="ＭＳ Ｐゴシック" pitchFamily="34" charset="-128"/>
                  </a:defRPr>
                </a:lvl3pPr>
                <a:lvl4pPr marL="1600200" indent="-228600">
                  <a:defRPr>
                    <a:solidFill>
                      <a:schemeClr val="tx1"/>
                    </a:solidFill>
                    <a:latin typeface="Calibri" pitchFamily="34" charset="0"/>
                    <a:ea typeface="ＭＳ Ｐゴシック" pitchFamily="34" charset="-128"/>
                  </a:defRPr>
                </a:lvl4pPr>
                <a:lvl5pPr marL="2057400" indent="-228600">
                  <a:defRPr>
                    <a:solidFill>
                      <a:schemeClr val="tx1"/>
                    </a:solidFill>
                    <a:latin typeface="Calibri"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Calibri"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Calibri"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Calibri"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Calibri" pitchFamily="34" charset="0"/>
                    <a:ea typeface="ＭＳ Ｐゴシック" pitchFamily="34" charset="-128"/>
                  </a:defRPr>
                </a:lvl9pPr>
              </a:lstStyle>
              <a:p>
                <a:pPr defTabSz="457200" fontAlgn="base">
                  <a:spcBef>
                    <a:spcPct val="0"/>
                  </a:spcBef>
                  <a:spcAft>
                    <a:spcPct val="0"/>
                  </a:spcAft>
                </a:pPr>
                <a:r>
                  <a:rPr lang="da-DK" sz="2400" dirty="0">
                    <a:solidFill>
                      <a:srgbClr val="000000"/>
                    </a:solidFill>
                    <a:effectLst>
                      <a:outerShdw blurRad="38100" dist="38100" dir="2700000" algn="tl">
                        <a:srgbClr val="000000">
                          <a:alpha val="43137"/>
                        </a:srgbClr>
                      </a:outerShdw>
                    </a:effectLst>
                  </a:rPr>
                  <a:t>1</a:t>
                </a:r>
              </a:p>
            </p:txBody>
          </p:sp>
        </p:grpSp>
        <p:sp>
          <p:nvSpPr>
            <p:cNvPr id="9" name="Rektangel 76"/>
            <p:cNvSpPr>
              <a:spLocks noChangeArrowheads="1"/>
            </p:cNvSpPr>
            <p:nvPr/>
          </p:nvSpPr>
          <p:spPr bwMode="auto">
            <a:xfrm>
              <a:off x="578498" y="1886881"/>
              <a:ext cx="217174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en-US" noProof="1" smtClean="0">
                  <a:solidFill>
                    <a:srgbClr val="000000"/>
                  </a:solidFill>
                  <a:effectLst>
                    <a:outerShdw blurRad="38100" dist="38100" dir="2700000" algn="tl">
                      <a:srgbClr val="000000">
                        <a:alpha val="43137"/>
                      </a:srgbClr>
                    </a:outerShdw>
                  </a:effectLst>
                  <a:ea typeface="ＭＳ Ｐゴシック" pitchFamily="34" charset="-128"/>
                  <a:cs typeface="Arial" pitchFamily="34" charset="0"/>
                </a:rPr>
                <a:t>Pull last 12 hours of Cumulative Production Data</a:t>
              </a:r>
            </a:p>
            <a:p>
              <a:pPr fontAlgn="base">
                <a:spcBef>
                  <a:spcPct val="0"/>
                </a:spcBef>
                <a:spcAft>
                  <a:spcPct val="0"/>
                </a:spcAft>
              </a:pPr>
              <a:endParaRPr lang="en-US" noProof="1">
                <a:solidFill>
                  <a:srgbClr val="000000"/>
                </a:solidFill>
                <a:effectLst>
                  <a:outerShdw blurRad="38100" dist="38100" dir="2700000" algn="tl">
                    <a:srgbClr val="000000">
                      <a:alpha val="43137"/>
                    </a:srgbClr>
                  </a:outerShdw>
                </a:effectLst>
                <a:ea typeface="ＭＳ Ｐゴシック" pitchFamily="34" charset="-128"/>
                <a:cs typeface="Arial" pitchFamily="34" charset="0"/>
              </a:endParaRPr>
            </a:p>
            <a:p>
              <a:pPr fontAlgn="base">
                <a:spcBef>
                  <a:spcPct val="0"/>
                </a:spcBef>
                <a:spcAft>
                  <a:spcPct val="0"/>
                </a:spcAft>
              </a:pPr>
              <a:endParaRPr lang="da-DK" dirty="0">
                <a:solidFill>
                  <a:srgbClr val="000000"/>
                </a:solidFill>
                <a:effectLst>
                  <a:outerShdw blurRad="38100" dist="38100" dir="2700000" algn="tl">
                    <a:srgbClr val="000000">
                      <a:alpha val="43137"/>
                    </a:srgbClr>
                  </a:outerShdw>
                </a:effectLst>
                <a:ea typeface="ＭＳ Ｐゴシック" pitchFamily="34" charset="-128"/>
              </a:endParaRPr>
            </a:p>
            <a:p>
              <a:pPr fontAlgn="base">
                <a:spcBef>
                  <a:spcPct val="0"/>
                </a:spcBef>
                <a:spcAft>
                  <a:spcPct val="0"/>
                </a:spcAft>
              </a:pPr>
              <a:endParaRPr lang="da-DK" dirty="0">
                <a:solidFill>
                  <a:srgbClr val="000000"/>
                </a:solidFill>
                <a:ea typeface="ＭＳ Ｐゴシック" pitchFamily="34" charset="-128"/>
              </a:endParaRPr>
            </a:p>
          </p:txBody>
        </p:sp>
      </p:grpSp>
      <p:grpSp>
        <p:nvGrpSpPr>
          <p:cNvPr id="8" name="Group 7"/>
          <p:cNvGrpSpPr/>
          <p:nvPr/>
        </p:nvGrpSpPr>
        <p:grpSpPr>
          <a:xfrm>
            <a:off x="534596" y="3535756"/>
            <a:ext cx="2165045" cy="1448208"/>
            <a:chOff x="534596" y="3535756"/>
            <a:chExt cx="2165045" cy="1448208"/>
          </a:xfrm>
        </p:grpSpPr>
        <p:sp>
          <p:nvSpPr>
            <p:cNvPr id="3" name="TextBox 2"/>
            <p:cNvSpPr txBox="1"/>
            <p:nvPr/>
          </p:nvSpPr>
          <p:spPr>
            <a:xfrm>
              <a:off x="534596" y="4276078"/>
              <a:ext cx="2165045" cy="70788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b="1" u="sng" dirty="0" smtClean="0"/>
                <a:t>Manual Process</a:t>
              </a:r>
            </a:p>
            <a:p>
              <a:pPr marL="285750" indent="-285750">
                <a:buFont typeface="Arial" panose="020B0604020202020204" pitchFamily="34" charset="0"/>
                <a:buChar char="•"/>
              </a:pPr>
              <a:r>
                <a:rPr lang="en-US" sz="2000" b="1" dirty="0" smtClean="0">
                  <a:solidFill>
                    <a:schemeClr val="tx1"/>
                  </a:solidFill>
                </a:rPr>
                <a:t>+/-5 Minutes</a:t>
              </a:r>
            </a:p>
          </p:txBody>
        </p:sp>
        <p:sp>
          <p:nvSpPr>
            <p:cNvPr id="7" name="Down Arrow 6"/>
            <p:cNvSpPr/>
            <p:nvPr/>
          </p:nvSpPr>
          <p:spPr>
            <a:xfrm>
              <a:off x="1464844" y="3535756"/>
              <a:ext cx="362652" cy="49155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p:cNvGrpSpPr/>
          <p:nvPr/>
        </p:nvGrpSpPr>
        <p:grpSpPr>
          <a:xfrm>
            <a:off x="5116812" y="5162433"/>
            <a:ext cx="2916842" cy="677108"/>
            <a:chOff x="5116812" y="5162433"/>
            <a:chExt cx="2916842" cy="677108"/>
          </a:xfrm>
        </p:grpSpPr>
        <p:sp>
          <p:nvSpPr>
            <p:cNvPr id="55" name="TextBox 54"/>
            <p:cNvSpPr txBox="1"/>
            <p:nvPr/>
          </p:nvSpPr>
          <p:spPr>
            <a:xfrm>
              <a:off x="5868609" y="5162433"/>
              <a:ext cx="2165045" cy="67710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b="1" u="sng" dirty="0" smtClean="0"/>
                <a:t>Manual Process</a:t>
              </a:r>
            </a:p>
            <a:p>
              <a:pPr marL="285750" indent="-285750">
                <a:buFont typeface="Arial" panose="020B0604020202020204" pitchFamily="34" charset="0"/>
                <a:buChar char="•"/>
              </a:pPr>
              <a:r>
                <a:rPr lang="en-US" b="1" dirty="0" smtClean="0"/>
                <a:t>+/-</a:t>
              </a:r>
              <a:r>
                <a:rPr lang="en-US" b="1" dirty="0"/>
                <a:t>3</a:t>
              </a:r>
              <a:r>
                <a:rPr lang="en-US" b="1" dirty="0" smtClean="0"/>
                <a:t> Minutes</a:t>
              </a:r>
              <a:endParaRPr lang="en-US" b="1" dirty="0"/>
            </a:p>
          </p:txBody>
        </p:sp>
        <p:sp>
          <p:nvSpPr>
            <p:cNvPr id="56" name="Down Arrow 55"/>
            <p:cNvSpPr/>
            <p:nvPr/>
          </p:nvSpPr>
          <p:spPr>
            <a:xfrm rot="16200000">
              <a:off x="5181264" y="5269151"/>
              <a:ext cx="362652" cy="49155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p:cNvGrpSpPr/>
          <p:nvPr/>
        </p:nvGrpSpPr>
        <p:grpSpPr>
          <a:xfrm>
            <a:off x="7169194" y="2027412"/>
            <a:ext cx="2860002" cy="677108"/>
            <a:chOff x="5116812" y="5164670"/>
            <a:chExt cx="2860002" cy="677108"/>
          </a:xfrm>
        </p:grpSpPr>
        <p:sp>
          <p:nvSpPr>
            <p:cNvPr id="59" name="TextBox 58"/>
            <p:cNvSpPr txBox="1"/>
            <p:nvPr/>
          </p:nvSpPr>
          <p:spPr>
            <a:xfrm>
              <a:off x="5811769" y="5164670"/>
              <a:ext cx="2165045" cy="67710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b="1" u="sng" dirty="0" smtClean="0"/>
                <a:t>Manual Process</a:t>
              </a:r>
            </a:p>
            <a:p>
              <a:pPr marL="285750" indent="-285750">
                <a:buFont typeface="Arial" panose="020B0604020202020204" pitchFamily="34" charset="0"/>
                <a:buChar char="•"/>
              </a:pPr>
              <a:r>
                <a:rPr lang="en-US" b="1" dirty="0" smtClean="0"/>
                <a:t>+/-15 Minutes</a:t>
              </a:r>
              <a:endParaRPr lang="en-US" b="1" dirty="0"/>
            </a:p>
          </p:txBody>
        </p:sp>
        <p:sp>
          <p:nvSpPr>
            <p:cNvPr id="60" name="Down Arrow 59"/>
            <p:cNvSpPr/>
            <p:nvPr/>
          </p:nvSpPr>
          <p:spPr>
            <a:xfrm rot="16200000">
              <a:off x="5181264" y="5269151"/>
              <a:ext cx="362652" cy="49155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p:cNvGrpSpPr/>
          <p:nvPr/>
        </p:nvGrpSpPr>
        <p:grpSpPr>
          <a:xfrm>
            <a:off x="9273785" y="5137234"/>
            <a:ext cx="2914617" cy="677108"/>
            <a:chOff x="5241209" y="5143102"/>
            <a:chExt cx="2914617" cy="677108"/>
          </a:xfrm>
        </p:grpSpPr>
        <p:sp>
          <p:nvSpPr>
            <p:cNvPr id="66" name="TextBox 65"/>
            <p:cNvSpPr txBox="1"/>
            <p:nvPr/>
          </p:nvSpPr>
          <p:spPr>
            <a:xfrm>
              <a:off x="5990781" y="5143102"/>
              <a:ext cx="2165045" cy="67710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b="1" u="sng" dirty="0" smtClean="0"/>
                <a:t>Manual Process</a:t>
              </a:r>
            </a:p>
            <a:p>
              <a:pPr marL="285750" indent="-285750">
                <a:buFont typeface="Arial" panose="020B0604020202020204" pitchFamily="34" charset="0"/>
                <a:buChar char="•"/>
              </a:pPr>
              <a:r>
                <a:rPr lang="en-US" b="1" dirty="0" smtClean="0"/>
                <a:t>+/-5 minutes</a:t>
              </a:r>
            </a:p>
          </p:txBody>
        </p:sp>
        <p:sp>
          <p:nvSpPr>
            <p:cNvPr id="67" name="Down Arrow 66"/>
            <p:cNvSpPr/>
            <p:nvPr/>
          </p:nvSpPr>
          <p:spPr>
            <a:xfrm rot="16200000">
              <a:off x="5305661" y="5274115"/>
              <a:ext cx="362652" cy="49155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p:cNvGrpSpPr/>
          <p:nvPr/>
        </p:nvGrpSpPr>
        <p:grpSpPr>
          <a:xfrm>
            <a:off x="6965793" y="2819707"/>
            <a:ext cx="2387855" cy="3719205"/>
            <a:chOff x="6965793" y="2819707"/>
            <a:chExt cx="2387855" cy="3719205"/>
          </a:xfrm>
        </p:grpSpPr>
        <p:grpSp>
          <p:nvGrpSpPr>
            <p:cNvPr id="50" name="Group 49"/>
            <p:cNvGrpSpPr/>
            <p:nvPr/>
          </p:nvGrpSpPr>
          <p:grpSpPr>
            <a:xfrm>
              <a:off x="6965793" y="2819707"/>
              <a:ext cx="2135725" cy="3497914"/>
              <a:chOff x="6965793" y="2819707"/>
              <a:chExt cx="2135725" cy="3497914"/>
            </a:xfrm>
          </p:grpSpPr>
          <p:sp>
            <p:nvSpPr>
              <p:cNvPr id="22" name="Bent Arrow 42"/>
              <p:cNvSpPr>
                <a:spLocks noChangeArrowheads="1"/>
              </p:cNvSpPr>
              <p:nvPr/>
            </p:nvSpPr>
            <p:spPr bwMode="auto">
              <a:xfrm rot="5400000">
                <a:off x="6823230" y="2962736"/>
                <a:ext cx="1765743" cy="1479685"/>
              </a:xfrm>
              <a:custGeom>
                <a:avLst/>
                <a:gdLst>
                  <a:gd name="T0" fmla="*/ 778950 w 1038600"/>
                  <a:gd name="T1" fmla="*/ 0 h 1108618"/>
                  <a:gd name="T2" fmla="*/ 778950 w 1038600"/>
                  <a:gd name="T3" fmla="*/ 519300 h 1108618"/>
                  <a:gd name="T4" fmla="*/ 129825 w 1038600"/>
                  <a:gd name="T5" fmla="*/ 1108618 h 1108618"/>
                  <a:gd name="T6" fmla="*/ 1038600 w 1038600"/>
                  <a:gd name="T7" fmla="*/ 259650 h 1108618"/>
                  <a:gd name="T8" fmla="*/ 0 60000 65536"/>
                  <a:gd name="T9" fmla="*/ 0 60000 65536"/>
                  <a:gd name="T10" fmla="*/ 0 60000 65536"/>
                  <a:gd name="T11" fmla="*/ 0 60000 65536"/>
                  <a:gd name="T12" fmla="*/ 0 w 1038600"/>
                  <a:gd name="T13" fmla="*/ 0 h 1108618"/>
                  <a:gd name="T14" fmla="*/ 1038600 w 1038600"/>
                  <a:gd name="T15" fmla="*/ 1108618 h 1108618"/>
                </a:gdLst>
                <a:ahLst/>
                <a:cxnLst>
                  <a:cxn ang="T8">
                    <a:pos x="T0" y="T1"/>
                  </a:cxn>
                  <a:cxn ang="T9">
                    <a:pos x="T2" y="T3"/>
                  </a:cxn>
                  <a:cxn ang="T10">
                    <a:pos x="T4" y="T5"/>
                  </a:cxn>
                  <a:cxn ang="T11">
                    <a:pos x="T6" y="T7"/>
                  </a:cxn>
                </a:cxnLst>
                <a:rect l="T12" t="T13" r="T14" b="T15"/>
                <a:pathLst>
                  <a:path w="1038600" h="1108618">
                    <a:moveTo>
                      <a:pt x="0" y="1108618"/>
                    </a:moveTo>
                    <a:lnTo>
                      <a:pt x="0" y="584213"/>
                    </a:lnTo>
                    <a:cubicBezTo>
                      <a:pt x="0" y="333261"/>
                      <a:pt x="203436" y="129825"/>
                      <a:pt x="454387" y="129825"/>
                    </a:cubicBezTo>
                    <a:lnTo>
                      <a:pt x="778950" y="129825"/>
                    </a:lnTo>
                    <a:lnTo>
                      <a:pt x="778950" y="0"/>
                    </a:lnTo>
                    <a:lnTo>
                      <a:pt x="1038600" y="259650"/>
                    </a:lnTo>
                    <a:lnTo>
                      <a:pt x="778950" y="519300"/>
                    </a:lnTo>
                    <a:lnTo>
                      <a:pt x="778950" y="389475"/>
                    </a:lnTo>
                    <a:lnTo>
                      <a:pt x="454388" y="389475"/>
                    </a:lnTo>
                    <a:lnTo>
                      <a:pt x="454387" y="389475"/>
                    </a:lnTo>
                    <a:cubicBezTo>
                      <a:pt x="346837" y="389475"/>
                      <a:pt x="259650" y="476662"/>
                      <a:pt x="259650" y="584212"/>
                    </a:cubicBezTo>
                    <a:lnTo>
                      <a:pt x="259650" y="1108618"/>
                    </a:lnTo>
                    <a:lnTo>
                      <a:pt x="0" y="1108618"/>
                    </a:lnTo>
                    <a:close/>
                  </a:path>
                </a:pathLst>
              </a:custGeom>
              <a:solidFill>
                <a:schemeClr val="accent1"/>
              </a:solidFill>
              <a:ln>
                <a:noFill/>
              </a:ln>
              <a:effectLst>
                <a:outerShdw blurRad="63500" dist="23000" dir="143998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457200" fontAlgn="base">
                  <a:spcBef>
                    <a:spcPct val="0"/>
                  </a:spcBef>
                  <a:spcAft>
                    <a:spcPct val="0"/>
                  </a:spcAft>
                </a:pPr>
                <a:endParaRPr lang="en-US">
                  <a:solidFill>
                    <a:prstClr val="black"/>
                  </a:solidFill>
                  <a:ea typeface="ＭＳ Ｐゴシック" pitchFamily="34" charset="-128"/>
                </a:endParaRPr>
              </a:p>
            </p:txBody>
          </p:sp>
          <p:sp>
            <p:nvSpPr>
              <p:cNvPr id="23" name="Rounded Rectangle 43"/>
              <p:cNvSpPr>
                <a:spLocks noChangeArrowheads="1"/>
              </p:cNvSpPr>
              <p:nvPr/>
            </p:nvSpPr>
            <p:spPr bwMode="auto">
              <a:xfrm>
                <a:off x="6965793" y="4633654"/>
                <a:ext cx="2135723" cy="1683967"/>
              </a:xfrm>
              <a:prstGeom prst="roundRect">
                <a:avLst>
                  <a:gd name="adj" fmla="val 0"/>
                </a:avLst>
              </a:prstGeom>
              <a:gradFill rotWithShape="1">
                <a:gsLst>
                  <a:gs pos="0">
                    <a:schemeClr val="bg1"/>
                  </a:gs>
                  <a:gs pos="100000">
                    <a:srgbClr val="F2F2F2"/>
                  </a:gs>
                </a:gsLst>
                <a:lin ang="5400000"/>
              </a:gradFill>
              <a:ln w="63500">
                <a:solidFill>
                  <a:schemeClr val="accent1"/>
                </a:solidFill>
                <a:round/>
                <a:headEnd/>
                <a:tailEnd/>
              </a:ln>
              <a:effectLst>
                <a:outerShdw dist="23000" dir="5400000" rotWithShape="0">
                  <a:srgbClr val="808080">
                    <a:alpha val="34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24" name="Rektangel 76"/>
              <p:cNvSpPr>
                <a:spLocks noChangeArrowheads="1"/>
              </p:cNvSpPr>
              <p:nvPr/>
            </p:nvSpPr>
            <p:spPr bwMode="auto">
              <a:xfrm>
                <a:off x="7169194" y="4900823"/>
                <a:ext cx="1932324"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en-US" sz="1600" noProof="1" smtClean="0">
                    <a:solidFill>
                      <a:srgbClr val="000000"/>
                    </a:solidFill>
                    <a:effectLst>
                      <a:outerShdw blurRad="38100" dist="38100" dir="2700000" algn="tl">
                        <a:srgbClr val="000000">
                          <a:alpha val="43137"/>
                        </a:srgbClr>
                      </a:outerShdw>
                    </a:effectLst>
                    <a:ea typeface="ＭＳ Ｐゴシック" pitchFamily="34" charset="-128"/>
                    <a:cs typeface="Arial" pitchFamily="34" charset="0"/>
                  </a:rPr>
                  <a:t>Create Target &amp; Projections; Compare against thresholds</a:t>
                </a:r>
                <a:endParaRPr lang="da-DK" sz="1600" dirty="0">
                  <a:solidFill>
                    <a:srgbClr val="000000"/>
                  </a:solidFill>
                  <a:effectLst>
                    <a:outerShdw blurRad="38100" dist="38100" dir="2700000" algn="tl">
                      <a:srgbClr val="000000">
                        <a:alpha val="43137"/>
                      </a:srgbClr>
                    </a:outerShdw>
                  </a:effectLst>
                  <a:ea typeface="ＭＳ Ｐゴシック" pitchFamily="34" charset="-128"/>
                </a:endParaRPr>
              </a:p>
              <a:p>
                <a:pPr fontAlgn="base">
                  <a:spcBef>
                    <a:spcPct val="0"/>
                  </a:spcBef>
                  <a:spcAft>
                    <a:spcPct val="0"/>
                  </a:spcAft>
                </a:pPr>
                <a:endParaRPr lang="da-DK" dirty="0">
                  <a:solidFill>
                    <a:srgbClr val="000000"/>
                  </a:solidFill>
                  <a:ea typeface="ＭＳ Ｐゴシック" pitchFamily="34" charset="-128"/>
                </a:endParaRPr>
              </a:p>
            </p:txBody>
          </p:sp>
        </p:grpSp>
        <p:grpSp>
          <p:nvGrpSpPr>
            <p:cNvPr id="25" name="Group 45"/>
            <p:cNvGrpSpPr>
              <a:grpSpLocks/>
            </p:cNvGrpSpPr>
            <p:nvPr/>
          </p:nvGrpSpPr>
          <p:grpSpPr bwMode="auto">
            <a:xfrm>
              <a:off x="8796412" y="5763050"/>
              <a:ext cx="557236" cy="775862"/>
              <a:chOff x="2503125" y="1580627"/>
              <a:chExt cx="417496" cy="456358"/>
            </a:xfrm>
          </p:grpSpPr>
          <p:sp>
            <p:nvSpPr>
              <p:cNvPr id="35" name="Ellipse 53"/>
              <p:cNvSpPr>
                <a:spLocks noChangeArrowheads="1"/>
              </p:cNvSpPr>
              <p:nvPr/>
            </p:nvSpPr>
            <p:spPr bwMode="auto">
              <a:xfrm>
                <a:off x="2503125" y="1621102"/>
                <a:ext cx="417496" cy="415883"/>
              </a:xfrm>
              <a:prstGeom prst="ellipse">
                <a:avLst/>
              </a:prstGeom>
              <a:solidFill>
                <a:srgbClr val="FFC000">
                  <a:alpha val="62000"/>
                </a:srgbClr>
              </a:solidFill>
              <a:ln w="9525">
                <a:solidFill>
                  <a:srgbClr val="FFFFFF"/>
                </a:solidFill>
                <a:round/>
                <a:headEnd/>
                <a:tailEnd/>
              </a:ln>
              <a:effectLst>
                <a:outerShdw dist="38100" dir="2700000" algn="tl" rotWithShape="0">
                  <a:srgbClr val="808080">
                    <a:alpha val="39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36" name="Tekstboks 54"/>
              <p:cNvSpPr txBox="1">
                <a:spLocks noChangeArrowheads="1"/>
              </p:cNvSpPr>
              <p:nvPr/>
            </p:nvSpPr>
            <p:spPr bwMode="auto">
              <a:xfrm>
                <a:off x="2561330" y="1580627"/>
                <a:ext cx="282865" cy="31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ＭＳ Ｐゴシック" pitchFamily="34" charset="-128"/>
                  </a:defRPr>
                </a:lvl1pPr>
                <a:lvl2pPr marL="742950" indent="-285750">
                  <a:defRPr>
                    <a:solidFill>
                      <a:schemeClr val="tx1"/>
                    </a:solidFill>
                    <a:latin typeface="Calibri" pitchFamily="34" charset="0"/>
                    <a:ea typeface="ＭＳ Ｐゴシック" pitchFamily="34" charset="-128"/>
                  </a:defRPr>
                </a:lvl2pPr>
                <a:lvl3pPr marL="1143000" indent="-228600">
                  <a:defRPr>
                    <a:solidFill>
                      <a:schemeClr val="tx1"/>
                    </a:solidFill>
                    <a:latin typeface="Calibri" pitchFamily="34" charset="0"/>
                    <a:ea typeface="ＭＳ Ｐゴシック" pitchFamily="34" charset="-128"/>
                  </a:defRPr>
                </a:lvl3pPr>
                <a:lvl4pPr marL="1600200" indent="-228600">
                  <a:defRPr>
                    <a:solidFill>
                      <a:schemeClr val="tx1"/>
                    </a:solidFill>
                    <a:latin typeface="Calibri" pitchFamily="34" charset="0"/>
                    <a:ea typeface="ＭＳ Ｐゴシック" pitchFamily="34" charset="-128"/>
                  </a:defRPr>
                </a:lvl4pPr>
                <a:lvl5pPr marL="2057400" indent="-228600">
                  <a:defRPr>
                    <a:solidFill>
                      <a:schemeClr val="tx1"/>
                    </a:solidFill>
                    <a:latin typeface="Calibri"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Calibri"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Calibri"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Calibri"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Calibri" pitchFamily="34" charset="0"/>
                    <a:ea typeface="ＭＳ Ｐゴシック" pitchFamily="34" charset="-128"/>
                  </a:defRPr>
                </a:lvl9pPr>
              </a:lstStyle>
              <a:p>
                <a:pPr defTabSz="457200" fontAlgn="base">
                  <a:spcBef>
                    <a:spcPct val="0"/>
                  </a:spcBef>
                  <a:spcAft>
                    <a:spcPct val="0"/>
                  </a:spcAft>
                </a:pPr>
                <a:r>
                  <a:rPr lang="da-DK" sz="2400">
                    <a:solidFill>
                      <a:srgbClr val="000000"/>
                    </a:solidFill>
                    <a:effectLst>
                      <a:outerShdw blurRad="38100" dist="38100" dir="2700000" algn="tl">
                        <a:srgbClr val="000000">
                          <a:alpha val="43137"/>
                        </a:srgbClr>
                      </a:outerShdw>
                    </a:effectLst>
                  </a:rPr>
                  <a:t>4</a:t>
                </a:r>
              </a:p>
            </p:txBody>
          </p:sp>
        </p:grpSp>
      </p:grpSp>
      <p:grpSp>
        <p:nvGrpSpPr>
          <p:cNvPr id="49" name="Group 48"/>
          <p:cNvGrpSpPr/>
          <p:nvPr/>
        </p:nvGrpSpPr>
        <p:grpSpPr>
          <a:xfrm>
            <a:off x="4524280" y="1527491"/>
            <a:ext cx="2748734" cy="3506861"/>
            <a:chOff x="4524280" y="1527491"/>
            <a:chExt cx="2748734" cy="3506861"/>
          </a:xfrm>
        </p:grpSpPr>
        <p:sp>
          <p:nvSpPr>
            <p:cNvPr id="17" name="Ellipse 98"/>
            <p:cNvSpPr/>
            <p:nvPr/>
          </p:nvSpPr>
          <p:spPr bwMode="auto">
            <a:xfrm>
              <a:off x="4524280" y="3600275"/>
              <a:ext cx="2748153" cy="551205"/>
            </a:xfrm>
            <a:prstGeom prst="ellipse">
              <a:avLst/>
            </a:prstGeom>
            <a:gradFill flip="none" rotWithShape="1">
              <a:gsLst>
                <a:gs pos="100000">
                  <a:srgbClr val="FFFFFF">
                    <a:alpha val="0"/>
                  </a:srgbClr>
                </a:gs>
                <a:gs pos="0">
                  <a:schemeClr val="tx1">
                    <a:lumMod val="50000"/>
                    <a:lumOff val="50000"/>
                  </a:schemeClr>
                </a:gs>
              </a:gsLst>
              <a:path path="shape">
                <a:fillToRect l="50000" t="50000" r="50000" b="50000"/>
              </a:path>
              <a:tileRect/>
            </a:gradFill>
            <a:ln w="9525" cap="flat" cmpd="sng" algn="ctr">
              <a:noFill/>
              <a:prstDash val="solid"/>
            </a:ln>
            <a:effectLst/>
          </p:spPr>
          <p:txBody>
            <a:bodyPr anchor="ctr"/>
            <a:lstStyle/>
            <a:p>
              <a:pPr algn="ctr" defTabSz="457200" fontAlgn="base">
                <a:spcBef>
                  <a:spcPct val="0"/>
                </a:spcBef>
                <a:spcAft>
                  <a:spcPct val="0"/>
                </a:spcAft>
                <a:defRPr/>
              </a:pPr>
              <a:endParaRPr lang="en-US">
                <a:solidFill>
                  <a:srgbClr val="FFFFFF"/>
                </a:solidFill>
                <a:ea typeface="ＭＳ Ｐゴシック" pitchFamily="-109" charset="-128"/>
                <a:cs typeface="ＭＳ Ｐゴシック" charset="0"/>
              </a:endParaRPr>
            </a:p>
          </p:txBody>
        </p:sp>
        <p:grpSp>
          <p:nvGrpSpPr>
            <p:cNvPr id="48" name="Group 47"/>
            <p:cNvGrpSpPr/>
            <p:nvPr/>
          </p:nvGrpSpPr>
          <p:grpSpPr>
            <a:xfrm>
              <a:off x="4794053" y="1527491"/>
              <a:ext cx="2478961" cy="3506861"/>
              <a:chOff x="4794053" y="1527491"/>
              <a:chExt cx="2478961" cy="3506861"/>
            </a:xfrm>
          </p:grpSpPr>
          <p:sp>
            <p:nvSpPr>
              <p:cNvPr id="14" name="Rounded Rectangle 10"/>
              <p:cNvSpPr>
                <a:spLocks noChangeArrowheads="1"/>
              </p:cNvSpPr>
              <p:nvPr/>
            </p:nvSpPr>
            <p:spPr bwMode="auto">
              <a:xfrm>
                <a:off x="4830070" y="1527491"/>
                <a:ext cx="2135723" cy="1683967"/>
              </a:xfrm>
              <a:prstGeom prst="roundRect">
                <a:avLst>
                  <a:gd name="adj" fmla="val 0"/>
                </a:avLst>
              </a:prstGeom>
              <a:gradFill rotWithShape="1">
                <a:gsLst>
                  <a:gs pos="0">
                    <a:schemeClr val="bg1"/>
                  </a:gs>
                  <a:gs pos="100000">
                    <a:srgbClr val="F2F2F2"/>
                  </a:gs>
                </a:gsLst>
                <a:lin ang="5400000"/>
              </a:gradFill>
              <a:ln w="63500">
                <a:solidFill>
                  <a:schemeClr val="accent1"/>
                </a:solidFill>
                <a:round/>
                <a:headEnd/>
                <a:tailEnd/>
              </a:ln>
              <a:effectLst>
                <a:outerShdw dist="23000" dir="5400000" rotWithShape="0">
                  <a:srgbClr val="808080">
                    <a:alpha val="34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16" name="Rektangel 76"/>
              <p:cNvSpPr>
                <a:spLocks noChangeArrowheads="1"/>
              </p:cNvSpPr>
              <p:nvPr/>
            </p:nvSpPr>
            <p:spPr bwMode="auto">
              <a:xfrm>
                <a:off x="4794053" y="1794658"/>
                <a:ext cx="217174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base">
                  <a:spcBef>
                    <a:spcPct val="0"/>
                  </a:spcBef>
                  <a:spcAft>
                    <a:spcPct val="0"/>
                  </a:spcAft>
                </a:pPr>
                <a:endParaRPr lang="en-US" noProof="1">
                  <a:solidFill>
                    <a:srgbClr val="000000"/>
                  </a:solidFill>
                  <a:effectLst>
                    <a:outerShdw blurRad="38100" dist="38100" dir="2700000" algn="tl">
                      <a:srgbClr val="000000">
                        <a:alpha val="43137"/>
                      </a:srgbClr>
                    </a:outerShdw>
                  </a:effectLst>
                  <a:ea typeface="ＭＳ Ｐゴシック" pitchFamily="34" charset="-128"/>
                  <a:cs typeface="Arial" pitchFamily="34" charset="0"/>
                </a:endParaRPr>
              </a:p>
              <a:p>
                <a:pPr algn="ctr" fontAlgn="base">
                  <a:spcBef>
                    <a:spcPct val="0"/>
                  </a:spcBef>
                  <a:spcAft>
                    <a:spcPct val="0"/>
                  </a:spcAft>
                </a:pPr>
                <a:r>
                  <a:rPr lang="en-US" noProof="1" smtClean="0">
                    <a:solidFill>
                      <a:srgbClr val="000000"/>
                    </a:solidFill>
                    <a:effectLst>
                      <a:outerShdw blurRad="38100" dist="38100" dir="2700000" algn="tl">
                        <a:srgbClr val="000000">
                          <a:alpha val="43137"/>
                        </a:srgbClr>
                      </a:outerShdw>
                    </a:effectLst>
                    <a:ea typeface="ＭＳ Ｐゴシック" pitchFamily="34" charset="-128"/>
                    <a:cs typeface="Arial" pitchFamily="34" charset="0"/>
                  </a:rPr>
                  <a:t>Data Q/C</a:t>
                </a:r>
                <a:endParaRPr lang="da-DK" dirty="0">
                  <a:solidFill>
                    <a:srgbClr val="000000"/>
                  </a:solidFill>
                  <a:effectLst>
                    <a:outerShdw blurRad="38100" dist="38100" dir="2700000" algn="tl">
                      <a:srgbClr val="000000">
                        <a:alpha val="43137"/>
                      </a:srgbClr>
                    </a:outerShdw>
                  </a:effectLst>
                  <a:ea typeface="ＭＳ Ｐゴシック" pitchFamily="34" charset="-128"/>
                </a:endParaRPr>
              </a:p>
              <a:p>
                <a:pPr fontAlgn="base">
                  <a:spcBef>
                    <a:spcPct val="0"/>
                  </a:spcBef>
                  <a:spcAft>
                    <a:spcPct val="0"/>
                  </a:spcAft>
                </a:pPr>
                <a:endParaRPr lang="da-DK" dirty="0">
                  <a:solidFill>
                    <a:srgbClr val="000000"/>
                  </a:solidFill>
                  <a:ea typeface="ＭＳ Ｐゴシック" pitchFamily="34" charset="-128"/>
                </a:endParaRPr>
              </a:p>
            </p:txBody>
          </p:sp>
          <p:grpSp>
            <p:nvGrpSpPr>
              <p:cNvPr id="26" name="Group 48"/>
              <p:cNvGrpSpPr>
                <a:grpSpLocks/>
              </p:cNvGrpSpPr>
              <p:nvPr/>
            </p:nvGrpSpPr>
            <p:grpSpPr bwMode="auto">
              <a:xfrm>
                <a:off x="6715778" y="2499831"/>
                <a:ext cx="557236" cy="776393"/>
                <a:chOff x="2503455" y="1580627"/>
                <a:chExt cx="417496" cy="456670"/>
              </a:xfrm>
            </p:grpSpPr>
            <p:sp>
              <p:nvSpPr>
                <p:cNvPr id="33" name="Ellipse 53"/>
                <p:cNvSpPr>
                  <a:spLocks noChangeArrowheads="1"/>
                </p:cNvSpPr>
                <p:nvPr/>
              </p:nvSpPr>
              <p:spPr bwMode="auto">
                <a:xfrm>
                  <a:off x="2503455" y="1619827"/>
                  <a:ext cx="417496" cy="417470"/>
                </a:xfrm>
                <a:prstGeom prst="ellipse">
                  <a:avLst/>
                </a:prstGeom>
                <a:solidFill>
                  <a:srgbClr val="FFC000">
                    <a:alpha val="62000"/>
                  </a:srgbClr>
                </a:solidFill>
                <a:ln w="9525">
                  <a:solidFill>
                    <a:srgbClr val="FFFFFF"/>
                  </a:solidFill>
                  <a:round/>
                  <a:headEnd/>
                  <a:tailEnd/>
                </a:ln>
                <a:effectLst>
                  <a:outerShdw dist="38100" dir="2700000" algn="tl" rotWithShape="0">
                    <a:srgbClr val="808080">
                      <a:alpha val="39998"/>
                    </a:srgbClr>
                  </a:outerShdw>
                </a:effectLst>
              </p:spPr>
              <p:txBody>
                <a:bodyPr anchor="ctr"/>
                <a:lstStyle/>
                <a:p>
                  <a:pPr algn="ctr" defTabSz="457200" fontAlgn="base">
                    <a:spcBef>
                      <a:spcPct val="0"/>
                    </a:spcBef>
                    <a:spcAft>
                      <a:spcPct val="0"/>
                    </a:spcAft>
                  </a:pPr>
                  <a:endParaRPr lang="en-US">
                    <a:solidFill>
                      <a:srgbClr val="FFFFFF"/>
                    </a:solidFill>
                    <a:ea typeface="ＭＳ Ｐゴシック" pitchFamily="34" charset="-128"/>
                  </a:endParaRPr>
                </a:p>
              </p:txBody>
            </p:sp>
            <p:sp>
              <p:nvSpPr>
                <p:cNvPr id="34" name="Tekstboks 54"/>
                <p:cNvSpPr txBox="1">
                  <a:spLocks noChangeArrowheads="1"/>
                </p:cNvSpPr>
                <p:nvPr/>
              </p:nvSpPr>
              <p:spPr bwMode="auto">
                <a:xfrm>
                  <a:off x="2561330" y="1580627"/>
                  <a:ext cx="282865" cy="31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ＭＳ Ｐゴシック" pitchFamily="34" charset="-128"/>
                    </a:defRPr>
                  </a:lvl1pPr>
                  <a:lvl2pPr marL="742950" indent="-285750">
                    <a:defRPr>
                      <a:solidFill>
                        <a:schemeClr val="tx1"/>
                      </a:solidFill>
                      <a:latin typeface="Calibri" pitchFamily="34" charset="0"/>
                      <a:ea typeface="ＭＳ Ｐゴシック" pitchFamily="34" charset="-128"/>
                    </a:defRPr>
                  </a:lvl2pPr>
                  <a:lvl3pPr marL="1143000" indent="-228600">
                    <a:defRPr>
                      <a:solidFill>
                        <a:schemeClr val="tx1"/>
                      </a:solidFill>
                      <a:latin typeface="Calibri" pitchFamily="34" charset="0"/>
                      <a:ea typeface="ＭＳ Ｐゴシック" pitchFamily="34" charset="-128"/>
                    </a:defRPr>
                  </a:lvl3pPr>
                  <a:lvl4pPr marL="1600200" indent="-228600">
                    <a:defRPr>
                      <a:solidFill>
                        <a:schemeClr val="tx1"/>
                      </a:solidFill>
                      <a:latin typeface="Calibri" pitchFamily="34" charset="0"/>
                      <a:ea typeface="ＭＳ Ｐゴシック" pitchFamily="34" charset="-128"/>
                    </a:defRPr>
                  </a:lvl4pPr>
                  <a:lvl5pPr marL="2057400" indent="-228600">
                    <a:defRPr>
                      <a:solidFill>
                        <a:schemeClr val="tx1"/>
                      </a:solidFill>
                      <a:latin typeface="Calibri" pitchFamily="34" charset="0"/>
                      <a:ea typeface="ＭＳ Ｐゴシック" pitchFamily="34" charset="-128"/>
                    </a:defRPr>
                  </a:lvl5pPr>
                  <a:lvl6pPr marL="2514600" indent="-228600" defTabSz="457200" fontAlgn="base">
                    <a:spcBef>
                      <a:spcPct val="0"/>
                    </a:spcBef>
                    <a:spcAft>
                      <a:spcPct val="0"/>
                    </a:spcAft>
                    <a:defRPr>
                      <a:solidFill>
                        <a:schemeClr val="tx1"/>
                      </a:solidFill>
                      <a:latin typeface="Calibri" pitchFamily="34" charset="0"/>
                      <a:ea typeface="ＭＳ Ｐゴシック" pitchFamily="34" charset="-128"/>
                    </a:defRPr>
                  </a:lvl6pPr>
                  <a:lvl7pPr marL="2971800" indent="-228600" defTabSz="457200" fontAlgn="base">
                    <a:spcBef>
                      <a:spcPct val="0"/>
                    </a:spcBef>
                    <a:spcAft>
                      <a:spcPct val="0"/>
                    </a:spcAft>
                    <a:defRPr>
                      <a:solidFill>
                        <a:schemeClr val="tx1"/>
                      </a:solidFill>
                      <a:latin typeface="Calibri" pitchFamily="34" charset="0"/>
                      <a:ea typeface="ＭＳ Ｐゴシック" pitchFamily="34" charset="-128"/>
                    </a:defRPr>
                  </a:lvl7pPr>
                  <a:lvl8pPr marL="3429000" indent="-228600" defTabSz="457200" fontAlgn="base">
                    <a:spcBef>
                      <a:spcPct val="0"/>
                    </a:spcBef>
                    <a:spcAft>
                      <a:spcPct val="0"/>
                    </a:spcAft>
                    <a:defRPr>
                      <a:solidFill>
                        <a:schemeClr val="tx1"/>
                      </a:solidFill>
                      <a:latin typeface="Calibri" pitchFamily="34" charset="0"/>
                      <a:ea typeface="ＭＳ Ｐゴシック" pitchFamily="34" charset="-128"/>
                    </a:defRPr>
                  </a:lvl8pPr>
                  <a:lvl9pPr marL="3886200" indent="-228600" defTabSz="457200" fontAlgn="base">
                    <a:spcBef>
                      <a:spcPct val="0"/>
                    </a:spcBef>
                    <a:spcAft>
                      <a:spcPct val="0"/>
                    </a:spcAft>
                    <a:defRPr>
                      <a:solidFill>
                        <a:schemeClr val="tx1"/>
                      </a:solidFill>
                      <a:latin typeface="Calibri" pitchFamily="34" charset="0"/>
                      <a:ea typeface="ＭＳ Ｐゴシック" pitchFamily="34" charset="-128"/>
                    </a:defRPr>
                  </a:lvl9pPr>
                </a:lstStyle>
                <a:p>
                  <a:pPr defTabSz="457200" fontAlgn="base">
                    <a:spcBef>
                      <a:spcPct val="0"/>
                    </a:spcBef>
                    <a:spcAft>
                      <a:spcPct val="0"/>
                    </a:spcAft>
                  </a:pPr>
                  <a:r>
                    <a:rPr lang="da-DK" sz="2400">
                      <a:solidFill>
                        <a:srgbClr val="000000"/>
                      </a:solidFill>
                      <a:effectLst>
                        <a:outerShdw blurRad="38100" dist="38100" dir="2700000" algn="tl">
                          <a:srgbClr val="000000">
                            <a:alpha val="43137"/>
                          </a:srgbClr>
                        </a:outerShdw>
                      </a:effectLst>
                    </a:rPr>
                    <a:t>3</a:t>
                  </a:r>
                </a:p>
              </p:txBody>
            </p:sp>
          </p:grpSp>
          <p:sp>
            <p:nvSpPr>
              <p:cNvPr id="21" name="Bent Arrow 41"/>
              <p:cNvSpPr>
                <a:spLocks noChangeArrowheads="1"/>
              </p:cNvSpPr>
              <p:nvPr/>
            </p:nvSpPr>
            <p:spPr bwMode="auto">
              <a:xfrm rot="16200000" flipV="1">
                <a:off x="4700639" y="3411638"/>
                <a:ext cx="1765743" cy="1479685"/>
              </a:xfrm>
              <a:custGeom>
                <a:avLst/>
                <a:gdLst>
                  <a:gd name="T0" fmla="*/ 778950 w 1038600"/>
                  <a:gd name="T1" fmla="*/ 0 h 1108618"/>
                  <a:gd name="T2" fmla="*/ 778950 w 1038600"/>
                  <a:gd name="T3" fmla="*/ 519300 h 1108618"/>
                  <a:gd name="T4" fmla="*/ 129825 w 1038600"/>
                  <a:gd name="T5" fmla="*/ 1108618 h 1108618"/>
                  <a:gd name="T6" fmla="*/ 1038600 w 1038600"/>
                  <a:gd name="T7" fmla="*/ 259650 h 1108618"/>
                  <a:gd name="T8" fmla="*/ 0 60000 65536"/>
                  <a:gd name="T9" fmla="*/ 0 60000 65536"/>
                  <a:gd name="T10" fmla="*/ 0 60000 65536"/>
                  <a:gd name="T11" fmla="*/ 0 60000 65536"/>
                  <a:gd name="T12" fmla="*/ 0 w 1038600"/>
                  <a:gd name="T13" fmla="*/ 0 h 1108618"/>
                  <a:gd name="T14" fmla="*/ 1038600 w 1038600"/>
                  <a:gd name="T15" fmla="*/ 1108618 h 1108618"/>
                </a:gdLst>
                <a:ahLst/>
                <a:cxnLst>
                  <a:cxn ang="T8">
                    <a:pos x="T0" y="T1"/>
                  </a:cxn>
                  <a:cxn ang="T9">
                    <a:pos x="T2" y="T3"/>
                  </a:cxn>
                  <a:cxn ang="T10">
                    <a:pos x="T4" y="T5"/>
                  </a:cxn>
                  <a:cxn ang="T11">
                    <a:pos x="T6" y="T7"/>
                  </a:cxn>
                </a:cxnLst>
                <a:rect l="T12" t="T13" r="T14" b="T15"/>
                <a:pathLst>
                  <a:path w="1038600" h="1108618">
                    <a:moveTo>
                      <a:pt x="0" y="1108618"/>
                    </a:moveTo>
                    <a:lnTo>
                      <a:pt x="0" y="584213"/>
                    </a:lnTo>
                    <a:cubicBezTo>
                      <a:pt x="0" y="333261"/>
                      <a:pt x="203436" y="129825"/>
                      <a:pt x="454387" y="129825"/>
                    </a:cubicBezTo>
                    <a:lnTo>
                      <a:pt x="778950" y="129825"/>
                    </a:lnTo>
                    <a:lnTo>
                      <a:pt x="778950" y="0"/>
                    </a:lnTo>
                    <a:lnTo>
                      <a:pt x="1038600" y="259650"/>
                    </a:lnTo>
                    <a:lnTo>
                      <a:pt x="778950" y="519300"/>
                    </a:lnTo>
                    <a:lnTo>
                      <a:pt x="778950" y="389475"/>
                    </a:lnTo>
                    <a:lnTo>
                      <a:pt x="454388" y="389475"/>
                    </a:lnTo>
                    <a:lnTo>
                      <a:pt x="454387" y="389475"/>
                    </a:lnTo>
                    <a:cubicBezTo>
                      <a:pt x="346837" y="389475"/>
                      <a:pt x="259650" y="476662"/>
                      <a:pt x="259650" y="584212"/>
                    </a:cubicBezTo>
                    <a:lnTo>
                      <a:pt x="259650" y="1108618"/>
                    </a:lnTo>
                    <a:lnTo>
                      <a:pt x="0" y="1108618"/>
                    </a:lnTo>
                    <a:close/>
                  </a:path>
                </a:pathLst>
              </a:custGeom>
              <a:solidFill>
                <a:schemeClr val="accent1"/>
              </a:solidFill>
              <a:ln>
                <a:noFill/>
              </a:ln>
              <a:effectLst>
                <a:outerShdw blurRad="63500" dist="23000" dir="143998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defTabSz="457200" fontAlgn="base">
                  <a:spcBef>
                    <a:spcPct val="0"/>
                  </a:spcBef>
                  <a:spcAft>
                    <a:spcPct val="0"/>
                  </a:spcAft>
                </a:pPr>
                <a:endParaRPr lang="en-US">
                  <a:solidFill>
                    <a:prstClr val="black"/>
                  </a:solidFill>
                  <a:ea typeface="ＭＳ Ｐゴシック" pitchFamily="34" charset="-128"/>
                </a:endParaRPr>
              </a:p>
            </p:txBody>
          </p:sp>
        </p:grpSp>
      </p:grpSp>
      <p:sp>
        <p:nvSpPr>
          <p:cNvPr id="68" name="TextBox 67"/>
          <p:cNvSpPr txBox="1"/>
          <p:nvPr/>
        </p:nvSpPr>
        <p:spPr>
          <a:xfrm>
            <a:off x="1646170" y="1629283"/>
            <a:ext cx="8748154" cy="427809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3200" u="sng" dirty="0" smtClean="0">
                <a:effectLst>
                  <a:outerShdw blurRad="38100" dist="38100" dir="2700000" algn="tl">
                    <a:srgbClr val="000000">
                      <a:alpha val="43137"/>
                    </a:srgbClr>
                  </a:outerShdw>
                </a:effectLst>
              </a:rPr>
              <a:t>Comparison Statistics</a:t>
            </a:r>
          </a:p>
          <a:p>
            <a:endParaRPr lang="en-US" sz="2400" b="1" dirty="0" smtClean="0">
              <a:solidFill>
                <a:srgbClr val="00B050"/>
              </a:solidFill>
            </a:endParaRPr>
          </a:p>
          <a:p>
            <a:endParaRPr lang="en-US" sz="2400" b="1" dirty="0" smtClean="0">
              <a:solidFill>
                <a:srgbClr val="00B050"/>
              </a:solidFill>
            </a:endParaRPr>
          </a:p>
          <a:p>
            <a:pPr marL="457200" indent="-457200">
              <a:buFont typeface="Arial" panose="020B0604020202020204" pitchFamily="34" charset="0"/>
              <a:buChar char="•"/>
            </a:pPr>
            <a:r>
              <a:rPr lang="en-US" sz="2400" dirty="0" smtClean="0"/>
              <a:t>Workflow duration for 1 Well = </a:t>
            </a:r>
            <a:r>
              <a:rPr lang="en-US" sz="2400" b="1" dirty="0" smtClean="0">
                <a:solidFill>
                  <a:srgbClr val="00B050"/>
                </a:solidFill>
              </a:rPr>
              <a:t>+/-0.5 Seconds</a:t>
            </a:r>
          </a:p>
          <a:p>
            <a:pPr marL="914400" lvl="1" indent="-457200">
              <a:buFont typeface="Arial" panose="020B0604020202020204" pitchFamily="34" charset="0"/>
              <a:buChar char="•"/>
            </a:pPr>
            <a:r>
              <a:rPr lang="en-US" sz="2400" dirty="0" smtClean="0"/>
              <a:t>Manual duration for 1 well = </a:t>
            </a:r>
            <a:r>
              <a:rPr lang="en-US" sz="2400" b="1" dirty="0" smtClean="0">
                <a:solidFill>
                  <a:srgbClr val="FF0000"/>
                </a:solidFill>
              </a:rPr>
              <a:t>+/-30 Minutes</a:t>
            </a:r>
          </a:p>
          <a:p>
            <a:endParaRPr lang="en-US" sz="2400" b="1" dirty="0" smtClean="0">
              <a:solidFill>
                <a:srgbClr val="00B050"/>
              </a:solidFill>
            </a:endParaRPr>
          </a:p>
          <a:p>
            <a:endParaRPr lang="en-US" sz="2400" b="1" dirty="0" smtClean="0">
              <a:solidFill>
                <a:srgbClr val="00B050"/>
              </a:solidFill>
            </a:endParaRPr>
          </a:p>
          <a:p>
            <a:pPr marL="457200" indent="-457200">
              <a:buFont typeface="Arial" panose="020B0604020202020204" pitchFamily="34" charset="0"/>
              <a:buChar char="•"/>
            </a:pPr>
            <a:r>
              <a:rPr lang="en-US" sz="2400" dirty="0" smtClean="0"/>
              <a:t>Wells workflow </a:t>
            </a:r>
            <a:r>
              <a:rPr lang="en-US" sz="2400" dirty="0"/>
              <a:t>c</a:t>
            </a:r>
            <a:r>
              <a:rPr lang="en-US" sz="2400" dirty="0" smtClean="0"/>
              <a:t>apable of analyzing </a:t>
            </a:r>
            <a:r>
              <a:rPr lang="en-US" sz="2400" dirty="0"/>
              <a:t>p</a:t>
            </a:r>
            <a:r>
              <a:rPr lang="en-US" sz="2400" dirty="0" smtClean="0"/>
              <a:t>er </a:t>
            </a:r>
            <a:r>
              <a:rPr lang="en-US" sz="2400" dirty="0"/>
              <a:t>d</a:t>
            </a:r>
            <a:r>
              <a:rPr lang="en-US" sz="2400" dirty="0" smtClean="0"/>
              <a:t>ay = </a:t>
            </a:r>
            <a:r>
              <a:rPr lang="en-US" sz="2400" b="1" dirty="0" smtClean="0">
                <a:solidFill>
                  <a:srgbClr val="FFC000"/>
                </a:solidFill>
              </a:rPr>
              <a:t>+/-170k Wells</a:t>
            </a:r>
          </a:p>
          <a:p>
            <a:pPr marL="914400" lvl="1" indent="-457200">
              <a:buFont typeface="Arial" panose="020B0604020202020204" pitchFamily="34" charset="0"/>
              <a:buChar char="•"/>
            </a:pPr>
            <a:r>
              <a:rPr lang="en-US" sz="2400" dirty="0" smtClean="0"/>
              <a:t>Wells manually capable of analyzing per </a:t>
            </a:r>
            <a:r>
              <a:rPr lang="en-US" sz="2400" dirty="0"/>
              <a:t>d</a:t>
            </a:r>
            <a:r>
              <a:rPr lang="en-US" sz="2400" dirty="0" smtClean="0"/>
              <a:t>ay= </a:t>
            </a:r>
            <a:r>
              <a:rPr lang="en-US" sz="2400" b="1" dirty="0" smtClean="0">
                <a:solidFill>
                  <a:srgbClr val="FF0000"/>
                </a:solidFill>
              </a:rPr>
              <a:t>+/-50 Wells</a:t>
            </a:r>
          </a:p>
          <a:p>
            <a:pPr marL="914400" lvl="1" indent="-457200">
              <a:buFont typeface="Arial" panose="020B0604020202020204" pitchFamily="34" charset="0"/>
              <a:buChar char="•"/>
            </a:pPr>
            <a:endParaRPr lang="en-US" sz="2400" b="1" dirty="0">
              <a:solidFill>
                <a:srgbClr val="00B050"/>
              </a:solidFill>
            </a:endParaRPr>
          </a:p>
          <a:p>
            <a:pPr marL="914400" lvl="1" indent="-457200">
              <a:buFont typeface="Arial" panose="020B0604020202020204" pitchFamily="34" charset="0"/>
              <a:buChar char="•"/>
            </a:pPr>
            <a:endParaRPr lang="en-US" sz="2400" b="1" dirty="0">
              <a:solidFill>
                <a:srgbClr val="FFC000"/>
              </a:solidFill>
            </a:endParaRPr>
          </a:p>
        </p:txBody>
      </p:sp>
    </p:spTree>
    <p:extLst>
      <p:ext uri="{BB962C8B-B14F-4D97-AF65-F5344CB8AC3E}">
        <p14:creationId xmlns:p14="http://schemas.microsoft.com/office/powerpoint/2010/main" val="243410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par>
                                <p:cTn id="13" presetID="10" presetClass="exit" presetSubtype="0" fill="hold" nodeType="with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xit" presetSubtype="0" fill="hold" nodeType="withEffect">
                                  <p:stCondLst>
                                    <p:cond delay="0"/>
                                  </p:stCondLst>
                                  <p:childTnLst>
                                    <p:animEffect transition="out" filter="fade">
                                      <p:cBhvr>
                                        <p:cTn id="27" dur="500"/>
                                        <p:tgtEl>
                                          <p:spTgt spid="41"/>
                                        </p:tgtEl>
                                      </p:cBhvr>
                                    </p:animEffect>
                                    <p:set>
                                      <p:cBhvr>
                                        <p:cTn id="28" dur="1" fill="hold">
                                          <p:stCondLst>
                                            <p:cond delay="499"/>
                                          </p:stCondLst>
                                        </p:cTn>
                                        <p:tgtEl>
                                          <p:spTgt spid="4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fade">
                                      <p:cBhvr>
                                        <p:cTn id="33" dur="500"/>
                                        <p:tgtEl>
                                          <p:spTgt spid="5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500"/>
                                        <p:tgtEl>
                                          <p:spTgt spid="51"/>
                                        </p:tgtEl>
                                      </p:cBhvr>
                                    </p:animEffect>
                                  </p:childTnLst>
                                </p:cTn>
                              </p:par>
                              <p:par>
                                <p:cTn id="39" presetID="10" presetClass="exit" presetSubtype="0" fill="hold" nodeType="withEffect">
                                  <p:stCondLst>
                                    <p:cond delay="0"/>
                                  </p:stCondLst>
                                  <p:childTnLst>
                                    <p:animEffect transition="out" filter="fade">
                                      <p:cBhvr>
                                        <p:cTn id="40" dur="500"/>
                                        <p:tgtEl>
                                          <p:spTgt spid="58"/>
                                        </p:tgtEl>
                                      </p:cBhvr>
                                    </p:animEffect>
                                    <p:set>
                                      <p:cBhvr>
                                        <p:cTn id="41" dur="1" fill="hold">
                                          <p:stCondLst>
                                            <p:cond delay="499"/>
                                          </p:stCondLst>
                                        </p:cTn>
                                        <p:tgtEl>
                                          <p:spTgt spid="58"/>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fade">
                                      <p:cBhvr>
                                        <p:cTn id="46" dur="500"/>
                                        <p:tgtEl>
                                          <p:spTgt spid="6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500"/>
                                        <p:tgtEl>
                                          <p:spTgt spid="52"/>
                                        </p:tgtEl>
                                      </p:cBhvr>
                                    </p:animEffect>
                                  </p:childTnLst>
                                </p:cTn>
                              </p:par>
                              <p:par>
                                <p:cTn id="52" presetID="10" presetClass="exit" presetSubtype="0" fill="hold" nodeType="withEffect">
                                  <p:stCondLst>
                                    <p:cond delay="0"/>
                                  </p:stCondLst>
                                  <p:childTnLst>
                                    <p:animEffect transition="out" filter="fade">
                                      <p:cBhvr>
                                        <p:cTn id="53" dur="500"/>
                                        <p:tgtEl>
                                          <p:spTgt spid="65"/>
                                        </p:tgtEl>
                                      </p:cBhvr>
                                    </p:animEffect>
                                    <p:set>
                                      <p:cBhvr>
                                        <p:cTn id="54" dur="1" fill="hold">
                                          <p:stCondLst>
                                            <p:cond delay="499"/>
                                          </p:stCondLst>
                                        </p:cTn>
                                        <p:tgtEl>
                                          <p:spTgt spid="6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fade">
                                      <p:cBhvr>
                                        <p:cTn id="59" dur="500"/>
                                        <p:tgtEl>
                                          <p:spTgt spid="68"/>
                                        </p:tgtEl>
                                      </p:cBhvr>
                                    </p:animEffect>
                                  </p:childTnLst>
                                </p:cTn>
                              </p:par>
                              <p:par>
                                <p:cTn id="60" presetID="10" presetClass="entr" presetSubtype="0" fill="hold" nodeType="withEffect">
                                  <p:stCondLst>
                                    <p:cond delay="0"/>
                                  </p:stCondLst>
                                  <p:childTnLst>
                                    <p:set>
                                      <p:cBhvr>
                                        <p:cTn id="61" dur="1" fill="hold">
                                          <p:stCondLst>
                                            <p:cond delay="0"/>
                                          </p:stCondLst>
                                        </p:cTn>
                                        <p:tgtEl>
                                          <p:spTgt spid="68">
                                            <p:txEl>
                                              <p:pRg st="0" end="0"/>
                                            </p:txEl>
                                          </p:spTgt>
                                        </p:tgtEl>
                                        <p:attrNameLst>
                                          <p:attrName>style.visibility</p:attrName>
                                        </p:attrNameLst>
                                      </p:cBhvr>
                                      <p:to>
                                        <p:strVal val="visible"/>
                                      </p:to>
                                    </p:set>
                                    <p:animEffect transition="in" filter="fade">
                                      <p:cBhvr>
                                        <p:cTn id="62" dur="500"/>
                                        <p:tgtEl>
                                          <p:spTgt spid="68">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8">
                                            <p:txEl>
                                              <p:pRg st="3" end="3"/>
                                            </p:txEl>
                                          </p:spTgt>
                                        </p:tgtEl>
                                        <p:attrNameLst>
                                          <p:attrName>style.visibility</p:attrName>
                                        </p:attrNameLst>
                                      </p:cBhvr>
                                      <p:to>
                                        <p:strVal val="visible"/>
                                      </p:to>
                                    </p:set>
                                    <p:animEffect transition="in" filter="fade">
                                      <p:cBhvr>
                                        <p:cTn id="67" dur="500"/>
                                        <p:tgtEl>
                                          <p:spTgt spid="68">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8">
                                            <p:txEl>
                                              <p:pRg st="4" end="4"/>
                                            </p:txEl>
                                          </p:spTgt>
                                        </p:tgtEl>
                                        <p:attrNameLst>
                                          <p:attrName>style.visibility</p:attrName>
                                        </p:attrNameLst>
                                      </p:cBhvr>
                                      <p:to>
                                        <p:strVal val="visible"/>
                                      </p:to>
                                    </p:set>
                                    <p:animEffect transition="in" filter="fade">
                                      <p:cBhvr>
                                        <p:cTn id="72" dur="500"/>
                                        <p:tgtEl>
                                          <p:spTgt spid="68">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8">
                                            <p:txEl>
                                              <p:pRg st="7" end="7"/>
                                            </p:txEl>
                                          </p:spTgt>
                                        </p:tgtEl>
                                        <p:attrNameLst>
                                          <p:attrName>style.visibility</p:attrName>
                                        </p:attrNameLst>
                                      </p:cBhvr>
                                      <p:to>
                                        <p:strVal val="visible"/>
                                      </p:to>
                                    </p:set>
                                    <p:animEffect transition="in" filter="fade">
                                      <p:cBhvr>
                                        <p:cTn id="77" dur="500"/>
                                        <p:tgtEl>
                                          <p:spTgt spid="68">
                                            <p:txEl>
                                              <p:pRg st="7" end="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8">
                                            <p:txEl>
                                              <p:pRg st="8" end="8"/>
                                            </p:txEl>
                                          </p:spTgt>
                                        </p:tgtEl>
                                        <p:attrNameLst>
                                          <p:attrName>style.visibility</p:attrName>
                                        </p:attrNameLst>
                                      </p:cBhvr>
                                      <p:to>
                                        <p:strVal val="visible"/>
                                      </p:to>
                                    </p:set>
                                    <p:animEffect transition="in" filter="fade">
                                      <p:cBhvr>
                                        <p:cTn id="82" dur="500"/>
                                        <p:tgtEl>
                                          <p:spTgt spid="6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365196" y="1064186"/>
            <a:ext cx="9820656" cy="5500157"/>
          </a:xfrm>
          <a:prstGeom prst="rect">
            <a:avLst/>
          </a:prstGeom>
        </p:spPr>
      </p:pic>
      <p:sp>
        <p:nvSpPr>
          <p:cNvPr id="2" name="Title 1"/>
          <p:cNvSpPr>
            <a:spLocks noGrp="1"/>
          </p:cNvSpPr>
          <p:nvPr>
            <p:ph type="title"/>
          </p:nvPr>
        </p:nvSpPr>
        <p:spPr/>
        <p:txBody>
          <a:bodyPr/>
          <a:lstStyle/>
          <a:p>
            <a:r>
              <a:rPr lang="en-US" dirty="0" smtClean="0"/>
              <a:t>Real Time Production Tracker Summary</a:t>
            </a:r>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21</a:t>
            </a:fld>
            <a:endParaRPr lang="en-US"/>
          </a:p>
        </p:txBody>
      </p:sp>
      <p:grpSp>
        <p:nvGrpSpPr>
          <p:cNvPr id="15" name="Group 14"/>
          <p:cNvGrpSpPr/>
          <p:nvPr/>
        </p:nvGrpSpPr>
        <p:grpSpPr>
          <a:xfrm>
            <a:off x="2363520" y="2160271"/>
            <a:ext cx="7583367" cy="2441422"/>
            <a:chOff x="2285607" y="2205992"/>
            <a:chExt cx="7499416" cy="2441422"/>
          </a:xfrm>
        </p:grpSpPr>
        <p:sp>
          <p:nvSpPr>
            <p:cNvPr id="8" name="Rectangle 7"/>
            <p:cNvSpPr/>
            <p:nvPr/>
          </p:nvSpPr>
          <p:spPr>
            <a:xfrm>
              <a:off x="4609707" y="2205992"/>
              <a:ext cx="5175316" cy="2441422"/>
            </a:xfrm>
            <a:prstGeom prst="rect">
              <a:avLst/>
            </a:prstGeom>
            <a:solidFill>
              <a:srgbClr val="FFFF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10" idx="3"/>
            </p:cNvCxnSpPr>
            <p:nvPr/>
          </p:nvCxnSpPr>
          <p:spPr>
            <a:xfrm>
              <a:off x="4153207" y="2853525"/>
              <a:ext cx="4565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TextBox 67"/>
            <p:cNvSpPr txBox="1"/>
            <p:nvPr/>
          </p:nvSpPr>
          <p:spPr>
            <a:xfrm>
              <a:off x="2285607" y="2684248"/>
              <a:ext cx="1867600" cy="338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smtClean="0"/>
                <a:t>Flagged Exceptions</a:t>
              </a:r>
              <a:endParaRPr lang="en-US" sz="1600" dirty="0"/>
            </a:p>
          </p:txBody>
        </p:sp>
      </p:grpSp>
      <p:sp>
        <p:nvSpPr>
          <p:cNvPr id="19" name="Rectangle 18"/>
          <p:cNvSpPr/>
          <p:nvPr/>
        </p:nvSpPr>
        <p:spPr>
          <a:xfrm>
            <a:off x="3594561" y="2160271"/>
            <a:ext cx="434383" cy="2476740"/>
          </a:xfrm>
          <a:prstGeom prst="rect">
            <a:avLst/>
          </a:prstGeom>
          <a:solidFill>
            <a:srgbClr val="FFFF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21" idx="3"/>
          </p:cNvCxnSpPr>
          <p:nvPr/>
        </p:nvCxnSpPr>
        <p:spPr>
          <a:xfrm flipV="1">
            <a:off x="3100004" y="3780870"/>
            <a:ext cx="423052" cy="36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TextBox 67"/>
          <p:cNvSpPr txBox="1"/>
          <p:nvPr/>
        </p:nvSpPr>
        <p:spPr>
          <a:xfrm>
            <a:off x="1937408" y="3492173"/>
            <a:ext cx="1162596"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smtClean="0"/>
              <a:t>Production Delta</a:t>
            </a:r>
            <a:endParaRPr lang="en-US" sz="1600" dirty="0"/>
          </a:p>
        </p:txBody>
      </p:sp>
      <p:sp>
        <p:nvSpPr>
          <p:cNvPr id="31" name="Rectangle 30"/>
          <p:cNvSpPr/>
          <p:nvPr/>
        </p:nvSpPr>
        <p:spPr>
          <a:xfrm>
            <a:off x="4297287" y="4598943"/>
            <a:ext cx="3398914" cy="674097"/>
          </a:xfrm>
          <a:prstGeom prst="rect">
            <a:avLst/>
          </a:prstGeom>
          <a:solidFill>
            <a:srgbClr val="FFFF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p:cNvCxnSpPr>
            <a:stCxn id="33" idx="3"/>
          </p:cNvCxnSpPr>
          <p:nvPr/>
        </p:nvCxnSpPr>
        <p:spPr>
          <a:xfrm flipV="1">
            <a:off x="3773342" y="4936112"/>
            <a:ext cx="423051" cy="36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3" name="TextBox 67"/>
          <p:cNvSpPr txBox="1"/>
          <p:nvPr/>
        </p:nvSpPr>
        <p:spPr>
          <a:xfrm>
            <a:off x="2208466" y="4647413"/>
            <a:ext cx="1564876"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smtClean="0"/>
              <a:t>Field Projections &amp; Targets</a:t>
            </a:r>
            <a:endParaRPr lang="en-US" sz="1600" dirty="0"/>
          </a:p>
        </p:txBody>
      </p:sp>
      <p:sp>
        <p:nvSpPr>
          <p:cNvPr id="37" name="Rectangle 36"/>
          <p:cNvSpPr/>
          <p:nvPr/>
        </p:nvSpPr>
        <p:spPr>
          <a:xfrm>
            <a:off x="4401952" y="5472443"/>
            <a:ext cx="3195188" cy="815725"/>
          </a:xfrm>
          <a:prstGeom prst="rect">
            <a:avLst/>
          </a:prstGeom>
          <a:solidFill>
            <a:srgbClr val="FFFF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a:stCxn id="39" idx="3"/>
          </p:cNvCxnSpPr>
          <p:nvPr/>
        </p:nvCxnSpPr>
        <p:spPr>
          <a:xfrm flipV="1">
            <a:off x="3914200" y="5822818"/>
            <a:ext cx="423051" cy="368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9" name="TextBox 67"/>
          <p:cNvSpPr txBox="1"/>
          <p:nvPr/>
        </p:nvSpPr>
        <p:spPr>
          <a:xfrm>
            <a:off x="2005988" y="5534115"/>
            <a:ext cx="1908212"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smtClean="0"/>
              <a:t>PDB Downtime code Production Breakout</a:t>
            </a:r>
            <a:endParaRPr lang="en-US" sz="1600" dirty="0"/>
          </a:p>
        </p:txBody>
      </p:sp>
      <p:sp>
        <p:nvSpPr>
          <p:cNvPr id="41" name="Rectangle 40"/>
          <p:cNvSpPr/>
          <p:nvPr/>
        </p:nvSpPr>
        <p:spPr>
          <a:xfrm>
            <a:off x="7694736" y="5472443"/>
            <a:ext cx="3021399" cy="908084"/>
          </a:xfrm>
          <a:prstGeom prst="rect">
            <a:avLst/>
          </a:prstGeom>
          <a:solidFill>
            <a:srgbClr val="FFFF0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p:cNvCxnSpPr/>
          <p:nvPr/>
        </p:nvCxnSpPr>
        <p:spPr>
          <a:xfrm>
            <a:off x="9184515" y="5113020"/>
            <a:ext cx="1" cy="2912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3" name="TextBox 67"/>
          <p:cNvSpPr txBox="1"/>
          <p:nvPr/>
        </p:nvSpPr>
        <p:spPr>
          <a:xfrm>
            <a:off x="8230409" y="4528245"/>
            <a:ext cx="1908212"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dirty="0" smtClean="0"/>
              <a:t>Visual gauges and Breakouts</a:t>
            </a:r>
            <a:endParaRPr lang="en-US" sz="1600" dirty="0"/>
          </a:p>
        </p:txBody>
      </p:sp>
    </p:spTree>
    <p:extLst>
      <p:ext uri="{BB962C8B-B14F-4D97-AF65-F5344CB8AC3E}">
        <p14:creationId xmlns:p14="http://schemas.microsoft.com/office/powerpoint/2010/main" val="220670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20"/>
                                        </p:tgtEl>
                                      </p:cBhvr>
                                    </p:animEffect>
                                    <p:set>
                                      <p:cBhvr>
                                        <p:cTn id="18" dur="1" fill="hold">
                                          <p:stCondLst>
                                            <p:cond delay="499"/>
                                          </p:stCondLst>
                                        </p:cTn>
                                        <p:tgtEl>
                                          <p:spTgt spid="20"/>
                                        </p:tgtEl>
                                        <p:attrNameLst>
                                          <p:attrName>style.visibility</p:attrName>
                                        </p:attrNameLst>
                                      </p:cBhvr>
                                      <p:to>
                                        <p:strVal val="hidden"/>
                                      </p:to>
                                    </p:set>
                                  </p:childTnLst>
                                </p:cTn>
                              </p:par>
                              <p:par>
                                <p:cTn id="19" presetID="10" presetClass="exit" presetSubtype="0" fill="hold" grpId="1" nodeType="withEffect">
                                  <p:stCondLst>
                                    <p:cond delay="0"/>
                                  </p:stCondLst>
                                  <p:childTnLst>
                                    <p:animEffect transition="out" filter="fade">
                                      <p:cBhvr>
                                        <p:cTn id="20" dur="500"/>
                                        <p:tgtEl>
                                          <p:spTgt spid="21"/>
                                        </p:tgtEl>
                                      </p:cBhvr>
                                    </p:animEffect>
                                    <p:set>
                                      <p:cBhvr>
                                        <p:cTn id="21" dur="1" fill="hold">
                                          <p:stCondLst>
                                            <p:cond delay="499"/>
                                          </p:stCondLst>
                                        </p:cTn>
                                        <p:tgtEl>
                                          <p:spTgt spid="21"/>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19"/>
                                        </p:tgtEl>
                                      </p:cBhvr>
                                    </p:animEffect>
                                    <p:set>
                                      <p:cBhvr>
                                        <p:cTn id="24" dur="1" fill="hold">
                                          <p:stCondLst>
                                            <p:cond delay="499"/>
                                          </p:stCondLst>
                                        </p:cTn>
                                        <p:tgtEl>
                                          <p:spTgt spid="19"/>
                                        </p:tgtEl>
                                        <p:attrNameLst>
                                          <p:attrName>style.visibility</p:attrName>
                                        </p:attrNameLst>
                                      </p:cBhvr>
                                      <p:to>
                                        <p:strVal val="hidden"/>
                                      </p:to>
                                    </p:se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32"/>
                                        </p:tgtEl>
                                      </p:cBhvr>
                                    </p:animEffect>
                                    <p:set>
                                      <p:cBhvr>
                                        <p:cTn id="46" dur="1" fill="hold">
                                          <p:stCondLst>
                                            <p:cond delay="499"/>
                                          </p:stCondLst>
                                        </p:cTn>
                                        <p:tgtEl>
                                          <p:spTgt spid="32"/>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33"/>
                                        </p:tgtEl>
                                      </p:cBhvr>
                                    </p:animEffect>
                                    <p:set>
                                      <p:cBhvr>
                                        <p:cTn id="49" dur="1" fill="hold">
                                          <p:stCondLst>
                                            <p:cond delay="499"/>
                                          </p:stCondLst>
                                        </p:cTn>
                                        <p:tgtEl>
                                          <p:spTgt spid="3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31"/>
                                        </p:tgtEl>
                                      </p:cBhvr>
                                    </p:animEffect>
                                    <p:set>
                                      <p:cBhvr>
                                        <p:cTn id="52" dur="1" fill="hold">
                                          <p:stCondLst>
                                            <p:cond delay="499"/>
                                          </p:stCondLst>
                                        </p:cTn>
                                        <p:tgtEl>
                                          <p:spTgt spid="31"/>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500"/>
                                        <p:tgtEl>
                                          <p:spTgt spid="3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500"/>
                                        <p:tgtEl>
                                          <p:spTgt spid="38"/>
                                        </p:tgtEl>
                                      </p:cBhvr>
                                    </p:animEffect>
                                    <p:set>
                                      <p:cBhvr>
                                        <p:cTn id="66" dur="1" fill="hold">
                                          <p:stCondLst>
                                            <p:cond delay="499"/>
                                          </p:stCondLst>
                                        </p:cTn>
                                        <p:tgtEl>
                                          <p:spTgt spid="38"/>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500"/>
                                        <p:tgtEl>
                                          <p:spTgt spid="39"/>
                                        </p:tgtEl>
                                      </p:cBhvr>
                                    </p:animEffect>
                                    <p:set>
                                      <p:cBhvr>
                                        <p:cTn id="69" dur="1" fill="hold">
                                          <p:stCondLst>
                                            <p:cond delay="499"/>
                                          </p:stCondLst>
                                        </p:cTn>
                                        <p:tgtEl>
                                          <p:spTgt spid="39"/>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37"/>
                                        </p:tgtEl>
                                      </p:cBhvr>
                                    </p:animEffect>
                                    <p:set>
                                      <p:cBhvr>
                                        <p:cTn id="72" dur="1" fill="hold">
                                          <p:stCondLst>
                                            <p:cond delay="499"/>
                                          </p:stCondLst>
                                        </p:cTn>
                                        <p:tgtEl>
                                          <p:spTgt spid="37"/>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5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fade">
                                      <p:cBhvr>
                                        <p:cTn id="8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1" grpId="0" animBg="1"/>
      <p:bldP spid="21" grpId="1" animBg="1"/>
      <p:bldP spid="31" grpId="0" animBg="1"/>
      <p:bldP spid="31" grpId="1" animBg="1"/>
      <p:bldP spid="33" grpId="0" animBg="1"/>
      <p:bldP spid="33" grpId="1" animBg="1"/>
      <p:bldP spid="37" grpId="0" animBg="1"/>
      <p:bldP spid="37" grpId="1" animBg="1"/>
      <p:bldP spid="39" grpId="0" animBg="1"/>
      <p:bldP spid="39" grpId="1" animBg="1"/>
      <p:bldP spid="41"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Plunger </a:t>
            </a:r>
            <a:r>
              <a:rPr lang="en-US" dirty="0" smtClean="0"/>
              <a:t>Arrival Surveillance</a:t>
            </a:r>
            <a:endParaRPr lang="en-US" dirty="0">
              <a:solidFill>
                <a:srgbClr val="FF0000"/>
              </a:solidFill>
            </a:endParaRPr>
          </a:p>
        </p:txBody>
      </p:sp>
      <p:sp>
        <p:nvSpPr>
          <p:cNvPr id="6" name="Content Placeholder 5"/>
          <p:cNvSpPr>
            <a:spLocks noGrp="1"/>
          </p:cNvSpPr>
          <p:nvPr>
            <p:ph idx="1"/>
          </p:nvPr>
        </p:nvSpPr>
        <p:spPr>
          <a:xfrm>
            <a:off x="372687" y="1581348"/>
            <a:ext cx="5595851" cy="4595615"/>
          </a:xfrm>
        </p:spPr>
        <p:txBody>
          <a:bodyPr>
            <a:normAutofit/>
          </a:bodyPr>
          <a:lstStyle/>
          <a:p>
            <a:r>
              <a:rPr lang="en-US" sz="2400" dirty="0" smtClean="0"/>
              <a:t>Increasing visibility on plunger arrival metrics</a:t>
            </a:r>
          </a:p>
          <a:p>
            <a:pPr lvl="1"/>
            <a:r>
              <a:rPr lang="en-US" sz="2000" dirty="0" smtClean="0"/>
              <a:t>Slow (Below 500 </a:t>
            </a:r>
            <a:r>
              <a:rPr lang="en-US" sz="2000" dirty="0" err="1" smtClean="0"/>
              <a:t>ft</a:t>
            </a:r>
            <a:r>
              <a:rPr lang="en-US" sz="2000" dirty="0" smtClean="0"/>
              <a:t>/min)</a:t>
            </a:r>
          </a:p>
          <a:p>
            <a:pPr lvl="2"/>
            <a:r>
              <a:rPr lang="en-US" sz="1600" dirty="0" smtClean="0"/>
              <a:t>Adverse production impact. Well could load up</a:t>
            </a:r>
          </a:p>
          <a:p>
            <a:pPr lvl="1"/>
            <a:r>
              <a:rPr lang="en-US" sz="2000" dirty="0" smtClean="0"/>
              <a:t>Fast (Above 1,000 </a:t>
            </a:r>
            <a:r>
              <a:rPr lang="en-US" sz="2000" dirty="0" err="1" smtClean="0"/>
              <a:t>ft</a:t>
            </a:r>
            <a:r>
              <a:rPr lang="en-US" sz="2000" dirty="0" smtClean="0"/>
              <a:t>/min)</a:t>
            </a:r>
          </a:p>
          <a:p>
            <a:pPr lvl="2"/>
            <a:r>
              <a:rPr lang="en-US" sz="1600" dirty="0" smtClean="0"/>
              <a:t>Shorter equipment lifespan from impact damage to the plunger and lubricator</a:t>
            </a:r>
          </a:p>
          <a:p>
            <a:pPr lvl="1"/>
            <a:r>
              <a:rPr lang="en-US" sz="2000" dirty="0" smtClean="0"/>
              <a:t>Missed (No Arrival)</a:t>
            </a:r>
          </a:p>
          <a:p>
            <a:pPr lvl="2"/>
            <a:r>
              <a:rPr lang="en-US" sz="1600" dirty="0" smtClean="0"/>
              <a:t>Adverse production impact. </a:t>
            </a:r>
          </a:p>
          <a:p>
            <a:pPr lvl="1"/>
            <a:r>
              <a:rPr lang="en-US" sz="2000" dirty="0" smtClean="0"/>
              <a:t>Ability to set Cygnet Settings</a:t>
            </a:r>
          </a:p>
          <a:p>
            <a:r>
              <a:rPr lang="en-US" sz="2400" dirty="0"/>
              <a:t>Average wells flagged (April): 85</a:t>
            </a:r>
          </a:p>
          <a:p>
            <a:pPr lvl="1"/>
            <a:r>
              <a:rPr lang="en-US" sz="2000" dirty="0"/>
              <a:t>~1300 </a:t>
            </a:r>
            <a:r>
              <a:rPr lang="en-US" sz="2000" dirty="0" err="1"/>
              <a:t>bopd</a:t>
            </a:r>
            <a:r>
              <a:rPr lang="en-US" sz="2000" dirty="0"/>
              <a:t> impact</a:t>
            </a:r>
          </a:p>
        </p:txBody>
      </p:sp>
      <p:sp>
        <p:nvSpPr>
          <p:cNvPr id="3" name="Date Placeholder 2"/>
          <p:cNvSpPr>
            <a:spLocks noGrp="1"/>
          </p:cNvSpPr>
          <p:nvPr>
            <p:ph type="dt" sz="half" idx="10"/>
          </p:nvPr>
        </p:nvSpPr>
        <p:spPr/>
        <p:txBody>
          <a:bodyPr/>
          <a:lstStyle/>
          <a:p>
            <a:fld id="{69D2EC1D-6F73-406D-9368-46890FC0A1A4}" type="datetime1">
              <a:rPr lang="en-US" smtClean="0"/>
              <a:t>8/28/2018</a:t>
            </a:fld>
            <a:endParaRPr lang="en-US"/>
          </a:p>
        </p:txBody>
      </p:sp>
      <p:sp>
        <p:nvSpPr>
          <p:cNvPr id="4" name="Footer Placeholder 3"/>
          <p:cNvSpPr>
            <a:spLocks noGrp="1"/>
          </p:cNvSpPr>
          <p:nvPr>
            <p:ph type="ftr" sz="quarter" idx="11"/>
          </p:nvPr>
        </p:nvSpPr>
        <p:spPr/>
        <p:txBody>
          <a:bodyPr/>
          <a:lstStyle/>
          <a:p>
            <a:r>
              <a:rPr lang="en-US" dirty="0" smtClean="0"/>
              <a:t>ANADARKO DJ BASIN</a:t>
            </a:r>
            <a:endParaRPr lang="en-US" dirty="0"/>
          </a:p>
        </p:txBody>
      </p:sp>
      <p:sp>
        <p:nvSpPr>
          <p:cNvPr id="5" name="Slide Number Placeholder 4"/>
          <p:cNvSpPr>
            <a:spLocks noGrp="1"/>
          </p:cNvSpPr>
          <p:nvPr>
            <p:ph type="sldNum" sz="quarter" idx="12"/>
          </p:nvPr>
        </p:nvSpPr>
        <p:spPr/>
        <p:txBody>
          <a:bodyPr/>
          <a:lstStyle/>
          <a:p>
            <a:fld id="{0F806ECE-C1FD-48AE-9B78-00CD1DA05ECA}" type="slidenum">
              <a:rPr lang="en-US" smtClean="0"/>
              <a:t>22</a:t>
            </a:fld>
            <a:endParaRPr lang="en-US" dirty="0"/>
          </a:p>
        </p:txBody>
      </p:sp>
      <p:pic>
        <p:nvPicPr>
          <p:cNvPr id="7" name="Picture 6"/>
          <p:cNvPicPr>
            <a:picLocks noChangeAspect="1"/>
          </p:cNvPicPr>
          <p:nvPr/>
        </p:nvPicPr>
        <p:blipFill rotWithShape="1">
          <a:blip r:embed="rId3"/>
          <a:srcRect l="1387" t="3443"/>
          <a:stretch/>
        </p:blipFill>
        <p:spPr>
          <a:xfrm>
            <a:off x="6096000" y="2110248"/>
            <a:ext cx="5983302" cy="2770939"/>
          </a:xfrm>
          <a:prstGeom prst="rect">
            <a:avLst/>
          </a:prstGeom>
        </p:spPr>
      </p:pic>
    </p:spTree>
    <p:extLst>
      <p:ext uri="{BB962C8B-B14F-4D97-AF65-F5344CB8AC3E}">
        <p14:creationId xmlns:p14="http://schemas.microsoft.com/office/powerpoint/2010/main" val="31101098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Plunger Motor Valve Surveillance</a:t>
            </a:r>
            <a:endParaRPr lang="en-US" dirty="0"/>
          </a:p>
        </p:txBody>
      </p:sp>
      <p:sp>
        <p:nvSpPr>
          <p:cNvPr id="6" name="Content Placeholder 5"/>
          <p:cNvSpPr>
            <a:spLocks noGrp="1"/>
          </p:cNvSpPr>
          <p:nvPr>
            <p:ph idx="1"/>
          </p:nvPr>
        </p:nvSpPr>
        <p:spPr>
          <a:xfrm>
            <a:off x="838200" y="1581348"/>
            <a:ext cx="4490258" cy="4595615"/>
          </a:xfrm>
        </p:spPr>
        <p:txBody>
          <a:bodyPr>
            <a:normAutofit fontScale="85000" lnSpcReduction="20000"/>
          </a:bodyPr>
          <a:lstStyle/>
          <a:p>
            <a:r>
              <a:rPr lang="en-US" dirty="0" smtClean="0"/>
              <a:t>Plunger motor valve Exception Based Surveillance</a:t>
            </a:r>
          </a:p>
          <a:p>
            <a:r>
              <a:rPr lang="en-US" dirty="0" smtClean="0"/>
              <a:t>Latch Valve</a:t>
            </a:r>
          </a:p>
          <a:p>
            <a:pPr lvl="1"/>
            <a:r>
              <a:rPr lang="en-US" sz="2000" dirty="0" smtClean="0"/>
              <a:t>Flagging gas production during motor valve closures</a:t>
            </a:r>
          </a:p>
          <a:p>
            <a:pPr lvl="2"/>
            <a:r>
              <a:rPr lang="en-US" sz="1600" dirty="0" smtClean="0"/>
              <a:t>Indicates motor valve is potentially stuck open</a:t>
            </a:r>
          </a:p>
          <a:p>
            <a:pPr lvl="1"/>
            <a:r>
              <a:rPr lang="en-US" sz="2000" dirty="0" smtClean="0"/>
              <a:t>Currently Flagging 1-2 wells/day</a:t>
            </a:r>
          </a:p>
          <a:p>
            <a:pPr lvl="1"/>
            <a:r>
              <a:rPr lang="en-US" sz="2000" dirty="0" smtClean="0"/>
              <a:t>ID Tool module built to alert operators in Real Time – waiting on Foremen to push to IOC</a:t>
            </a:r>
            <a:endParaRPr lang="en-US" dirty="0" smtClean="0"/>
          </a:p>
          <a:p>
            <a:endParaRPr lang="en-US" dirty="0"/>
          </a:p>
          <a:p>
            <a:r>
              <a:rPr lang="en-US" dirty="0" smtClean="0"/>
              <a:t>No Flow</a:t>
            </a:r>
          </a:p>
          <a:p>
            <a:pPr lvl="1"/>
            <a:r>
              <a:rPr lang="en-US" sz="2000" dirty="0"/>
              <a:t>Flagging wells </a:t>
            </a:r>
            <a:r>
              <a:rPr lang="en-US" sz="2000" dirty="0" smtClean="0"/>
              <a:t>with no gas production when </a:t>
            </a:r>
            <a:r>
              <a:rPr lang="en-US" sz="2000" dirty="0"/>
              <a:t>motor valve </a:t>
            </a:r>
            <a:r>
              <a:rPr lang="en-US" sz="2000" dirty="0" smtClean="0"/>
              <a:t>open</a:t>
            </a:r>
          </a:p>
          <a:p>
            <a:pPr lvl="2"/>
            <a:r>
              <a:rPr lang="en-US" sz="1600" dirty="0" smtClean="0"/>
              <a:t>Indicates motor valve is potentially stuck closed</a:t>
            </a:r>
          </a:p>
          <a:p>
            <a:pPr lvl="1"/>
            <a:r>
              <a:rPr lang="en-US" sz="2000" dirty="0" smtClean="0"/>
              <a:t>Currently Flagging 3 Wells</a:t>
            </a:r>
          </a:p>
          <a:p>
            <a:endParaRPr lang="en-US" sz="2000" dirty="0"/>
          </a:p>
        </p:txBody>
      </p:sp>
      <p:sp>
        <p:nvSpPr>
          <p:cNvPr id="3" name="Date Placeholder 2"/>
          <p:cNvSpPr>
            <a:spLocks noGrp="1"/>
          </p:cNvSpPr>
          <p:nvPr>
            <p:ph type="dt" sz="half" idx="10"/>
          </p:nvPr>
        </p:nvSpPr>
        <p:spPr/>
        <p:txBody>
          <a:bodyPr/>
          <a:lstStyle/>
          <a:p>
            <a:fld id="{69D2EC1D-6F73-406D-9368-46890FC0A1A4}" type="datetime1">
              <a:rPr lang="en-US" smtClean="0"/>
              <a:t>8/28/2018</a:t>
            </a:fld>
            <a:endParaRPr lang="en-US" dirty="0"/>
          </a:p>
        </p:txBody>
      </p:sp>
      <p:sp>
        <p:nvSpPr>
          <p:cNvPr id="4" name="Footer Placeholder 3"/>
          <p:cNvSpPr>
            <a:spLocks noGrp="1"/>
          </p:cNvSpPr>
          <p:nvPr>
            <p:ph type="ftr" sz="quarter" idx="11"/>
          </p:nvPr>
        </p:nvSpPr>
        <p:spPr/>
        <p:txBody>
          <a:bodyPr/>
          <a:lstStyle/>
          <a:p>
            <a:r>
              <a:rPr lang="en-US" dirty="0" smtClean="0"/>
              <a:t>ANADARKO DJ BASIN</a:t>
            </a:r>
            <a:endParaRPr lang="en-US" dirty="0"/>
          </a:p>
        </p:txBody>
      </p:sp>
      <p:sp>
        <p:nvSpPr>
          <p:cNvPr id="5" name="Slide Number Placeholder 4"/>
          <p:cNvSpPr>
            <a:spLocks noGrp="1"/>
          </p:cNvSpPr>
          <p:nvPr>
            <p:ph type="sldNum" sz="quarter" idx="12"/>
          </p:nvPr>
        </p:nvSpPr>
        <p:spPr/>
        <p:txBody>
          <a:bodyPr/>
          <a:lstStyle/>
          <a:p>
            <a:fld id="{0F806ECE-C1FD-48AE-9B78-00CD1DA05ECA}" type="slidenum">
              <a:rPr lang="en-US" smtClean="0"/>
              <a:t>23</a:t>
            </a:fld>
            <a:endParaRPr lang="en-US"/>
          </a:p>
        </p:txBody>
      </p:sp>
      <p:pic>
        <p:nvPicPr>
          <p:cNvPr id="7" name="Picture 6"/>
          <p:cNvPicPr>
            <a:picLocks noChangeAspect="1"/>
          </p:cNvPicPr>
          <p:nvPr/>
        </p:nvPicPr>
        <p:blipFill>
          <a:blip r:embed="rId2"/>
          <a:stretch>
            <a:fillRect/>
          </a:stretch>
        </p:blipFill>
        <p:spPr>
          <a:xfrm>
            <a:off x="6561512" y="1445606"/>
            <a:ext cx="4542012" cy="2199174"/>
          </a:xfrm>
          <a:prstGeom prst="rect">
            <a:avLst/>
          </a:prstGeom>
        </p:spPr>
      </p:pic>
      <p:pic>
        <p:nvPicPr>
          <p:cNvPr id="9" name="Picture 8"/>
          <p:cNvPicPr>
            <a:picLocks noChangeAspect="1"/>
          </p:cNvPicPr>
          <p:nvPr/>
        </p:nvPicPr>
        <p:blipFill>
          <a:blip r:embed="rId3"/>
          <a:stretch>
            <a:fillRect/>
          </a:stretch>
        </p:blipFill>
        <p:spPr>
          <a:xfrm>
            <a:off x="6575792" y="3856159"/>
            <a:ext cx="4527732" cy="2210128"/>
          </a:xfrm>
          <a:prstGeom prst="rect">
            <a:avLst/>
          </a:prstGeom>
        </p:spPr>
      </p:pic>
    </p:spTree>
    <p:extLst>
      <p:ext uri="{BB962C8B-B14F-4D97-AF65-F5344CB8AC3E}">
        <p14:creationId xmlns:p14="http://schemas.microsoft.com/office/powerpoint/2010/main" val="22860990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88890"/>
            <a:ext cx="10515600" cy="1325563"/>
          </a:xfrm>
        </p:spPr>
        <p:txBody>
          <a:bodyPr/>
          <a:lstStyle/>
          <a:p>
            <a:r>
              <a:rPr lang="en-US" dirty="0" smtClean="0"/>
              <a:t>Latch Valve Actionable Examples</a:t>
            </a:r>
            <a:endParaRPr lang="en-US" dirty="0"/>
          </a:p>
        </p:txBody>
      </p:sp>
      <p:grpSp>
        <p:nvGrpSpPr>
          <p:cNvPr id="11" name="Group 10"/>
          <p:cNvGrpSpPr/>
          <p:nvPr/>
        </p:nvGrpSpPr>
        <p:grpSpPr>
          <a:xfrm>
            <a:off x="6199185" y="1326357"/>
            <a:ext cx="5764216" cy="2566987"/>
            <a:chOff x="6199185" y="1459707"/>
            <a:chExt cx="5764216" cy="2566987"/>
          </a:xfrm>
        </p:grpSpPr>
        <p:grpSp>
          <p:nvGrpSpPr>
            <p:cNvPr id="9" name="Group 8"/>
            <p:cNvGrpSpPr/>
            <p:nvPr/>
          </p:nvGrpSpPr>
          <p:grpSpPr>
            <a:xfrm>
              <a:off x="6199185" y="1459707"/>
              <a:ext cx="5764216" cy="2566987"/>
              <a:chOff x="5932485" y="1528763"/>
              <a:chExt cx="5764216" cy="2566987"/>
            </a:xfrm>
          </p:grpSpPr>
          <p:pic>
            <p:nvPicPr>
              <p:cNvPr id="4" name="Picture 3"/>
              <p:cNvPicPr>
                <a:picLocks noChangeAspect="1"/>
              </p:cNvPicPr>
              <p:nvPr/>
            </p:nvPicPr>
            <p:blipFill rotWithShape="1">
              <a:blip r:embed="rId2"/>
              <a:srcRect t="6746" r="4167" b="18141"/>
              <a:stretch/>
            </p:blipFill>
            <p:spPr>
              <a:xfrm>
                <a:off x="5932485" y="1528763"/>
                <a:ext cx="5764216" cy="2566987"/>
              </a:xfrm>
              <a:prstGeom prst="rect">
                <a:avLst/>
              </a:prstGeom>
            </p:spPr>
          </p:pic>
          <p:sp>
            <p:nvSpPr>
              <p:cNvPr id="7" name="TextBox 6"/>
              <p:cNvSpPr txBox="1"/>
              <p:nvPr/>
            </p:nvSpPr>
            <p:spPr>
              <a:xfrm>
                <a:off x="7781925" y="1669257"/>
                <a:ext cx="809625" cy="323165"/>
              </a:xfrm>
              <a:prstGeom prst="rect">
                <a:avLst/>
              </a:prstGeom>
              <a:solidFill>
                <a:schemeClr val="bg1"/>
              </a:solidFill>
            </p:spPr>
            <p:txBody>
              <a:bodyPr wrap="square" rtlCol="0">
                <a:spAutoFit/>
              </a:bodyPr>
              <a:lstStyle/>
              <a:p>
                <a:r>
                  <a:rPr lang="en-US" sz="1500" b="1" dirty="0" smtClean="0">
                    <a:solidFill>
                      <a:srgbClr val="FF0000"/>
                    </a:solidFill>
                  </a:rPr>
                  <a:t>Flagged</a:t>
                </a:r>
                <a:endParaRPr lang="en-US" sz="1500" b="1" dirty="0">
                  <a:solidFill>
                    <a:srgbClr val="FF0000"/>
                  </a:solidFill>
                </a:endParaRPr>
              </a:p>
            </p:txBody>
          </p:sp>
          <p:sp>
            <p:nvSpPr>
              <p:cNvPr id="8" name="TextBox 7"/>
              <p:cNvSpPr txBox="1"/>
              <p:nvPr/>
            </p:nvSpPr>
            <p:spPr>
              <a:xfrm>
                <a:off x="9191625" y="1678782"/>
                <a:ext cx="1352550" cy="323165"/>
              </a:xfrm>
              <a:prstGeom prst="rect">
                <a:avLst/>
              </a:prstGeom>
              <a:solidFill>
                <a:schemeClr val="bg1"/>
              </a:solidFill>
            </p:spPr>
            <p:txBody>
              <a:bodyPr wrap="square" rtlCol="0">
                <a:spAutoFit/>
              </a:bodyPr>
              <a:lstStyle/>
              <a:p>
                <a:r>
                  <a:rPr lang="en-US" sz="1500" b="1" dirty="0" smtClean="0">
                    <a:solidFill>
                      <a:srgbClr val="00B050"/>
                    </a:solidFill>
                  </a:rPr>
                  <a:t>Caught by IOC</a:t>
                </a:r>
                <a:endParaRPr lang="en-US" sz="1500" b="1" dirty="0">
                  <a:solidFill>
                    <a:srgbClr val="00B050"/>
                  </a:solidFill>
                </a:endParaRPr>
              </a:p>
            </p:txBody>
          </p:sp>
        </p:grpSp>
        <p:cxnSp>
          <p:nvCxnSpPr>
            <p:cNvPr id="6" name="Straight Connector 5"/>
            <p:cNvCxnSpPr/>
            <p:nvPr/>
          </p:nvCxnSpPr>
          <p:spPr>
            <a:xfrm>
              <a:off x="9382125" y="1602581"/>
              <a:ext cx="0" cy="230505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43554" y="1326357"/>
            <a:ext cx="6051089" cy="2566986"/>
            <a:chOff x="43554" y="1459707"/>
            <a:chExt cx="6051089" cy="2566986"/>
          </a:xfrm>
        </p:grpSpPr>
        <p:pic>
          <p:nvPicPr>
            <p:cNvPr id="10" name="Picture 9"/>
            <p:cNvPicPr>
              <a:picLocks noChangeAspect="1"/>
            </p:cNvPicPr>
            <p:nvPr/>
          </p:nvPicPr>
          <p:blipFill rotWithShape="1">
            <a:blip r:embed="rId3"/>
            <a:srcRect t="6843" b="18495"/>
            <a:stretch/>
          </p:blipFill>
          <p:spPr>
            <a:xfrm>
              <a:off x="43554" y="1459707"/>
              <a:ext cx="6051089" cy="2566986"/>
            </a:xfrm>
            <a:prstGeom prst="rect">
              <a:avLst/>
            </a:prstGeom>
          </p:spPr>
        </p:pic>
        <p:sp>
          <p:nvSpPr>
            <p:cNvPr id="12" name="TextBox 11"/>
            <p:cNvSpPr txBox="1"/>
            <p:nvPr/>
          </p:nvSpPr>
          <p:spPr>
            <a:xfrm>
              <a:off x="2238375" y="1609726"/>
              <a:ext cx="809625" cy="323165"/>
            </a:xfrm>
            <a:prstGeom prst="rect">
              <a:avLst/>
            </a:prstGeom>
            <a:solidFill>
              <a:schemeClr val="bg1"/>
            </a:solidFill>
          </p:spPr>
          <p:txBody>
            <a:bodyPr wrap="square" rtlCol="0">
              <a:spAutoFit/>
            </a:bodyPr>
            <a:lstStyle/>
            <a:p>
              <a:r>
                <a:rPr lang="en-US" sz="1500" b="1" dirty="0" smtClean="0">
                  <a:solidFill>
                    <a:srgbClr val="FF0000"/>
                  </a:solidFill>
                </a:rPr>
                <a:t>Flagged</a:t>
              </a:r>
              <a:endParaRPr lang="en-US" sz="1500" b="1" dirty="0">
                <a:solidFill>
                  <a:srgbClr val="FF0000"/>
                </a:solidFill>
              </a:endParaRPr>
            </a:p>
          </p:txBody>
        </p:sp>
        <p:sp>
          <p:nvSpPr>
            <p:cNvPr id="13" name="TextBox 12"/>
            <p:cNvSpPr txBox="1"/>
            <p:nvPr/>
          </p:nvSpPr>
          <p:spPr>
            <a:xfrm>
              <a:off x="3094034" y="1619251"/>
              <a:ext cx="1352550" cy="323165"/>
            </a:xfrm>
            <a:prstGeom prst="rect">
              <a:avLst/>
            </a:prstGeom>
            <a:solidFill>
              <a:schemeClr val="bg1"/>
            </a:solidFill>
          </p:spPr>
          <p:txBody>
            <a:bodyPr wrap="square" rtlCol="0">
              <a:spAutoFit/>
            </a:bodyPr>
            <a:lstStyle/>
            <a:p>
              <a:r>
                <a:rPr lang="en-US" sz="1500" b="1" dirty="0" smtClean="0">
                  <a:solidFill>
                    <a:srgbClr val="00B050"/>
                  </a:solidFill>
                </a:rPr>
                <a:t>Caught by IOC</a:t>
              </a:r>
              <a:endParaRPr lang="en-US" sz="1500" b="1" dirty="0">
                <a:solidFill>
                  <a:srgbClr val="00B050"/>
                </a:solidFill>
              </a:endParaRPr>
            </a:p>
          </p:txBody>
        </p:sp>
        <p:cxnSp>
          <p:nvCxnSpPr>
            <p:cNvPr id="14" name="Straight Connector 13"/>
            <p:cNvCxnSpPr/>
            <p:nvPr/>
          </p:nvCxnSpPr>
          <p:spPr>
            <a:xfrm>
              <a:off x="3069098" y="1609726"/>
              <a:ext cx="0" cy="230505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199185" y="4043363"/>
            <a:ext cx="5764216" cy="2550829"/>
            <a:chOff x="6199185" y="4043363"/>
            <a:chExt cx="5764216" cy="2550829"/>
          </a:xfrm>
        </p:grpSpPr>
        <p:pic>
          <p:nvPicPr>
            <p:cNvPr id="16" name="Picture 15"/>
            <p:cNvPicPr>
              <a:picLocks noChangeAspect="1"/>
            </p:cNvPicPr>
            <p:nvPr/>
          </p:nvPicPr>
          <p:blipFill rotWithShape="1">
            <a:blip r:embed="rId4"/>
            <a:srcRect l="4051" t="6927" b="18343"/>
            <a:stretch/>
          </p:blipFill>
          <p:spPr>
            <a:xfrm>
              <a:off x="6199185" y="4043363"/>
              <a:ext cx="5764216" cy="2550829"/>
            </a:xfrm>
            <a:prstGeom prst="rect">
              <a:avLst/>
            </a:prstGeom>
          </p:spPr>
        </p:pic>
        <p:cxnSp>
          <p:nvCxnSpPr>
            <p:cNvPr id="19" name="Straight Connector 18"/>
            <p:cNvCxnSpPr/>
            <p:nvPr/>
          </p:nvCxnSpPr>
          <p:spPr>
            <a:xfrm>
              <a:off x="7772400" y="4191001"/>
              <a:ext cx="0" cy="230505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505701" y="4200183"/>
              <a:ext cx="809625" cy="323165"/>
            </a:xfrm>
            <a:prstGeom prst="rect">
              <a:avLst/>
            </a:prstGeom>
            <a:solidFill>
              <a:schemeClr val="bg1"/>
            </a:solidFill>
          </p:spPr>
          <p:txBody>
            <a:bodyPr wrap="square" rtlCol="0">
              <a:spAutoFit/>
            </a:bodyPr>
            <a:lstStyle/>
            <a:p>
              <a:r>
                <a:rPr lang="en-US" sz="1500" b="1" dirty="0" smtClean="0">
                  <a:solidFill>
                    <a:srgbClr val="FF0000"/>
                  </a:solidFill>
                </a:rPr>
                <a:t>Flagged</a:t>
              </a:r>
              <a:endParaRPr lang="en-US" sz="1500" b="1" dirty="0">
                <a:solidFill>
                  <a:srgbClr val="FF0000"/>
                </a:solidFill>
              </a:endParaRPr>
            </a:p>
          </p:txBody>
        </p:sp>
        <p:sp>
          <p:nvSpPr>
            <p:cNvPr id="18" name="TextBox 17"/>
            <p:cNvSpPr txBox="1"/>
            <p:nvPr/>
          </p:nvSpPr>
          <p:spPr>
            <a:xfrm>
              <a:off x="7800976" y="4976562"/>
              <a:ext cx="1371600" cy="323165"/>
            </a:xfrm>
            <a:prstGeom prst="rect">
              <a:avLst/>
            </a:prstGeom>
            <a:solidFill>
              <a:schemeClr val="bg1"/>
            </a:solidFill>
          </p:spPr>
          <p:txBody>
            <a:bodyPr wrap="square" rtlCol="0">
              <a:spAutoFit/>
            </a:bodyPr>
            <a:lstStyle/>
            <a:p>
              <a:r>
                <a:rPr lang="en-US" sz="1500" b="1" dirty="0" smtClean="0">
                  <a:solidFill>
                    <a:srgbClr val="00B050"/>
                  </a:solidFill>
                </a:rPr>
                <a:t>Caught by IOC</a:t>
              </a:r>
              <a:endParaRPr lang="en-US" sz="1500" b="1" dirty="0">
                <a:solidFill>
                  <a:srgbClr val="00B050"/>
                </a:solidFill>
              </a:endParaRPr>
            </a:p>
          </p:txBody>
        </p:sp>
      </p:grpSp>
      <p:grpSp>
        <p:nvGrpSpPr>
          <p:cNvPr id="26" name="Group 25"/>
          <p:cNvGrpSpPr/>
          <p:nvPr/>
        </p:nvGrpSpPr>
        <p:grpSpPr>
          <a:xfrm>
            <a:off x="57149" y="4036238"/>
            <a:ext cx="6046785" cy="2671725"/>
            <a:chOff x="57149" y="4036238"/>
            <a:chExt cx="6046785" cy="2671725"/>
          </a:xfrm>
        </p:grpSpPr>
        <p:pic>
          <p:nvPicPr>
            <p:cNvPr id="21" name="Picture 20"/>
            <p:cNvPicPr>
              <a:picLocks noChangeAspect="1"/>
            </p:cNvPicPr>
            <p:nvPr/>
          </p:nvPicPr>
          <p:blipFill rotWithShape="1">
            <a:blip r:embed="rId5"/>
            <a:srcRect l="4056" t="6864" b="18527"/>
            <a:stretch/>
          </p:blipFill>
          <p:spPr>
            <a:xfrm>
              <a:off x="57149" y="4036238"/>
              <a:ext cx="6046785" cy="2671725"/>
            </a:xfrm>
            <a:prstGeom prst="rect">
              <a:avLst/>
            </a:prstGeom>
          </p:spPr>
        </p:pic>
        <p:sp>
          <p:nvSpPr>
            <p:cNvPr id="22" name="TextBox 21"/>
            <p:cNvSpPr txBox="1"/>
            <p:nvPr/>
          </p:nvSpPr>
          <p:spPr>
            <a:xfrm>
              <a:off x="2019300" y="4191001"/>
              <a:ext cx="809625" cy="323165"/>
            </a:xfrm>
            <a:prstGeom prst="rect">
              <a:avLst/>
            </a:prstGeom>
            <a:solidFill>
              <a:schemeClr val="bg1"/>
            </a:solidFill>
          </p:spPr>
          <p:txBody>
            <a:bodyPr wrap="square" rtlCol="0">
              <a:spAutoFit/>
            </a:bodyPr>
            <a:lstStyle/>
            <a:p>
              <a:r>
                <a:rPr lang="en-US" sz="1500" b="1" dirty="0" smtClean="0">
                  <a:solidFill>
                    <a:srgbClr val="FF0000"/>
                  </a:solidFill>
                </a:rPr>
                <a:t>Flagged</a:t>
              </a:r>
              <a:endParaRPr lang="en-US" sz="1500" b="1" dirty="0">
                <a:solidFill>
                  <a:srgbClr val="FF0000"/>
                </a:solidFill>
              </a:endParaRPr>
            </a:p>
          </p:txBody>
        </p:sp>
        <p:sp>
          <p:nvSpPr>
            <p:cNvPr id="23" name="TextBox 22"/>
            <p:cNvSpPr txBox="1"/>
            <p:nvPr/>
          </p:nvSpPr>
          <p:spPr>
            <a:xfrm>
              <a:off x="3141662" y="4200183"/>
              <a:ext cx="1352550" cy="323165"/>
            </a:xfrm>
            <a:prstGeom prst="rect">
              <a:avLst/>
            </a:prstGeom>
            <a:solidFill>
              <a:schemeClr val="bg1"/>
            </a:solidFill>
          </p:spPr>
          <p:txBody>
            <a:bodyPr wrap="square" rtlCol="0">
              <a:spAutoFit/>
            </a:bodyPr>
            <a:lstStyle/>
            <a:p>
              <a:r>
                <a:rPr lang="en-US" sz="1500" b="1" dirty="0" smtClean="0">
                  <a:solidFill>
                    <a:srgbClr val="00B050"/>
                  </a:solidFill>
                </a:rPr>
                <a:t>Caught by IOC</a:t>
              </a:r>
              <a:endParaRPr lang="en-US" sz="1500" b="1" dirty="0">
                <a:solidFill>
                  <a:srgbClr val="00B050"/>
                </a:solidFill>
              </a:endParaRPr>
            </a:p>
          </p:txBody>
        </p:sp>
        <p:cxnSp>
          <p:nvCxnSpPr>
            <p:cNvPr id="24" name="Straight Connector 23"/>
            <p:cNvCxnSpPr/>
            <p:nvPr/>
          </p:nvCxnSpPr>
          <p:spPr>
            <a:xfrm>
              <a:off x="3094034" y="4200183"/>
              <a:ext cx="0" cy="2394009"/>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65384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Well Loading</a:t>
            </a:r>
            <a:endParaRPr lang="en-US" dirty="0"/>
          </a:p>
        </p:txBody>
      </p:sp>
      <p:sp>
        <p:nvSpPr>
          <p:cNvPr id="6" name="Content Placeholder 5"/>
          <p:cNvSpPr>
            <a:spLocks noGrp="1"/>
          </p:cNvSpPr>
          <p:nvPr>
            <p:ph idx="1"/>
          </p:nvPr>
        </p:nvSpPr>
        <p:spPr>
          <a:xfrm>
            <a:off x="1703763" y="1123828"/>
            <a:ext cx="8964236" cy="1921132"/>
          </a:xfrm>
        </p:spPr>
        <p:txBody>
          <a:bodyPr>
            <a:normAutofit fontScale="92500" lnSpcReduction="10000"/>
          </a:bodyPr>
          <a:lstStyle/>
          <a:p>
            <a:r>
              <a:rPr lang="en-US" dirty="0" smtClean="0"/>
              <a:t>Automated workflow monitors wells for loading </a:t>
            </a:r>
            <a:endParaRPr lang="en-US" dirty="0"/>
          </a:p>
          <a:p>
            <a:pPr lvl="1"/>
            <a:r>
              <a:rPr lang="en-US" dirty="0" smtClean="0"/>
              <a:t>Casing pressure </a:t>
            </a:r>
            <a:r>
              <a:rPr lang="en-US" dirty="0"/>
              <a:t>i</a:t>
            </a:r>
            <a:r>
              <a:rPr lang="en-US" dirty="0" smtClean="0"/>
              <a:t>ncreasing &amp; tubing </a:t>
            </a:r>
            <a:r>
              <a:rPr lang="en-US" dirty="0"/>
              <a:t>p</a:t>
            </a:r>
            <a:r>
              <a:rPr lang="en-US" dirty="0" smtClean="0"/>
              <a:t>ressure </a:t>
            </a:r>
            <a:r>
              <a:rPr lang="en-US" dirty="0"/>
              <a:t>d</a:t>
            </a:r>
            <a:r>
              <a:rPr lang="en-US" dirty="0" smtClean="0"/>
              <a:t>ecreasing</a:t>
            </a:r>
          </a:p>
          <a:p>
            <a:pPr lvl="1"/>
            <a:r>
              <a:rPr lang="en-US" dirty="0" smtClean="0"/>
              <a:t>Increasing slug </a:t>
            </a:r>
            <a:r>
              <a:rPr lang="en-US" dirty="0"/>
              <a:t>v</a:t>
            </a:r>
            <a:r>
              <a:rPr lang="en-US" dirty="0" smtClean="0"/>
              <a:t>olume</a:t>
            </a:r>
          </a:p>
          <a:p>
            <a:r>
              <a:rPr lang="en-US" dirty="0">
                <a:solidFill>
                  <a:schemeClr val="accent1">
                    <a:lumMod val="75000"/>
                  </a:schemeClr>
                </a:solidFill>
              </a:rPr>
              <a:t>Average wells flagged (April): </a:t>
            </a:r>
            <a:r>
              <a:rPr lang="en-US" dirty="0" smtClean="0">
                <a:solidFill>
                  <a:schemeClr val="accent1">
                    <a:lumMod val="75000"/>
                  </a:schemeClr>
                </a:solidFill>
              </a:rPr>
              <a:t>15</a:t>
            </a:r>
          </a:p>
          <a:p>
            <a:pPr lvl="1"/>
            <a:r>
              <a:rPr lang="en-US" dirty="0" smtClean="0">
                <a:solidFill>
                  <a:schemeClr val="accent1">
                    <a:lumMod val="75000"/>
                  </a:schemeClr>
                </a:solidFill>
              </a:rPr>
              <a:t>~250 </a:t>
            </a:r>
            <a:r>
              <a:rPr lang="en-US" dirty="0" err="1" smtClean="0">
                <a:solidFill>
                  <a:schemeClr val="accent1">
                    <a:lumMod val="75000"/>
                  </a:schemeClr>
                </a:solidFill>
              </a:rPr>
              <a:t>bopd</a:t>
            </a:r>
            <a:r>
              <a:rPr lang="en-US" dirty="0" smtClean="0">
                <a:solidFill>
                  <a:schemeClr val="accent1">
                    <a:lumMod val="75000"/>
                  </a:schemeClr>
                </a:solidFill>
              </a:rPr>
              <a:t> impact</a:t>
            </a:r>
            <a:endParaRPr lang="en-US" dirty="0">
              <a:solidFill>
                <a:schemeClr val="accent1">
                  <a:lumMod val="75000"/>
                </a:schemeClr>
              </a:solidFill>
            </a:endParaRPr>
          </a:p>
        </p:txBody>
      </p:sp>
      <p:sp>
        <p:nvSpPr>
          <p:cNvPr id="5" name="Slide Number Placeholder 4"/>
          <p:cNvSpPr>
            <a:spLocks noGrp="1"/>
          </p:cNvSpPr>
          <p:nvPr>
            <p:ph type="sldNum" sz="quarter" idx="4294967295"/>
          </p:nvPr>
        </p:nvSpPr>
        <p:spPr/>
        <p:txBody>
          <a:bodyPr/>
          <a:lstStyle/>
          <a:p>
            <a:fld id="{0F806ECE-C1FD-48AE-9B78-00CD1DA05ECA}" type="slidenum">
              <a:rPr lang="en-US" smtClean="0"/>
              <a:t>25</a:t>
            </a:fld>
            <a:endParaRPr lang="en-US"/>
          </a:p>
        </p:txBody>
      </p:sp>
      <p:grpSp>
        <p:nvGrpSpPr>
          <p:cNvPr id="51" name="Group 50"/>
          <p:cNvGrpSpPr/>
          <p:nvPr/>
        </p:nvGrpSpPr>
        <p:grpSpPr>
          <a:xfrm>
            <a:off x="1546447" y="3565115"/>
            <a:ext cx="6820909" cy="3111251"/>
            <a:chOff x="-8252" y="2935856"/>
            <a:chExt cx="6820909" cy="3111251"/>
          </a:xfrm>
        </p:grpSpPr>
        <p:grpSp>
          <p:nvGrpSpPr>
            <p:cNvPr id="30" name="Group 29"/>
            <p:cNvGrpSpPr/>
            <p:nvPr/>
          </p:nvGrpSpPr>
          <p:grpSpPr>
            <a:xfrm>
              <a:off x="-8252" y="2935856"/>
              <a:ext cx="6820909" cy="3111251"/>
              <a:chOff x="4946420" y="1473797"/>
              <a:chExt cx="6820909" cy="3111251"/>
            </a:xfrm>
          </p:grpSpPr>
          <p:grpSp>
            <p:nvGrpSpPr>
              <p:cNvPr id="31" name="Group 30"/>
              <p:cNvGrpSpPr/>
              <p:nvPr/>
            </p:nvGrpSpPr>
            <p:grpSpPr>
              <a:xfrm>
                <a:off x="4946420" y="1486681"/>
                <a:ext cx="6820909" cy="3098367"/>
                <a:chOff x="5530975" y="1442302"/>
                <a:chExt cx="6820909" cy="3098367"/>
              </a:xfrm>
            </p:grpSpPr>
            <p:sp>
              <p:nvSpPr>
                <p:cNvPr id="35" name="TextBox 34"/>
                <p:cNvSpPr txBox="1"/>
                <p:nvPr/>
              </p:nvSpPr>
              <p:spPr>
                <a:xfrm>
                  <a:off x="8788379" y="4171337"/>
                  <a:ext cx="695923" cy="369332"/>
                </a:xfrm>
                <a:prstGeom prst="rect">
                  <a:avLst/>
                </a:prstGeom>
                <a:solidFill>
                  <a:srgbClr val="F2F2F2"/>
                </a:solidFill>
                <a:effectLst>
                  <a:outerShdw blurRad="50800" dist="38100" dir="5400000" algn="t" rotWithShape="0">
                    <a:prstClr val="black">
                      <a:alpha val="40000"/>
                    </a:prstClr>
                  </a:outerShdw>
                </a:effectLst>
              </p:spPr>
              <p:txBody>
                <a:bodyPr wrap="square" rtlCol="0">
                  <a:spAutoFit/>
                </a:bodyPr>
                <a:lstStyle/>
                <a:p>
                  <a:pPr>
                    <a:defRPr/>
                  </a:pPr>
                  <a:r>
                    <a:rPr lang="en-US" kern="0" dirty="0">
                      <a:solidFill>
                        <a:prstClr val="black"/>
                      </a:solidFill>
                    </a:rPr>
                    <a:t>Time</a:t>
                  </a:r>
                </a:p>
              </p:txBody>
            </p:sp>
            <p:sp>
              <p:nvSpPr>
                <p:cNvPr id="36" name="TextBox 35"/>
                <p:cNvSpPr txBox="1"/>
                <p:nvPr/>
              </p:nvSpPr>
              <p:spPr>
                <a:xfrm rot="16200000">
                  <a:off x="4754583" y="2479189"/>
                  <a:ext cx="1922115" cy="369332"/>
                </a:xfrm>
                <a:prstGeom prst="rect">
                  <a:avLst/>
                </a:prstGeom>
                <a:solidFill>
                  <a:srgbClr val="F2F2F2"/>
                </a:solidFill>
                <a:effectLst>
                  <a:outerShdw blurRad="50800" dist="38100" dir="8100000" algn="tr" rotWithShape="0">
                    <a:prstClr val="black">
                      <a:alpha val="40000"/>
                    </a:prstClr>
                  </a:outerShdw>
                </a:effectLst>
              </p:spPr>
              <p:txBody>
                <a:bodyPr wrap="square" rtlCol="0">
                  <a:spAutoFit/>
                </a:bodyPr>
                <a:lstStyle/>
                <a:p>
                  <a:pPr>
                    <a:defRPr/>
                  </a:pPr>
                  <a:r>
                    <a:rPr lang="en-US" kern="0" dirty="0">
                      <a:solidFill>
                        <a:prstClr val="black"/>
                      </a:solidFill>
                    </a:rPr>
                    <a:t>Gas Rate (MCFD)</a:t>
                  </a:r>
                </a:p>
              </p:txBody>
            </p:sp>
            <p:sp>
              <p:nvSpPr>
                <p:cNvPr id="37" name="TextBox 36"/>
                <p:cNvSpPr txBox="1"/>
                <p:nvPr/>
              </p:nvSpPr>
              <p:spPr>
                <a:xfrm rot="5400000">
                  <a:off x="11206160" y="2993393"/>
                  <a:ext cx="1922115" cy="369332"/>
                </a:xfrm>
                <a:prstGeom prst="rect">
                  <a:avLst/>
                </a:prstGeom>
                <a:solidFill>
                  <a:srgbClr val="F2F2F2"/>
                </a:solidFill>
                <a:effectLst>
                  <a:outerShdw blurRad="50800" dist="38100" algn="l" rotWithShape="0">
                    <a:prstClr val="black">
                      <a:alpha val="40000"/>
                    </a:prstClr>
                  </a:outerShdw>
                </a:effectLst>
              </p:spPr>
              <p:txBody>
                <a:bodyPr wrap="square" rtlCol="0">
                  <a:spAutoFit/>
                </a:bodyPr>
                <a:lstStyle/>
                <a:p>
                  <a:pPr>
                    <a:defRPr/>
                  </a:pPr>
                  <a:r>
                    <a:rPr lang="en-US" kern="0" dirty="0">
                      <a:solidFill>
                        <a:prstClr val="black"/>
                      </a:solidFill>
                    </a:rPr>
                    <a:t>Pressure (PSI)</a:t>
                  </a:r>
                </a:p>
              </p:txBody>
            </p:sp>
            <p:pic>
              <p:nvPicPr>
                <p:cNvPr id="38" name="Picture 37"/>
                <p:cNvPicPr>
                  <a:picLocks noChangeAspect="1"/>
                </p:cNvPicPr>
                <p:nvPr/>
              </p:nvPicPr>
              <p:blipFill>
                <a:blip r:embed="rId3"/>
                <a:stretch>
                  <a:fillRect/>
                </a:stretch>
              </p:blipFill>
              <p:spPr>
                <a:xfrm>
                  <a:off x="5907174" y="1442302"/>
                  <a:ext cx="6068511" cy="2729035"/>
                </a:xfrm>
                <a:prstGeom prst="rect">
                  <a:avLst/>
                </a:prstGeom>
                <a:ln>
                  <a:noFill/>
                </a:ln>
                <a:effectLst>
                  <a:outerShdw blurRad="190500" algn="tl" rotWithShape="0">
                    <a:srgbClr val="000000">
                      <a:alpha val="70000"/>
                    </a:srgbClr>
                  </a:outerShdw>
                </a:effectLst>
              </p:spPr>
            </p:pic>
          </p:grpSp>
          <p:sp>
            <p:nvSpPr>
              <p:cNvPr id="32" name="TextBox 31"/>
              <p:cNvSpPr txBox="1"/>
              <p:nvPr/>
            </p:nvSpPr>
            <p:spPr>
              <a:xfrm>
                <a:off x="5503936" y="1473797"/>
                <a:ext cx="1959875" cy="369332"/>
              </a:xfrm>
              <a:prstGeom prst="rect">
                <a:avLst/>
              </a:prstGeom>
              <a:solidFill>
                <a:sysClr val="window" lastClr="FFFFFF"/>
              </a:solidFill>
              <a:ln w="12700" cap="flat" cmpd="sng" algn="ctr">
                <a:solidFill>
                  <a:sysClr val="windowText" lastClr="000000"/>
                </a:solidFill>
                <a:prstDash val="solid"/>
                <a:miter lim="800000"/>
              </a:ln>
              <a:effectLst/>
            </p:spPr>
            <p:txBody>
              <a:bodyPr wrap="square" rtlCol="0">
                <a:spAutoFit/>
              </a:bodyPr>
              <a:lstStyle/>
              <a:p>
                <a:pPr>
                  <a:defRPr/>
                </a:pPr>
                <a:r>
                  <a:rPr lang="en-US" kern="0" dirty="0">
                    <a:solidFill>
                      <a:prstClr val="black"/>
                    </a:solidFill>
                    <a:latin typeface="Calibri" panose="020F0502020204030204"/>
                  </a:rPr>
                  <a:t>Pressure Rate Plot</a:t>
                </a:r>
              </a:p>
            </p:txBody>
          </p:sp>
          <p:sp>
            <p:nvSpPr>
              <p:cNvPr id="33" name="TextBox 32"/>
              <p:cNvSpPr txBox="1"/>
              <p:nvPr/>
            </p:nvSpPr>
            <p:spPr>
              <a:xfrm>
                <a:off x="8583714" y="1642455"/>
                <a:ext cx="1674654" cy="338554"/>
              </a:xfrm>
              <a:prstGeom prst="rect">
                <a:avLst/>
              </a:prstGeom>
              <a:solidFill>
                <a:srgbClr val="5B9BD5"/>
              </a:solidFill>
              <a:ln w="12700" cap="flat" cmpd="sng" algn="ctr">
                <a:solidFill>
                  <a:srgbClr val="5B9BD5">
                    <a:shade val="50000"/>
                  </a:srgbClr>
                </a:solidFill>
                <a:prstDash val="solid"/>
                <a:miter lim="800000"/>
              </a:ln>
              <a:effectLst/>
            </p:spPr>
            <p:txBody>
              <a:bodyPr wrap="square" rtlCol="0">
                <a:spAutoFit/>
              </a:bodyPr>
              <a:lstStyle/>
              <a:p>
                <a:pPr>
                  <a:defRPr/>
                </a:pPr>
                <a:r>
                  <a:rPr lang="en-US" sz="1600" kern="0" dirty="0">
                    <a:solidFill>
                      <a:prstClr val="white"/>
                    </a:solidFill>
                    <a:latin typeface="Calibri" panose="020F0502020204030204"/>
                  </a:rPr>
                  <a:t>Loading Signature </a:t>
                </a:r>
              </a:p>
            </p:txBody>
          </p:sp>
          <p:cxnSp>
            <p:nvCxnSpPr>
              <p:cNvPr id="34" name="Straight Arrow Connector 33"/>
              <p:cNvCxnSpPr/>
              <p:nvPr/>
            </p:nvCxnSpPr>
            <p:spPr>
              <a:xfrm flipH="1">
                <a:off x="8912439" y="2040563"/>
                <a:ext cx="223503" cy="1064628"/>
              </a:xfrm>
              <a:prstGeom prst="straightConnector1">
                <a:avLst/>
              </a:prstGeom>
              <a:noFill/>
              <a:ln w="6350" cap="flat" cmpd="sng" algn="ctr">
                <a:solidFill>
                  <a:sysClr val="windowText" lastClr="000000"/>
                </a:solidFill>
                <a:prstDash val="solid"/>
                <a:miter lim="800000"/>
                <a:tailEnd type="triangle"/>
              </a:ln>
              <a:effectLst/>
            </p:spPr>
          </p:cxnSp>
        </p:grpSp>
        <p:sp>
          <p:nvSpPr>
            <p:cNvPr id="7" name="TextBox 6"/>
            <p:cNvSpPr txBox="1"/>
            <p:nvPr/>
          </p:nvSpPr>
          <p:spPr>
            <a:xfrm>
              <a:off x="4914837" y="5144881"/>
              <a:ext cx="1633345" cy="276999"/>
            </a:xfrm>
            <a:prstGeom prst="rect">
              <a:avLst/>
            </a:prstGeom>
            <a:solidFill>
              <a:schemeClr val="bg2"/>
            </a:solidFill>
            <a:ln w="19050">
              <a:solidFill>
                <a:schemeClr val="accent6"/>
              </a:solidFill>
            </a:ln>
          </p:spPr>
          <p:txBody>
            <a:bodyPr wrap="square" rtlCol="0">
              <a:spAutoFit/>
            </a:bodyPr>
            <a:lstStyle/>
            <a:p>
              <a:r>
                <a:rPr lang="en-US" sz="1200" dirty="0"/>
                <a:t>Tubing Pressure (psi)</a:t>
              </a:r>
            </a:p>
          </p:txBody>
        </p:sp>
        <p:sp>
          <p:nvSpPr>
            <p:cNvPr id="11" name="TextBox 10"/>
            <p:cNvSpPr txBox="1"/>
            <p:nvPr/>
          </p:nvSpPr>
          <p:spPr>
            <a:xfrm>
              <a:off x="4181270" y="4018770"/>
              <a:ext cx="1495323" cy="276999"/>
            </a:xfrm>
            <a:prstGeom prst="rect">
              <a:avLst/>
            </a:prstGeom>
            <a:solidFill>
              <a:schemeClr val="bg2"/>
            </a:solidFill>
            <a:ln w="19050">
              <a:solidFill>
                <a:schemeClr val="accent6"/>
              </a:solidFill>
            </a:ln>
          </p:spPr>
          <p:txBody>
            <a:bodyPr wrap="square" rtlCol="0">
              <a:spAutoFit/>
            </a:bodyPr>
            <a:lstStyle/>
            <a:p>
              <a:r>
                <a:rPr lang="en-US" sz="1200" dirty="0"/>
                <a:t>Casing Pressure (psi)</a:t>
              </a:r>
            </a:p>
          </p:txBody>
        </p:sp>
        <p:sp>
          <p:nvSpPr>
            <p:cNvPr id="12" name="TextBox 11"/>
            <p:cNvSpPr txBox="1"/>
            <p:nvPr/>
          </p:nvSpPr>
          <p:spPr>
            <a:xfrm>
              <a:off x="1731039" y="5317959"/>
              <a:ext cx="1866074" cy="276999"/>
            </a:xfrm>
            <a:prstGeom prst="rect">
              <a:avLst/>
            </a:prstGeom>
            <a:solidFill>
              <a:schemeClr val="bg2"/>
            </a:solidFill>
            <a:ln w="19050">
              <a:solidFill>
                <a:schemeClr val="accent6"/>
              </a:solidFill>
            </a:ln>
          </p:spPr>
          <p:txBody>
            <a:bodyPr wrap="square" rtlCol="0">
              <a:spAutoFit/>
            </a:bodyPr>
            <a:lstStyle/>
            <a:p>
              <a:r>
                <a:rPr lang="en-US" sz="1200" dirty="0"/>
                <a:t>Pressure Differential (psi)</a:t>
              </a:r>
            </a:p>
          </p:txBody>
        </p:sp>
        <p:cxnSp>
          <p:nvCxnSpPr>
            <p:cNvPr id="15" name="Straight Arrow Connector 14"/>
            <p:cNvCxnSpPr/>
            <p:nvPr/>
          </p:nvCxnSpPr>
          <p:spPr bwMode="auto">
            <a:xfrm flipH="1">
              <a:off x="4387532" y="4339306"/>
              <a:ext cx="305709" cy="352643"/>
            </a:xfrm>
            <a:prstGeom prst="straightConnector1">
              <a:avLst/>
            </a:prstGeom>
            <a:noFill/>
            <a:ln w="19050" cap="flat" cmpd="sng" algn="ctr">
              <a:solidFill>
                <a:schemeClr val="tx1"/>
              </a:solidFill>
              <a:prstDash val="solid"/>
              <a:round/>
              <a:headEnd type="none" w="med" len="med"/>
              <a:tailEnd type="triangle"/>
            </a:ln>
            <a:effectLst/>
          </p:spPr>
        </p:cxnSp>
        <p:cxnSp>
          <p:nvCxnSpPr>
            <p:cNvPr id="13" name="Straight Arrow Connector 12"/>
            <p:cNvCxnSpPr/>
            <p:nvPr/>
          </p:nvCxnSpPr>
          <p:spPr bwMode="auto">
            <a:xfrm flipH="1" flipV="1">
              <a:off x="3957767" y="5131351"/>
              <a:ext cx="957071" cy="77506"/>
            </a:xfrm>
            <a:prstGeom prst="straightConnector1">
              <a:avLst/>
            </a:prstGeom>
            <a:noFill/>
            <a:ln w="19050" cap="flat" cmpd="sng" algn="ctr">
              <a:solidFill>
                <a:schemeClr val="tx1"/>
              </a:solidFill>
              <a:prstDash val="solid"/>
              <a:round/>
              <a:headEnd type="none" w="med" len="med"/>
              <a:tailEnd type="triangle"/>
            </a:ln>
            <a:effectLst/>
          </p:spPr>
        </p:cxnSp>
        <p:cxnSp>
          <p:nvCxnSpPr>
            <p:cNvPr id="48" name="Straight Arrow Connector 47"/>
            <p:cNvCxnSpPr/>
            <p:nvPr/>
          </p:nvCxnSpPr>
          <p:spPr bwMode="auto">
            <a:xfrm flipV="1">
              <a:off x="3597113" y="5208856"/>
              <a:ext cx="223449" cy="187009"/>
            </a:xfrm>
            <a:prstGeom prst="straightConnector1">
              <a:avLst/>
            </a:prstGeom>
            <a:noFill/>
            <a:ln w="19050" cap="flat" cmpd="sng" algn="ctr">
              <a:solidFill>
                <a:schemeClr val="tx1"/>
              </a:solidFill>
              <a:prstDash val="solid"/>
              <a:round/>
              <a:headEnd type="none" w="med" len="med"/>
              <a:tailEnd type="triangle"/>
            </a:ln>
            <a:effectLst/>
          </p:spPr>
        </p:cxnSp>
      </p:grpSp>
      <p:grpSp>
        <p:nvGrpSpPr>
          <p:cNvPr id="52" name="Group 51"/>
          <p:cNvGrpSpPr/>
          <p:nvPr/>
        </p:nvGrpSpPr>
        <p:grpSpPr>
          <a:xfrm>
            <a:off x="6876142" y="1842132"/>
            <a:ext cx="3719431" cy="2405657"/>
            <a:chOff x="4832367" y="3947825"/>
            <a:chExt cx="4675957" cy="2405657"/>
          </a:xfrm>
        </p:grpSpPr>
        <p:pic>
          <p:nvPicPr>
            <p:cNvPr id="8" name="Picture 7"/>
            <p:cNvPicPr>
              <a:picLocks noChangeAspect="1"/>
            </p:cNvPicPr>
            <p:nvPr/>
          </p:nvPicPr>
          <p:blipFill>
            <a:blip r:embed="rId4"/>
            <a:stretch>
              <a:fillRect/>
            </a:stretch>
          </p:blipFill>
          <p:spPr>
            <a:xfrm>
              <a:off x="4832367" y="3947825"/>
              <a:ext cx="4675957" cy="2405657"/>
            </a:xfrm>
            <a:prstGeom prst="rect">
              <a:avLst/>
            </a:prstGeom>
          </p:spPr>
        </p:pic>
        <p:sp>
          <p:nvSpPr>
            <p:cNvPr id="23" name="TextBox 22"/>
            <p:cNvSpPr txBox="1"/>
            <p:nvPr/>
          </p:nvSpPr>
          <p:spPr>
            <a:xfrm>
              <a:off x="5259160" y="4872535"/>
              <a:ext cx="2678484" cy="369332"/>
            </a:xfrm>
            <a:prstGeom prst="rect">
              <a:avLst/>
            </a:prstGeom>
            <a:solidFill>
              <a:schemeClr val="bg2"/>
            </a:solidFill>
            <a:ln w="19050">
              <a:solidFill>
                <a:schemeClr val="accent6"/>
              </a:solidFill>
            </a:ln>
          </p:spPr>
          <p:txBody>
            <a:bodyPr wrap="square" rtlCol="0">
              <a:spAutoFit/>
            </a:bodyPr>
            <a:lstStyle/>
            <a:p>
              <a:r>
                <a:rPr lang="en-US" dirty="0"/>
                <a:t>Slug Volume (</a:t>
              </a:r>
              <a:r>
                <a:rPr lang="en-US" dirty="0" err="1"/>
                <a:t>bbls</a:t>
              </a:r>
              <a:r>
                <a:rPr lang="en-US" dirty="0"/>
                <a:t>)</a:t>
              </a:r>
            </a:p>
          </p:txBody>
        </p:sp>
        <p:cxnSp>
          <p:nvCxnSpPr>
            <p:cNvPr id="25" name="Straight Arrow Connector 24"/>
            <p:cNvCxnSpPr>
              <a:stCxn id="23" idx="2"/>
            </p:cNvCxnSpPr>
            <p:nvPr/>
          </p:nvCxnSpPr>
          <p:spPr bwMode="auto">
            <a:xfrm flipH="1">
              <a:off x="6357704" y="5241867"/>
              <a:ext cx="240698" cy="704820"/>
            </a:xfrm>
            <a:prstGeom prst="straightConnector1">
              <a:avLst/>
            </a:prstGeom>
            <a:noFill/>
            <a:ln w="19050" cap="flat" cmpd="sng" algn="ctr">
              <a:solidFill>
                <a:schemeClr val="tx1"/>
              </a:solidFill>
              <a:prstDash val="solid"/>
              <a:round/>
              <a:headEnd type="none" w="med" len="med"/>
              <a:tailEnd type="triangle"/>
            </a:ln>
            <a:effectLst/>
          </p:spPr>
        </p:cxnSp>
        <p:sp>
          <p:nvSpPr>
            <p:cNvPr id="29" name="TextBox 28"/>
            <p:cNvSpPr txBox="1"/>
            <p:nvPr/>
          </p:nvSpPr>
          <p:spPr>
            <a:xfrm>
              <a:off x="6110637" y="3983049"/>
              <a:ext cx="2384712" cy="369332"/>
            </a:xfrm>
            <a:prstGeom prst="rect">
              <a:avLst/>
            </a:prstGeom>
            <a:solidFill>
              <a:schemeClr val="bg2"/>
            </a:solidFill>
            <a:ln w="19050">
              <a:solidFill>
                <a:schemeClr val="accent6"/>
              </a:solidFill>
            </a:ln>
          </p:spPr>
          <p:txBody>
            <a:bodyPr wrap="square" rtlCol="0">
              <a:spAutoFit/>
            </a:bodyPr>
            <a:lstStyle/>
            <a:p>
              <a:r>
                <a:rPr lang="en-US" dirty="0"/>
                <a:t>Slug Volume Plot</a:t>
              </a:r>
            </a:p>
          </p:txBody>
        </p:sp>
      </p:grpSp>
    </p:spTree>
    <p:extLst>
      <p:ext uri="{BB962C8B-B14F-4D97-AF65-F5344CB8AC3E}">
        <p14:creationId xmlns:p14="http://schemas.microsoft.com/office/powerpoint/2010/main" val="121175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Flowline</a:t>
            </a:r>
            <a:r>
              <a:rPr lang="en-US" dirty="0" smtClean="0"/>
              <a:t> Plugging</a:t>
            </a:r>
            <a:endParaRPr lang="en-US" dirty="0"/>
          </a:p>
        </p:txBody>
      </p:sp>
      <p:sp>
        <p:nvSpPr>
          <p:cNvPr id="3" name="Content Placeholder 2"/>
          <p:cNvSpPr>
            <a:spLocks noGrp="1"/>
          </p:cNvSpPr>
          <p:nvPr>
            <p:ph idx="1"/>
          </p:nvPr>
        </p:nvSpPr>
        <p:spPr>
          <a:xfrm>
            <a:off x="223057" y="1348591"/>
            <a:ext cx="4099561" cy="4910893"/>
          </a:xfrm>
        </p:spPr>
        <p:txBody>
          <a:bodyPr>
            <a:normAutofit/>
          </a:bodyPr>
          <a:lstStyle/>
          <a:p>
            <a:r>
              <a:rPr lang="en-US" dirty="0" smtClean="0"/>
              <a:t>Flowline Plugging </a:t>
            </a:r>
          </a:p>
          <a:p>
            <a:pPr lvl="1"/>
            <a:r>
              <a:rPr lang="en-US" dirty="0" smtClean="0"/>
              <a:t>Enabled by data science implementation with ready access to raw data</a:t>
            </a:r>
          </a:p>
          <a:p>
            <a:pPr lvl="2"/>
            <a:r>
              <a:rPr lang="en-US" dirty="0" smtClean="0"/>
              <a:t>Automated proactive flagging</a:t>
            </a:r>
          </a:p>
          <a:p>
            <a:pPr lvl="1"/>
            <a:r>
              <a:rPr lang="en-US" dirty="0" smtClean="0"/>
              <a:t>Prevented ~3800 </a:t>
            </a:r>
            <a:r>
              <a:rPr lang="en-US" dirty="0" err="1" smtClean="0"/>
              <a:t>bbls</a:t>
            </a:r>
            <a:r>
              <a:rPr lang="en-US" dirty="0" smtClean="0"/>
              <a:t> of downtime in September 2017</a:t>
            </a:r>
          </a:p>
          <a:p>
            <a:pPr lvl="1"/>
            <a:r>
              <a:rPr lang="en-US" dirty="0" smtClean="0"/>
              <a:t>Rate of complete </a:t>
            </a:r>
            <a:r>
              <a:rPr lang="en-US" dirty="0" err="1" smtClean="0"/>
              <a:t>flowline</a:t>
            </a:r>
            <a:r>
              <a:rPr lang="en-US" dirty="0" smtClean="0"/>
              <a:t> plugging reduced</a:t>
            </a:r>
          </a:p>
          <a:p>
            <a:pPr lvl="2"/>
            <a:r>
              <a:rPr lang="en-US" dirty="0" smtClean="0"/>
              <a:t>~8 wells plugged/month (June-September) reduced to 2 (November 2017)</a:t>
            </a:r>
          </a:p>
          <a:p>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26</a:t>
            </a:fld>
            <a:endParaRPr lang="en-US"/>
          </a:p>
        </p:txBody>
      </p:sp>
      <p:pic>
        <p:nvPicPr>
          <p:cNvPr id="8" name="Picture 7"/>
          <p:cNvPicPr>
            <a:picLocks noChangeAspect="1"/>
          </p:cNvPicPr>
          <p:nvPr/>
        </p:nvPicPr>
        <p:blipFill>
          <a:blip r:embed="rId2"/>
          <a:stretch>
            <a:fillRect/>
          </a:stretch>
        </p:blipFill>
        <p:spPr>
          <a:xfrm>
            <a:off x="4406733" y="1348591"/>
            <a:ext cx="7785267" cy="5047926"/>
          </a:xfrm>
          <a:prstGeom prst="rect">
            <a:avLst/>
          </a:prstGeom>
        </p:spPr>
      </p:pic>
    </p:spTree>
    <p:extLst>
      <p:ext uri="{BB962C8B-B14F-4D97-AF65-F5344CB8AC3E}">
        <p14:creationId xmlns:p14="http://schemas.microsoft.com/office/powerpoint/2010/main" val="22743465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Flow Assurance</a:t>
            </a:r>
            <a:endParaRPr lang="en-US" dirty="0"/>
          </a:p>
        </p:txBody>
      </p:sp>
      <p:sp>
        <p:nvSpPr>
          <p:cNvPr id="8" name="Content Placeholder 7"/>
          <p:cNvSpPr>
            <a:spLocks noGrp="1"/>
          </p:cNvSpPr>
          <p:nvPr>
            <p:ph sz="half" idx="1"/>
          </p:nvPr>
        </p:nvSpPr>
        <p:spPr>
          <a:xfrm>
            <a:off x="135857" y="1356978"/>
            <a:ext cx="5181600" cy="4999371"/>
          </a:xfrm>
        </p:spPr>
        <p:txBody>
          <a:bodyPr>
            <a:normAutofit/>
          </a:bodyPr>
          <a:lstStyle/>
          <a:p>
            <a:r>
              <a:rPr lang="en-US" dirty="0"/>
              <a:t>Corrosion Risk Factors Study</a:t>
            </a:r>
          </a:p>
          <a:p>
            <a:pPr lvl="1"/>
            <a:r>
              <a:rPr lang="en-US" dirty="0"/>
              <a:t>Report generated in IVM to rank all HZ wells according to Corrosion Risk</a:t>
            </a:r>
          </a:p>
          <a:p>
            <a:pPr lvl="1"/>
            <a:r>
              <a:rPr lang="en-US" dirty="0"/>
              <a:t>Used to prioritize wells for tubing integrity </a:t>
            </a:r>
            <a:r>
              <a:rPr lang="en-US" dirty="0" smtClean="0"/>
              <a:t>logging</a:t>
            </a:r>
          </a:p>
          <a:p>
            <a:r>
              <a:rPr lang="en-US" dirty="0" smtClean="0"/>
              <a:t>Loss of primary containment investigation</a:t>
            </a:r>
          </a:p>
          <a:p>
            <a:pPr lvl="1"/>
            <a:r>
              <a:rPr lang="en-US" dirty="0" smtClean="0"/>
              <a:t>Ex. Looking for historical events of gas blow-by on the water leg of a production separator which could introduce corrosive amounts of CO2 to that part of the system</a:t>
            </a:r>
            <a:endParaRPr lang="en-US" dirty="0"/>
          </a:p>
          <a:p>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27</a:t>
            </a:fld>
            <a:endParaRPr lang="en-US"/>
          </a:p>
        </p:txBody>
      </p:sp>
      <p:pic>
        <p:nvPicPr>
          <p:cNvPr id="10" name="Content Placeholder 9"/>
          <p:cNvPicPr>
            <a:picLocks noGrp="1" noChangeAspect="1"/>
          </p:cNvPicPr>
          <p:nvPr>
            <p:ph sz="half" idx="2"/>
          </p:nvPr>
        </p:nvPicPr>
        <p:blipFill rotWithShape="1">
          <a:blip r:embed="rId2"/>
          <a:srcRect b="31078"/>
          <a:stretch/>
        </p:blipFill>
        <p:spPr>
          <a:xfrm>
            <a:off x="6456948" y="1356979"/>
            <a:ext cx="5181600" cy="2205519"/>
          </a:xfrm>
          <a:prstGeom prst="rect">
            <a:avLst/>
          </a:prstGeom>
        </p:spPr>
      </p:pic>
      <p:pic>
        <p:nvPicPr>
          <p:cNvPr id="1026"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7457" y="3867799"/>
            <a:ext cx="6321091" cy="2564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8057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154984" y="1602694"/>
            <a:ext cx="5004392" cy="3784889"/>
          </a:xfrm>
        </p:spPr>
        <p:txBody>
          <a:bodyPr>
            <a:normAutofit/>
          </a:bodyPr>
          <a:lstStyle/>
          <a:p>
            <a:r>
              <a:rPr lang="en-US" dirty="0" smtClean="0"/>
              <a:t>An automated workflow monitors density (black line) and drive gain (purple line) readings from all HZ well oil meters and can identify erroneous operations</a:t>
            </a:r>
          </a:p>
          <a:p>
            <a:pPr lvl="1"/>
            <a:r>
              <a:rPr lang="en-US" dirty="0" smtClean="0"/>
              <a:t>This event was confirmed to be a gas </a:t>
            </a:r>
            <a:r>
              <a:rPr lang="en-US" dirty="0"/>
              <a:t>b</a:t>
            </a:r>
            <a:r>
              <a:rPr lang="en-US" dirty="0" smtClean="0"/>
              <a:t>low-by issue after it was flagged to the engineer</a:t>
            </a:r>
            <a:endParaRPr lang="en-US" dirty="0"/>
          </a:p>
        </p:txBody>
      </p:sp>
      <p:sp>
        <p:nvSpPr>
          <p:cNvPr id="3" name="Title 2"/>
          <p:cNvSpPr>
            <a:spLocks noGrp="1"/>
          </p:cNvSpPr>
          <p:nvPr>
            <p:ph type="title"/>
          </p:nvPr>
        </p:nvSpPr>
        <p:spPr/>
        <p:txBody>
          <a:bodyPr>
            <a:normAutofit/>
          </a:bodyPr>
          <a:lstStyle/>
          <a:p>
            <a:r>
              <a:rPr lang="en-US" dirty="0" smtClean="0"/>
              <a:t>Coriolis Meter Surveillance</a:t>
            </a:r>
            <a:endParaRPr lang="en-US" dirty="0"/>
          </a:p>
        </p:txBody>
      </p:sp>
      <p:sp>
        <p:nvSpPr>
          <p:cNvPr id="4" name="Slide Number Placeholder 3"/>
          <p:cNvSpPr>
            <a:spLocks noGrp="1"/>
          </p:cNvSpPr>
          <p:nvPr>
            <p:ph type="sldNum" sz="quarter" idx="12"/>
          </p:nvPr>
        </p:nvSpPr>
        <p:spPr/>
        <p:txBody>
          <a:bodyPr/>
          <a:lstStyle/>
          <a:p>
            <a:pPr defTabSz="685800">
              <a:defRPr/>
            </a:pPr>
            <a:fld id="{CBC2E174-4C28-4A87-9812-668938BEC39B}" type="slidenum">
              <a:rPr lang="en-US" sz="900">
                <a:solidFill>
                  <a:prstClr val="black">
                    <a:tint val="75000"/>
                  </a:prstClr>
                </a:solidFill>
                <a:latin typeface="Calibri" panose="020F0502020204030204"/>
              </a:rPr>
              <a:pPr defTabSz="685800">
                <a:defRPr/>
              </a:pPr>
              <a:t>28</a:t>
            </a:fld>
            <a:endParaRPr lang="en-US" sz="900">
              <a:solidFill>
                <a:prstClr val="black">
                  <a:tint val="75000"/>
                </a:prstClr>
              </a:solidFill>
              <a:latin typeface="Calibri" panose="020F0502020204030204"/>
            </a:endParaRPr>
          </a:p>
        </p:txBody>
      </p:sp>
      <p:pic>
        <p:nvPicPr>
          <p:cNvPr id="5" name="Picture 4"/>
          <p:cNvPicPr>
            <a:picLocks noChangeAspect="1"/>
          </p:cNvPicPr>
          <p:nvPr/>
        </p:nvPicPr>
        <p:blipFill>
          <a:blip r:embed="rId2"/>
          <a:stretch>
            <a:fillRect/>
          </a:stretch>
        </p:blipFill>
        <p:spPr>
          <a:xfrm>
            <a:off x="5324798" y="1476767"/>
            <a:ext cx="5335775" cy="5062145"/>
          </a:xfrm>
          <a:prstGeom prst="rect">
            <a:avLst/>
          </a:prstGeom>
        </p:spPr>
      </p:pic>
      <p:sp>
        <p:nvSpPr>
          <p:cNvPr id="6" name="Oval 5"/>
          <p:cNvSpPr/>
          <p:nvPr/>
        </p:nvSpPr>
        <p:spPr>
          <a:xfrm>
            <a:off x="9440093" y="2050869"/>
            <a:ext cx="762263" cy="2338251"/>
          </a:xfrm>
          <a:prstGeom prst="ellips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58845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Choke Management</a:t>
            </a:r>
            <a:endParaRPr lang="en-US" dirty="0"/>
          </a:p>
        </p:txBody>
      </p:sp>
      <p:sp>
        <p:nvSpPr>
          <p:cNvPr id="3" name="Content Placeholder 2"/>
          <p:cNvSpPr>
            <a:spLocks noGrp="1"/>
          </p:cNvSpPr>
          <p:nvPr>
            <p:ph sz="half" idx="1"/>
          </p:nvPr>
        </p:nvSpPr>
        <p:spPr>
          <a:xfrm>
            <a:off x="1731546" y="1083391"/>
            <a:ext cx="8771563" cy="5083492"/>
          </a:xfrm>
        </p:spPr>
        <p:txBody>
          <a:bodyPr/>
          <a:lstStyle/>
          <a:p>
            <a:r>
              <a:rPr lang="en-US" dirty="0" smtClean="0"/>
              <a:t>Real time production data is utilized to calculate an equivalent choke size on every HZ well that has an “</a:t>
            </a:r>
            <a:r>
              <a:rPr lang="en-US" dirty="0" err="1" smtClean="0"/>
              <a:t>autochoke</a:t>
            </a:r>
            <a:r>
              <a:rPr lang="en-US" dirty="0" smtClean="0"/>
              <a:t>”</a:t>
            </a:r>
          </a:p>
          <a:p>
            <a:pPr lvl="1"/>
            <a:r>
              <a:rPr lang="en-US" dirty="0" smtClean="0"/>
              <a:t>Enables engineers to ensure proper drawdown strategy is being applied to each well</a:t>
            </a:r>
          </a:p>
          <a:p>
            <a:pPr lvl="1"/>
            <a:r>
              <a:rPr lang="en-US" dirty="0" smtClean="0"/>
              <a:t>Can also identify chokes that are washing out, plugging off, or that need to be recalibrated</a:t>
            </a:r>
            <a:endParaRPr lang="en-US" dirty="0"/>
          </a:p>
        </p:txBody>
      </p:sp>
      <p:pic>
        <p:nvPicPr>
          <p:cNvPr id="9" name="Content Placeholder 8"/>
          <p:cNvPicPr>
            <a:picLocks noGrp="1" noChangeAspect="1"/>
          </p:cNvPicPr>
          <p:nvPr>
            <p:ph sz="half" idx="2"/>
          </p:nvPr>
        </p:nvPicPr>
        <p:blipFill>
          <a:blip r:embed="rId3"/>
          <a:stretch>
            <a:fillRect/>
          </a:stretch>
        </p:blipFill>
        <p:spPr>
          <a:xfrm>
            <a:off x="2975502" y="3051849"/>
            <a:ext cx="6151081" cy="3520504"/>
          </a:xfrm>
          <a:prstGeom prst="rect">
            <a:avLst/>
          </a:prstGeom>
        </p:spPr>
      </p:pic>
      <p:sp>
        <p:nvSpPr>
          <p:cNvPr id="7" name="Slide Number Placeholder 6"/>
          <p:cNvSpPr>
            <a:spLocks noGrp="1"/>
          </p:cNvSpPr>
          <p:nvPr>
            <p:ph type="sldNum" sz="quarter" idx="4294967295"/>
          </p:nvPr>
        </p:nvSpPr>
        <p:spPr/>
        <p:txBody>
          <a:bodyPr/>
          <a:lstStyle/>
          <a:p>
            <a:fld id="{0F806ECE-C1FD-48AE-9B78-00CD1DA05ECA}" type="slidenum">
              <a:rPr lang="en-US" smtClean="0"/>
              <a:t>29</a:t>
            </a:fld>
            <a:endParaRPr lang="en-US"/>
          </a:p>
        </p:txBody>
      </p:sp>
    </p:spTree>
    <p:extLst>
      <p:ext uri="{BB962C8B-B14F-4D97-AF65-F5344CB8AC3E}">
        <p14:creationId xmlns:p14="http://schemas.microsoft.com/office/powerpoint/2010/main" val="18831360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Based </a:t>
            </a:r>
            <a:r>
              <a:rPr lang="en-US" dirty="0" smtClean="0"/>
              <a:t>Workflows (Summary)</a:t>
            </a:r>
            <a:endParaRPr lang="en-US" dirty="0"/>
          </a:p>
        </p:txBody>
      </p:sp>
      <p:sp>
        <p:nvSpPr>
          <p:cNvPr id="3" name="Content Placeholder 2"/>
          <p:cNvSpPr>
            <a:spLocks noGrp="1"/>
          </p:cNvSpPr>
          <p:nvPr>
            <p:ph idx="1"/>
          </p:nvPr>
        </p:nvSpPr>
        <p:spPr>
          <a:xfrm>
            <a:off x="838200" y="1362968"/>
            <a:ext cx="5054600" cy="4775002"/>
          </a:xfrm>
        </p:spPr>
        <p:txBody>
          <a:bodyPr>
            <a:normAutofit/>
          </a:bodyPr>
          <a:lstStyle/>
          <a:p>
            <a:r>
              <a:rPr lang="en-US" dirty="0" smtClean="0"/>
              <a:t>Downhole Exceptions</a:t>
            </a:r>
          </a:p>
          <a:p>
            <a:pPr lvl="1"/>
            <a:r>
              <a:rPr lang="en-US" dirty="0" smtClean="0"/>
              <a:t>Artificial Lift Optimization</a:t>
            </a:r>
          </a:p>
          <a:p>
            <a:pPr lvl="1"/>
            <a:r>
              <a:rPr lang="en-US" dirty="0" smtClean="0"/>
              <a:t>Well Loading</a:t>
            </a:r>
          </a:p>
          <a:p>
            <a:pPr lvl="1"/>
            <a:r>
              <a:rPr lang="en-US" dirty="0" smtClean="0"/>
              <a:t>Well No Flow</a:t>
            </a:r>
          </a:p>
          <a:p>
            <a:pPr lvl="1"/>
            <a:endParaRPr lang="en-US" dirty="0"/>
          </a:p>
          <a:p>
            <a:r>
              <a:rPr lang="en-US" dirty="0" smtClean="0"/>
              <a:t>Equipment Failure Exceptions</a:t>
            </a:r>
          </a:p>
          <a:p>
            <a:pPr lvl="1"/>
            <a:r>
              <a:rPr lang="en-US" dirty="0" smtClean="0"/>
              <a:t>Motor Valve Failure</a:t>
            </a:r>
          </a:p>
          <a:p>
            <a:pPr lvl="1"/>
            <a:r>
              <a:rPr lang="en-US" dirty="0" err="1" smtClean="0"/>
              <a:t>Flowline</a:t>
            </a:r>
            <a:r>
              <a:rPr lang="en-US" dirty="0" smtClean="0"/>
              <a:t> Plugging</a:t>
            </a:r>
          </a:p>
          <a:p>
            <a:pPr lvl="1"/>
            <a:endParaRPr lang="en-US" dirty="0"/>
          </a:p>
          <a:p>
            <a:r>
              <a:rPr lang="en-US" dirty="0" smtClean="0"/>
              <a:t>Measurement Exceptions</a:t>
            </a:r>
          </a:p>
          <a:p>
            <a:pPr lvl="1"/>
            <a:r>
              <a:rPr lang="en-US" dirty="0" smtClean="0"/>
              <a:t>Meter Failure</a:t>
            </a:r>
          </a:p>
          <a:p>
            <a:pPr lvl="1"/>
            <a:endParaRPr lang="en-US" dirty="0" smtClean="0"/>
          </a:p>
          <a:p>
            <a:pPr lvl="1"/>
            <a:endParaRPr lang="en-US" dirty="0" smtClean="0"/>
          </a:p>
          <a:p>
            <a:pPr lvl="1"/>
            <a:endParaRPr lang="en-US" dirty="0" smtClean="0"/>
          </a:p>
          <a:p>
            <a:pPr lvl="1"/>
            <a:endParaRPr lang="en-US" dirty="0" smtClean="0"/>
          </a:p>
          <a:p>
            <a:pPr lvl="1"/>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pic>
        <p:nvPicPr>
          <p:cNvPr id="15" name="Picture 14"/>
          <p:cNvPicPr>
            <a:picLocks noChangeAspect="1"/>
          </p:cNvPicPr>
          <p:nvPr/>
        </p:nvPicPr>
        <p:blipFill>
          <a:blip r:embed="rId2"/>
          <a:stretch>
            <a:fillRect/>
          </a:stretch>
        </p:blipFill>
        <p:spPr>
          <a:xfrm>
            <a:off x="6407577" y="4928980"/>
            <a:ext cx="3049173" cy="1463040"/>
          </a:xfrm>
          <a:prstGeom prst="rect">
            <a:avLst/>
          </a:prstGeom>
          <a:ln>
            <a:noFill/>
          </a:ln>
          <a:effectLst>
            <a:outerShdw blurRad="190500" algn="tl" rotWithShape="0">
              <a:srgbClr val="000000">
                <a:alpha val="70000"/>
              </a:srgbClr>
            </a:outerShdw>
          </a:effectLst>
        </p:spPr>
      </p:pic>
      <p:pic>
        <p:nvPicPr>
          <p:cNvPr id="16" name="Picture 15"/>
          <p:cNvPicPr>
            <a:picLocks noChangeAspect="1"/>
          </p:cNvPicPr>
          <p:nvPr/>
        </p:nvPicPr>
        <p:blipFill>
          <a:blip r:embed="rId3"/>
          <a:stretch>
            <a:fillRect/>
          </a:stretch>
        </p:blipFill>
        <p:spPr>
          <a:xfrm>
            <a:off x="8816623" y="3227096"/>
            <a:ext cx="2856768" cy="1463040"/>
          </a:xfrm>
          <a:prstGeom prst="rect">
            <a:avLst/>
          </a:prstGeom>
          <a:ln>
            <a:noFill/>
          </a:ln>
          <a:effectLst>
            <a:outerShdw blurRad="190500" algn="tl" rotWithShape="0">
              <a:srgbClr val="000000">
                <a:alpha val="70000"/>
              </a:srgbClr>
            </a:outerShdw>
          </a:effectLst>
        </p:spPr>
      </p:pic>
      <p:pic>
        <p:nvPicPr>
          <p:cNvPr id="17" name="Picture 16"/>
          <p:cNvPicPr>
            <a:picLocks noChangeAspect="1"/>
          </p:cNvPicPr>
          <p:nvPr/>
        </p:nvPicPr>
        <p:blipFill>
          <a:blip r:embed="rId4"/>
          <a:stretch>
            <a:fillRect/>
          </a:stretch>
        </p:blipFill>
        <p:spPr>
          <a:xfrm>
            <a:off x="6366935" y="1419942"/>
            <a:ext cx="2926080" cy="160487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8824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2209800" y="1144589"/>
            <a:ext cx="7241427" cy="5243480"/>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p>
            <a:r>
              <a:rPr lang="en-US" dirty="0" smtClean="0"/>
              <a:t>Production Opportunity Statistics</a:t>
            </a:r>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31</a:t>
            </a:fld>
            <a:endParaRPr lang="en-US"/>
          </a:p>
        </p:txBody>
      </p:sp>
      <p:sp>
        <p:nvSpPr>
          <p:cNvPr id="7" name="TextBox 6"/>
          <p:cNvSpPr txBox="1"/>
          <p:nvPr/>
        </p:nvSpPr>
        <p:spPr>
          <a:xfrm>
            <a:off x="3973551" y="2663490"/>
            <a:ext cx="4245329" cy="1354217"/>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285750" indent="-285750">
              <a:buFont typeface="Arial" panose="020B0604020202020204" pitchFamily="34" charset="0"/>
              <a:buChar char="•"/>
            </a:pPr>
            <a:r>
              <a:rPr lang="en-US" sz="2000" dirty="0" smtClean="0"/>
              <a:t>Very few single large wins</a:t>
            </a:r>
          </a:p>
          <a:p>
            <a:pPr marL="742950" lvl="1" indent="-285750">
              <a:buFont typeface="Arial" panose="020B0604020202020204" pitchFamily="34" charset="0"/>
              <a:buChar char="•"/>
            </a:pPr>
            <a:r>
              <a:rPr lang="en-US" dirty="0" smtClean="0"/>
              <a:t>+/-85% range from 5 bbls to 50 bbls</a:t>
            </a:r>
          </a:p>
          <a:p>
            <a:pPr marL="285750" indent="-285750">
              <a:buFont typeface="Arial" panose="020B0604020202020204" pitchFamily="34" charset="0"/>
              <a:buChar char="•"/>
            </a:pPr>
            <a:r>
              <a:rPr lang="en-US" sz="2000" dirty="0" smtClean="0">
                <a:effectLst>
                  <a:outerShdw blurRad="38100" dist="38100" dir="2700000" algn="tl">
                    <a:srgbClr val="000000">
                      <a:alpha val="43137"/>
                    </a:srgbClr>
                  </a:outerShdw>
                </a:effectLst>
              </a:rPr>
              <a:t>Total in that Range = +/-</a:t>
            </a:r>
            <a:r>
              <a:rPr lang="en-US" sz="2000" b="1" dirty="0" smtClean="0">
                <a:effectLst>
                  <a:outerShdw blurRad="38100" dist="38100" dir="2700000" algn="tl">
                    <a:srgbClr val="000000">
                      <a:alpha val="43137"/>
                    </a:srgbClr>
                  </a:outerShdw>
                </a:effectLst>
              </a:rPr>
              <a:t>5,500 bbls</a:t>
            </a:r>
          </a:p>
          <a:p>
            <a:pPr algn="ctr"/>
            <a:r>
              <a:rPr lang="en-US" sz="2400" u="sng" dirty="0" smtClean="0">
                <a:solidFill>
                  <a:srgbClr val="FFFF00"/>
                </a:solidFill>
                <a:effectLst>
                  <a:outerShdw blurRad="38100" dist="38100" dir="2700000" algn="tl">
                    <a:srgbClr val="000000">
                      <a:alpha val="43137"/>
                    </a:srgbClr>
                  </a:outerShdw>
                </a:effectLst>
              </a:rPr>
              <a:t>Small increments add up!</a:t>
            </a:r>
            <a:endParaRPr lang="en-US" sz="2400" u="sng"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2723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&amp; Value</a:t>
            </a:r>
            <a:endParaRPr lang="en-US" dirty="0"/>
          </a:p>
        </p:txBody>
      </p:sp>
      <p:sp>
        <p:nvSpPr>
          <p:cNvPr id="3" name="Content Placeholder 2"/>
          <p:cNvSpPr>
            <a:spLocks noGrp="1"/>
          </p:cNvSpPr>
          <p:nvPr>
            <p:ph idx="1"/>
          </p:nvPr>
        </p:nvSpPr>
        <p:spPr>
          <a:xfrm>
            <a:off x="838199" y="1581349"/>
            <a:ext cx="10796337" cy="2525138"/>
          </a:xfrm>
        </p:spPr>
        <p:txBody>
          <a:bodyPr>
            <a:normAutofit fontScale="77500" lnSpcReduction="20000"/>
          </a:bodyPr>
          <a:lstStyle/>
          <a:p>
            <a:r>
              <a:rPr lang="en-US" dirty="0" smtClean="0"/>
              <a:t>Analyzes 1,500+ wells per hour</a:t>
            </a:r>
          </a:p>
          <a:p>
            <a:r>
              <a:rPr lang="en-US" dirty="0" smtClean="0"/>
              <a:t>Prioritizes wells that need attention</a:t>
            </a:r>
          </a:p>
          <a:p>
            <a:r>
              <a:rPr lang="en-US" dirty="0" smtClean="0"/>
              <a:t>Highlights issues with wells with graphics</a:t>
            </a:r>
            <a:endParaRPr lang="en-US" dirty="0"/>
          </a:p>
          <a:p>
            <a:r>
              <a:rPr lang="en-US" dirty="0" smtClean="0"/>
              <a:t>Average of +/-250 of +/-1,500 wells flagged from Production Tracker Workflow at all times</a:t>
            </a:r>
          </a:p>
          <a:p>
            <a:r>
              <a:rPr lang="en-US" dirty="0" smtClean="0"/>
              <a:t>7 </a:t>
            </a:r>
            <a:r>
              <a:rPr lang="en-US" dirty="0"/>
              <a:t>p</a:t>
            </a:r>
            <a:r>
              <a:rPr lang="en-US" dirty="0" smtClean="0"/>
              <a:t>rimary Exception Based Workflows running every hour</a:t>
            </a:r>
          </a:p>
          <a:p>
            <a:r>
              <a:rPr lang="en-US" dirty="0" smtClean="0"/>
              <a:t>Graphic summary </a:t>
            </a:r>
            <a:r>
              <a:rPr lang="en-US" dirty="0"/>
              <a:t>b</a:t>
            </a:r>
            <a:r>
              <a:rPr lang="en-US" dirty="0" smtClean="0"/>
              <a:t>reakouts of field </a:t>
            </a:r>
            <a:r>
              <a:rPr lang="en-US" dirty="0"/>
              <a:t>p</a:t>
            </a:r>
            <a:r>
              <a:rPr lang="en-US" dirty="0" smtClean="0"/>
              <a:t>roduction</a:t>
            </a:r>
          </a:p>
          <a:p>
            <a:r>
              <a:rPr lang="en-US" dirty="0" smtClean="0"/>
              <a:t>Target value for DJ Basin:</a:t>
            </a:r>
            <a:endParaRPr lang="en-US" dirty="0"/>
          </a:p>
        </p:txBody>
      </p:sp>
      <p:sp>
        <p:nvSpPr>
          <p:cNvPr id="4" name="Date Placeholder 3"/>
          <p:cNvSpPr>
            <a:spLocks noGrp="1"/>
          </p:cNvSpPr>
          <p:nvPr>
            <p:ph type="dt" sz="half" idx="10"/>
          </p:nvPr>
        </p:nvSpPr>
        <p:spPr/>
        <p:txBody>
          <a:bodyPr/>
          <a:lstStyle/>
          <a:p>
            <a:fld id="{3C9B6236-3E64-412C-B927-DAF16AA62D6E}" type="datetime1">
              <a:rPr lang="en-US" smtClean="0"/>
              <a:t>8/28/2018</a:t>
            </a:fld>
            <a:endParaRPr lang="en-US"/>
          </a:p>
        </p:txBody>
      </p:sp>
      <p:sp>
        <p:nvSpPr>
          <p:cNvPr id="5" name="Footer Placeholder 4"/>
          <p:cNvSpPr>
            <a:spLocks noGrp="1"/>
          </p:cNvSpPr>
          <p:nvPr>
            <p:ph type="ftr" sz="quarter" idx="11"/>
          </p:nvPr>
        </p:nvSpPr>
        <p:spPr/>
        <p:txBody>
          <a:bodyPr/>
          <a:lstStyle/>
          <a:p>
            <a:r>
              <a:rPr lang="en-US" smtClean="0"/>
              <a:t>ANADARKO DJ BASIN</a:t>
            </a:r>
            <a:endParaRPr lang="en-US"/>
          </a:p>
        </p:txBody>
      </p:sp>
      <p:sp>
        <p:nvSpPr>
          <p:cNvPr id="6" name="Slide Number Placeholder 5"/>
          <p:cNvSpPr>
            <a:spLocks noGrp="1"/>
          </p:cNvSpPr>
          <p:nvPr>
            <p:ph type="sldNum" sz="quarter" idx="12"/>
          </p:nvPr>
        </p:nvSpPr>
        <p:spPr/>
        <p:txBody>
          <a:bodyPr/>
          <a:lstStyle/>
          <a:p>
            <a:fld id="{0F806ECE-C1FD-48AE-9B78-00CD1DA05ECA}" type="slidenum">
              <a:rPr lang="en-US" smtClean="0"/>
              <a:t>32</a:t>
            </a:fld>
            <a:endParaRPr lang="en-US"/>
          </a:p>
        </p:txBody>
      </p:sp>
      <p:graphicFrame>
        <p:nvGraphicFramePr>
          <p:cNvPr id="7" name="Table 6"/>
          <p:cNvGraphicFramePr>
            <a:graphicFrameLocks noGrp="1"/>
          </p:cNvGraphicFramePr>
          <p:nvPr>
            <p:extLst/>
          </p:nvPr>
        </p:nvGraphicFramePr>
        <p:xfrm>
          <a:off x="1245867" y="4106487"/>
          <a:ext cx="9612632" cy="2291080"/>
        </p:xfrm>
        <a:graphic>
          <a:graphicData uri="http://schemas.openxmlformats.org/drawingml/2006/table">
            <a:tbl>
              <a:tblPr firstRow="1" bandRow="1">
                <a:tableStyleId>{5C22544A-7EE6-4342-B048-85BDC9FD1C3A}</a:tableStyleId>
              </a:tblPr>
              <a:tblGrid>
                <a:gridCol w="2403158">
                  <a:extLst>
                    <a:ext uri="{9D8B030D-6E8A-4147-A177-3AD203B41FA5}">
                      <a16:colId xmlns:a16="http://schemas.microsoft.com/office/drawing/2014/main" val="1277160841"/>
                    </a:ext>
                  </a:extLst>
                </a:gridCol>
                <a:gridCol w="2403158">
                  <a:extLst>
                    <a:ext uri="{9D8B030D-6E8A-4147-A177-3AD203B41FA5}">
                      <a16:colId xmlns:a16="http://schemas.microsoft.com/office/drawing/2014/main" val="2351018542"/>
                    </a:ext>
                  </a:extLst>
                </a:gridCol>
                <a:gridCol w="2403158">
                  <a:extLst>
                    <a:ext uri="{9D8B030D-6E8A-4147-A177-3AD203B41FA5}">
                      <a16:colId xmlns:a16="http://schemas.microsoft.com/office/drawing/2014/main" val="2799714425"/>
                    </a:ext>
                  </a:extLst>
                </a:gridCol>
                <a:gridCol w="2403158">
                  <a:extLst>
                    <a:ext uri="{9D8B030D-6E8A-4147-A177-3AD203B41FA5}">
                      <a16:colId xmlns:a16="http://schemas.microsoft.com/office/drawing/2014/main" val="490867628"/>
                    </a:ext>
                  </a:extLst>
                </a:gridCol>
              </a:tblGrid>
              <a:tr h="370840">
                <a:tc>
                  <a:txBody>
                    <a:bodyPr/>
                    <a:lstStyle/>
                    <a:p>
                      <a:pPr algn="ctr"/>
                      <a:r>
                        <a:rPr lang="en-US" dirty="0" smtClean="0"/>
                        <a:t>Breakout Type</a:t>
                      </a:r>
                      <a:endParaRPr lang="en-US" dirty="0"/>
                    </a:p>
                  </a:txBody>
                  <a:tcPr anchor="ctr"/>
                </a:tc>
                <a:tc>
                  <a:txBody>
                    <a:bodyPr/>
                    <a:lstStyle/>
                    <a:p>
                      <a:pPr algn="ctr"/>
                      <a:r>
                        <a:rPr lang="en-US" dirty="0" smtClean="0"/>
                        <a:t>Average Production Opportunity</a:t>
                      </a:r>
                      <a:endParaRPr lang="en-US" dirty="0"/>
                    </a:p>
                  </a:txBody>
                  <a:tcPr anchor="ctr"/>
                </a:tc>
                <a:tc>
                  <a:txBody>
                    <a:bodyPr/>
                    <a:lstStyle/>
                    <a:p>
                      <a:pPr algn="ctr"/>
                      <a:r>
                        <a:rPr lang="en-US" dirty="0" smtClean="0"/>
                        <a:t>Avg. Deferred Revenue</a:t>
                      </a:r>
                      <a:r>
                        <a:rPr lang="en-US" baseline="0" dirty="0" smtClean="0"/>
                        <a:t> per Day ($60/</a:t>
                      </a:r>
                      <a:r>
                        <a:rPr lang="en-US" baseline="0" dirty="0" err="1" smtClean="0"/>
                        <a:t>bbl</a:t>
                      </a:r>
                      <a:r>
                        <a:rPr lang="en-US" baseline="0" dirty="0" smtClean="0"/>
                        <a:t>)</a:t>
                      </a:r>
                      <a:endParaRPr lang="en-US" dirty="0"/>
                    </a:p>
                  </a:txBody>
                  <a:tcPr anchor="ctr"/>
                </a:tc>
                <a:tc>
                  <a:txBody>
                    <a:bodyPr/>
                    <a:lstStyle/>
                    <a:p>
                      <a:pPr algn="ctr"/>
                      <a:r>
                        <a:rPr lang="en-US" dirty="0" smtClean="0"/>
                        <a:t>Extrapolated Deferred</a:t>
                      </a:r>
                      <a:r>
                        <a:rPr lang="en-US" baseline="0" dirty="0" smtClean="0"/>
                        <a:t> Revenue per Year</a:t>
                      </a:r>
                      <a:endParaRPr lang="en-US" dirty="0"/>
                    </a:p>
                  </a:txBody>
                  <a:tcPr anchor="ctr"/>
                </a:tc>
                <a:extLst>
                  <a:ext uri="{0D108BD9-81ED-4DB2-BD59-A6C34878D82A}">
                    <a16:rowId xmlns:a16="http://schemas.microsoft.com/office/drawing/2014/main" val="1111240058"/>
                  </a:ext>
                </a:extLst>
              </a:tr>
              <a:tr h="370840">
                <a:tc>
                  <a:txBody>
                    <a:bodyPr/>
                    <a:lstStyle/>
                    <a:p>
                      <a:pPr algn="ctr"/>
                      <a:r>
                        <a:rPr lang="en-US" dirty="0" smtClean="0"/>
                        <a:t>All Wells</a:t>
                      </a:r>
                      <a:endParaRPr lang="en-US" dirty="0"/>
                    </a:p>
                  </a:txBody>
                  <a:tcPr anchor="ctr"/>
                </a:tc>
                <a:tc>
                  <a:txBody>
                    <a:bodyPr/>
                    <a:lstStyle/>
                    <a:p>
                      <a:pPr algn="ctr"/>
                      <a:r>
                        <a:rPr lang="en-US" dirty="0" smtClean="0"/>
                        <a:t>8,000 bbls</a:t>
                      </a:r>
                      <a:endParaRPr lang="en-US" dirty="0"/>
                    </a:p>
                  </a:txBody>
                  <a:tcPr anchor="ctr"/>
                </a:tc>
                <a:tc>
                  <a:txBody>
                    <a:bodyPr/>
                    <a:lstStyle/>
                    <a:p>
                      <a:pPr algn="ctr"/>
                      <a:r>
                        <a:rPr lang="en-US" dirty="0" smtClean="0"/>
                        <a:t>$480k</a:t>
                      </a:r>
                      <a:endParaRPr lang="en-US" dirty="0"/>
                    </a:p>
                  </a:txBody>
                  <a:tcPr anchor="ctr"/>
                </a:tc>
                <a:tc>
                  <a:txBody>
                    <a:bodyPr/>
                    <a:lstStyle/>
                    <a:p>
                      <a:pPr algn="ctr"/>
                      <a:r>
                        <a:rPr lang="en-US" dirty="0" smtClean="0"/>
                        <a:t>$175MM</a:t>
                      </a:r>
                      <a:endParaRPr lang="en-US" dirty="0"/>
                    </a:p>
                  </a:txBody>
                  <a:tcPr anchor="ctr"/>
                </a:tc>
                <a:extLst>
                  <a:ext uri="{0D108BD9-81ED-4DB2-BD59-A6C34878D82A}">
                    <a16:rowId xmlns:a16="http://schemas.microsoft.com/office/drawing/2014/main" val="925153167"/>
                  </a:ext>
                </a:extLst>
              </a:tr>
              <a:tr h="370840">
                <a:tc>
                  <a:txBody>
                    <a:bodyPr/>
                    <a:lstStyle/>
                    <a:p>
                      <a:pPr algn="ctr"/>
                      <a:r>
                        <a:rPr lang="en-US" dirty="0" smtClean="0"/>
                        <a:t>Wells Flagging w/ Exceptions</a:t>
                      </a:r>
                      <a:endParaRPr lang="en-US" dirty="0"/>
                    </a:p>
                  </a:txBody>
                  <a:tcPr anchor="ctr"/>
                </a:tc>
                <a:tc>
                  <a:txBody>
                    <a:bodyPr/>
                    <a:lstStyle/>
                    <a:p>
                      <a:pPr algn="ctr"/>
                      <a:r>
                        <a:rPr lang="en-US" dirty="0" smtClean="0"/>
                        <a:t>6,000 bbls</a:t>
                      </a:r>
                      <a:endParaRPr lang="en-US" dirty="0"/>
                    </a:p>
                  </a:txBody>
                  <a:tcPr anchor="ctr"/>
                </a:tc>
                <a:tc>
                  <a:txBody>
                    <a:bodyPr/>
                    <a:lstStyle/>
                    <a:p>
                      <a:pPr algn="ctr"/>
                      <a:r>
                        <a:rPr lang="en-US" dirty="0" smtClean="0"/>
                        <a:t>$360k</a:t>
                      </a:r>
                      <a:endParaRPr lang="en-US" dirty="0"/>
                    </a:p>
                  </a:txBody>
                  <a:tcPr anchor="ctr"/>
                </a:tc>
                <a:tc>
                  <a:txBody>
                    <a:bodyPr/>
                    <a:lstStyle/>
                    <a:p>
                      <a:pPr algn="ctr"/>
                      <a:r>
                        <a:rPr lang="en-US" dirty="0" smtClean="0"/>
                        <a:t>$130MM</a:t>
                      </a:r>
                      <a:endParaRPr lang="en-US" dirty="0"/>
                    </a:p>
                  </a:txBody>
                  <a:tcPr anchor="ctr"/>
                </a:tc>
                <a:extLst>
                  <a:ext uri="{0D108BD9-81ED-4DB2-BD59-A6C34878D82A}">
                    <a16:rowId xmlns:a16="http://schemas.microsoft.com/office/drawing/2014/main" val="1925306623"/>
                  </a:ext>
                </a:extLst>
              </a:tr>
              <a:tr h="370840">
                <a:tc>
                  <a:txBody>
                    <a:bodyPr/>
                    <a:lstStyle/>
                    <a:p>
                      <a:pPr algn="ctr"/>
                      <a:r>
                        <a:rPr lang="en-US" dirty="0" smtClean="0"/>
                        <a:t>Wells w/o PDB Downtime Codes</a:t>
                      </a:r>
                      <a:endParaRPr lang="en-US" dirty="0"/>
                    </a:p>
                  </a:txBody>
                  <a:tcPr anchor="ctr"/>
                </a:tc>
                <a:tc>
                  <a:txBody>
                    <a:bodyPr/>
                    <a:lstStyle/>
                    <a:p>
                      <a:pPr algn="ctr"/>
                      <a:r>
                        <a:rPr lang="en-US" dirty="0" smtClean="0"/>
                        <a:t>3,500 bbls</a:t>
                      </a:r>
                      <a:endParaRPr lang="en-US" dirty="0"/>
                    </a:p>
                  </a:txBody>
                  <a:tcPr anchor="ctr"/>
                </a:tc>
                <a:tc>
                  <a:txBody>
                    <a:bodyPr/>
                    <a:lstStyle/>
                    <a:p>
                      <a:pPr algn="ctr"/>
                      <a:r>
                        <a:rPr lang="en-US" dirty="0" smtClean="0"/>
                        <a:t>$210k</a:t>
                      </a:r>
                      <a:endParaRPr lang="en-US" dirty="0"/>
                    </a:p>
                  </a:txBody>
                  <a:tcPr anchor="ctr"/>
                </a:tc>
                <a:tc>
                  <a:txBody>
                    <a:bodyPr/>
                    <a:lstStyle/>
                    <a:p>
                      <a:pPr algn="ctr"/>
                      <a:r>
                        <a:rPr lang="en-US" dirty="0" smtClean="0"/>
                        <a:t>$75MM</a:t>
                      </a:r>
                      <a:endParaRPr lang="en-US" dirty="0"/>
                    </a:p>
                  </a:txBody>
                  <a:tcPr anchor="ctr"/>
                </a:tc>
                <a:extLst>
                  <a:ext uri="{0D108BD9-81ED-4DB2-BD59-A6C34878D82A}">
                    <a16:rowId xmlns:a16="http://schemas.microsoft.com/office/drawing/2014/main" val="4157123262"/>
                  </a:ext>
                </a:extLst>
              </a:tr>
            </a:tbl>
          </a:graphicData>
        </a:graphic>
      </p:graphicFrame>
    </p:spTree>
    <p:extLst>
      <p:ext uri="{BB962C8B-B14F-4D97-AF65-F5344CB8AC3E}">
        <p14:creationId xmlns:p14="http://schemas.microsoft.com/office/powerpoint/2010/main" val="197691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17650</TotalTime>
  <Words>1914</Words>
  <Application>Microsoft Office PowerPoint</Application>
  <PresentationFormat>Widescreen</PresentationFormat>
  <Paragraphs>450</Paragraphs>
  <Slides>32</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MS PGothic</vt:lpstr>
      <vt:lpstr>MS PGothic</vt:lpstr>
      <vt:lpstr>Arial</vt:lpstr>
      <vt:lpstr>Calibri</vt:lpstr>
      <vt:lpstr>Calibri Light</vt:lpstr>
      <vt:lpstr>Times New Roman</vt:lpstr>
      <vt:lpstr>Wingdings</vt:lpstr>
      <vt:lpstr>Office Theme</vt:lpstr>
      <vt:lpstr>IAM: Digital Oil Field Application in Anadarko’s DJ Basin</vt:lpstr>
      <vt:lpstr>Agenda</vt:lpstr>
      <vt:lpstr>Introduction</vt:lpstr>
      <vt:lpstr>Who are we? DJ Basin Integrated Asset Management Team</vt:lpstr>
      <vt:lpstr>What we do? DJ Basin Integrated Asset Management Team</vt:lpstr>
      <vt:lpstr>What is Digital Oil Field (DOF)?</vt:lpstr>
      <vt:lpstr>The IAM Journey…</vt:lpstr>
      <vt:lpstr>Anadarko IAM Work Spectrum</vt:lpstr>
      <vt:lpstr>How are we impacting the business today?</vt:lpstr>
      <vt:lpstr>Horizontal Well/Facility Surveillance </vt:lpstr>
      <vt:lpstr>Drawdown Test Management </vt:lpstr>
      <vt:lpstr>Automated Well Based Forecasting</vt:lpstr>
      <vt:lpstr>Midstream Management</vt:lpstr>
      <vt:lpstr>Future plans</vt:lpstr>
      <vt:lpstr>Intelligent Control</vt:lpstr>
      <vt:lpstr>Back up</vt:lpstr>
      <vt:lpstr>Anadarko DJ Basin DOF Overview</vt:lpstr>
      <vt:lpstr>Real-Time Production Tracking</vt:lpstr>
      <vt:lpstr>Real Time Production Tracking</vt:lpstr>
      <vt:lpstr>Real Time Production Tracker Workflow Process </vt:lpstr>
      <vt:lpstr>Real Time Production Tracker Summary</vt:lpstr>
      <vt:lpstr>Plunger Arrival Surveillance</vt:lpstr>
      <vt:lpstr>Plunger Motor Valve Surveillance</vt:lpstr>
      <vt:lpstr>Latch Valve Actionable Examples</vt:lpstr>
      <vt:lpstr>Well Loading</vt:lpstr>
      <vt:lpstr>Flowline Plugging</vt:lpstr>
      <vt:lpstr>Flow Assurance</vt:lpstr>
      <vt:lpstr>Coriolis Meter Surveillance</vt:lpstr>
      <vt:lpstr>Choke Management</vt:lpstr>
      <vt:lpstr>Exception Based Workflows (Summary)</vt:lpstr>
      <vt:lpstr>Production Opportunity Statistics</vt:lpstr>
      <vt:lpstr>Results &amp; Value</vt:lpstr>
    </vt:vector>
  </TitlesOfParts>
  <Company>Anadarko Petroleum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Courmier, Cody</dc:creator>
  <cp:lastModifiedBy>Ogueri, Obi</cp:lastModifiedBy>
  <cp:revision>340</cp:revision>
  <cp:lastPrinted>2017-11-06T18:12:36Z</cp:lastPrinted>
  <dcterms:created xsi:type="dcterms:W3CDTF">2017-05-01T16:17:25Z</dcterms:created>
  <dcterms:modified xsi:type="dcterms:W3CDTF">2018-08-28T15:57:15Z</dcterms:modified>
</cp:coreProperties>
</file>